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6" r:id="rId17"/>
    <p:sldId id="277" r:id="rId18"/>
    <p:sldId id="275" r:id="rId19"/>
    <p:sldId id="278" r:id="rId20"/>
    <p:sldId id="288" r:id="rId21"/>
    <p:sldId id="279" r:id="rId22"/>
    <p:sldId id="28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E0228C3-FE66-406C-B642-F3083EDAA72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Untitled Section" id="{7A97AF61-C7D4-4599-8A78-DB5A741090D8}">
          <p14:sldIdLst>
            <p14:sldId id="272"/>
            <p14:sldId id="276"/>
            <p14:sldId id="277"/>
            <p14:sldId id="275"/>
            <p14:sldId id="278"/>
            <p14:sldId id="288"/>
            <p14:sldId id="279"/>
            <p14:sldId id="28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3" d="100"/>
          <a:sy n="73" d="100"/>
        </p:scale>
        <p:origin x="618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DC239-7A10-429F-BD0C-6D92E9BA0EDC}" type="datetimeFigureOut">
              <a:rPr lang="en-US" smtClean="0"/>
              <a:t>12/30/2018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03166-61CF-4F32-957D-9F0712E098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70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Kernel</a:t>
            </a:r>
            <a:r>
              <a:rPr lang="en-US" baseline="0" dirty="0" smtClean="0"/>
              <a:t> provides us tools like semaphores to deal with such situation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67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order to avoid</a:t>
            </a:r>
            <a:r>
              <a:rPr lang="en-US" baseline="0" dirty="0" smtClean="0"/>
              <a:t> a situation in which one train runs into another train, semaphores signals were invented.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EEADB-72FD-4B75-9D3E-2EFCA2A147C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27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Mutex</a:t>
            </a:r>
            <a:r>
              <a:rPr lang="en-US" dirty="0" smtClean="0"/>
              <a:t> example</a:t>
            </a:r>
            <a:r>
              <a:rPr lang="en-US" baseline="0" dirty="0" smtClean="0"/>
              <a:t> I guess (Ayesha Javed)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03166-61CF-4F32-957D-9F0712E098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70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26B88-011D-475E-89E5-B9E27590DA82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293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59F9-E5B8-447B-A6F3-573CF8288FBA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7179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17265-565E-41EF-BE38-45FF0E9B9E7A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7047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E7577-2405-4379-80CA-C2F0FB89A7C8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51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59DF-40F5-4F43-B578-98EA1D9EE905}" type="datetime1">
              <a:rPr lang="en-US" smtClean="0"/>
              <a:t>12/30/2018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94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AD5E8-D43B-4886-A663-6958405CD410}" type="datetime1">
              <a:rPr lang="en-US" smtClean="0"/>
              <a:t>12/30/2018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955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4697-2A98-4E17-9735-2ECB4FADDACF}" type="datetime1">
              <a:rPr lang="en-US" smtClean="0"/>
              <a:t>12/30/2018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588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4CB0-FF5B-467D-BC9E-3A74D11A9252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270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90060-D363-46A9-8BD8-DCBF87A90940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471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92EF-E79A-47C9-846C-8B14F6989B0C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67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587A4-E645-497B-AFDD-8C3CAE4D1A79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793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98D60-B2E3-4D2E-80B1-8457FED2ED5E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Tooba Javed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24D7-BD2A-43FE-ABC2-1B3798821E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 spd="med">
    <p:pull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RTOS 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b="1" dirty="0"/>
              <a:t>Semaphores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4549012" cy="3962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1" y="2895601"/>
            <a:ext cx="4600575" cy="3552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Oval 5"/>
          <p:cNvSpPr/>
          <p:nvPr/>
        </p:nvSpPr>
        <p:spPr>
          <a:xfrm>
            <a:off x="4419600" y="1295400"/>
            <a:ext cx="16002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8200" y="2895600"/>
            <a:ext cx="16002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133600" y="2971800"/>
            <a:ext cx="3581400" cy="685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89186" y="4648200"/>
            <a:ext cx="3869214" cy="95257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05601" y="152401"/>
            <a:ext cx="360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Shared Data Problem </a:t>
            </a:r>
          </a:p>
          <a:p>
            <a:r>
              <a:rPr lang="en-US" dirty="0"/>
              <a:t>EXAMPLE - 1</a:t>
            </a:r>
          </a:p>
        </p:txBody>
      </p:sp>
    </p:spTree>
    <p:extLst>
      <p:ext uri="{BB962C8B-B14F-4D97-AF65-F5344CB8AC3E}">
        <p14:creationId xmlns:p14="http://schemas.microsoft.com/office/powerpoint/2010/main" val="31850692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76200"/>
            <a:ext cx="4572000" cy="6466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01443" y="76201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EXAMPLE - 2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109" y="4111123"/>
            <a:ext cx="3552317" cy="2371725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5943600" y="4572000"/>
            <a:ext cx="381000" cy="17526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6556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616752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– 2 contd.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17075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say initial value of </a:t>
            </a:r>
            <a:r>
              <a:rPr lang="en-US" dirty="0" err="1"/>
              <a:t>cErrors</a:t>
            </a:r>
            <a:r>
              <a:rPr lang="en-US" dirty="0"/>
              <a:t>=5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36491"/>
            <a:ext cx="3552317" cy="2371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355416"/>
            <a:ext cx="5697495" cy="33528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2000" y="5562600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required </a:t>
            </a:r>
            <a:r>
              <a:rPr lang="en-US" dirty="0" smtClean="0"/>
              <a:t>value:</a:t>
            </a:r>
          </a:p>
          <a:p>
            <a:r>
              <a:rPr lang="en-US" dirty="0" smtClean="0"/>
              <a:t>5 </a:t>
            </a:r>
            <a:r>
              <a:rPr lang="en-US" dirty="0"/>
              <a:t>+ 9 + 11 = </a:t>
            </a:r>
            <a:r>
              <a:rPr lang="en-US" dirty="0" smtClean="0"/>
              <a:t>25</a:t>
            </a:r>
          </a:p>
          <a:p>
            <a:r>
              <a:rPr lang="en-US" dirty="0" smtClean="0"/>
              <a:t>But answer is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9940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2926"/>
            <a:ext cx="10515600" cy="419548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semaphore (sometimes called a semaphore token) is a kernel object that one or more threads of execution can acquire or release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exclusion.</a:t>
            </a:r>
          </a:p>
        </p:txBody>
      </p:sp>
    </p:spTree>
    <p:extLst>
      <p:ext uri="{BB962C8B-B14F-4D97-AF65-F5344CB8AC3E}">
        <p14:creationId xmlns:p14="http://schemas.microsoft.com/office/powerpoint/2010/main" val="365453901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Semaphore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524001"/>
            <a:ext cx="7173300" cy="43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7866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1558"/>
          <a:stretch/>
        </p:blipFill>
        <p:spPr>
          <a:xfrm>
            <a:off x="685800" y="3114676"/>
            <a:ext cx="3866036" cy="35814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33600" y="304800"/>
            <a:ext cx="7055380" cy="1400530"/>
          </a:xfrm>
        </p:spPr>
        <p:txBody>
          <a:bodyPr/>
          <a:lstStyle/>
          <a:p>
            <a:pPr algn="ctr"/>
            <a:r>
              <a:rPr lang="en-US" dirty="0" smtClean="0"/>
              <a:t>Defining Semaphore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276601"/>
            <a:ext cx="5584322" cy="3419475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576404730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33601" y="685801"/>
            <a:ext cx="8305799" cy="5871881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u="sng" dirty="0"/>
              <a:t>semaphore is like a key </a:t>
            </a:r>
            <a:r>
              <a:rPr lang="en-US" sz="2400" dirty="0"/>
              <a:t>that allows a task to carry out some operation or access a resource.</a:t>
            </a:r>
          </a:p>
          <a:p>
            <a:r>
              <a:rPr lang="en-US" sz="2400" dirty="0"/>
              <a:t>If the task can acquire the semaphore, it can carry out the intended operation or access the resource. </a:t>
            </a:r>
          </a:p>
          <a:p>
            <a:r>
              <a:rPr lang="en-US" sz="2400" dirty="0"/>
              <a:t>A single semaphore can be acquired a finite number of times. </a:t>
            </a:r>
          </a:p>
          <a:p>
            <a:pPr marL="0" indent="0">
              <a:buNone/>
            </a:pPr>
            <a:endParaRPr lang="en-US" sz="2400" b="1" u="sng" dirty="0"/>
          </a:p>
          <a:p>
            <a:pPr marL="0" indent="0">
              <a:buNone/>
            </a:pPr>
            <a:r>
              <a:rPr lang="en-US" sz="2400" b="1" u="sng" dirty="0"/>
              <a:t>Analogy: </a:t>
            </a:r>
          </a:p>
          <a:p>
            <a:r>
              <a:rPr lang="en-US" sz="2400" dirty="0"/>
              <a:t>semaphore is like acquiring the duplicate of a key from an apartment manager—when the apartment manager runs out of duplicates, the manager can give out no more keys. Likewise, when a semaphore’s limit is reached, it can no longer be acquired until someone gives a key back or releases the semaphore.</a:t>
            </a:r>
          </a:p>
        </p:txBody>
      </p:sp>
    </p:spTree>
    <p:extLst>
      <p:ext uri="{BB962C8B-B14F-4D97-AF65-F5344CB8AC3E}">
        <p14:creationId xmlns:p14="http://schemas.microsoft.com/office/powerpoint/2010/main" val="378337307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38200"/>
            <a:ext cx="941201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9630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685800"/>
            <a:ext cx="80042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3913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Semaphores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kernel can support many different types of semaphores, including </a:t>
            </a:r>
          </a:p>
          <a:p>
            <a:pPr lvl="1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inary Semaphore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Semaphore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utual-exclusion 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utex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(For resource Management)</a:t>
            </a:r>
          </a:p>
          <a:p>
            <a:pPr lvl="1"/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Wait_semaphore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acquire_semaphore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lvl="1" indent="0">
              <a:buNone/>
            </a:pPr>
            <a:r>
              <a:rPr lang="en-US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Signal_semaphore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release_semaphore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051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524000"/>
            <a:ext cx="9699133" cy="35813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1905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34" t="16972" r="-434" b="-16972"/>
          <a:stretch/>
        </p:blipFill>
        <p:spPr>
          <a:xfrm>
            <a:off x="1295400" y="609600"/>
            <a:ext cx="9134476" cy="493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6098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17" y="559833"/>
            <a:ext cx="4975710" cy="49265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752600" y="1524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Binary Semaphore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827" y="1194316"/>
            <a:ext cx="5908431" cy="3657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5849884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5486400" cy="53658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0" y="730015"/>
            <a:ext cx="6096000" cy="353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9847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of semaphores in task synchronization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09800" y="2362201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Following figure shows two tasks synchronizing their execution via two separate binary semaphores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8" y="3298599"/>
            <a:ext cx="55340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79457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28601"/>
            <a:ext cx="4953000" cy="55649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6172201"/>
            <a:ext cx="29908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19939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11683"/>
          <a:stretch/>
        </p:blipFill>
        <p:spPr>
          <a:xfrm>
            <a:off x="901700" y="1295400"/>
            <a:ext cx="5638800" cy="4572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Binary semaphore for </a:t>
            </a:r>
            <a:r>
              <a:rPr lang="en-US" sz="3600" b="1" i="1" dirty="0" smtClean="0"/>
              <a:t>single</a:t>
            </a:r>
            <a:r>
              <a:rPr lang="en-US" sz="3600" dirty="0" smtClean="0"/>
              <a:t> resource management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70675183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Semaphore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36129"/>
          <a:stretch/>
        </p:blipFill>
        <p:spPr>
          <a:xfrm>
            <a:off x="2743201" y="1981201"/>
            <a:ext cx="6753225" cy="942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40768" y="2924176"/>
            <a:ext cx="755808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A counting semaphore can be unsigned 8- or 16- or 32- bit integer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A value of counting semaphore controls the blocking or running of the codes of a task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 waiting task will not wait and run further if at least one token is present</a:t>
            </a:r>
          </a:p>
          <a:p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1" y="974725"/>
            <a:ext cx="206692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25595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0"/>
            <a:ext cx="1052645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7566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85800"/>
            <a:ext cx="103552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08796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2000"/>
            <a:ext cx="9913492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65609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7290054" cy="1499616"/>
          </a:xfrm>
        </p:spPr>
        <p:txBody>
          <a:bodyPr/>
          <a:lstStyle/>
          <a:p>
            <a:r>
              <a:rPr lang="en-US" dirty="0"/>
              <a:t>Managing resources using </a:t>
            </a:r>
            <a:r>
              <a:rPr lang="en-US" dirty="0" smtClean="0"/>
              <a:t>counting semaphores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362200" y="1600201"/>
            <a:ext cx="83058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NewRoman"/>
              </a:rPr>
              <a:t>Resources can also be controlled with counting semaphores.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NewRoman"/>
              </a:rPr>
              <a:t>In this case, the value of the counting semaphore represents </a:t>
            </a:r>
            <a:r>
              <a:rPr lang="en-US" sz="2000" i="1" dirty="0">
                <a:latin typeface="Times New Roman" panose="02020603050405020304" pitchFamily="18" charset="0"/>
              </a:rPr>
              <a:t>how many of the resources </a:t>
            </a:r>
            <a:r>
              <a:rPr lang="en-US" sz="2000" dirty="0">
                <a:latin typeface="TimesNewRoman"/>
              </a:rPr>
              <a:t>are available for use.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NewRoman"/>
              </a:rPr>
              <a:t>A common example is that of a ring buffer. A ring buffer has space for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NewRoman"/>
              </a:rPr>
              <a:t>m</a:t>
            </a:r>
            <a:r>
              <a:rPr lang="en-US" sz="1400" dirty="0">
                <a:latin typeface="Courier"/>
              </a:rPr>
              <a:t> </a:t>
            </a:r>
            <a:r>
              <a:rPr lang="en-US" sz="2000" dirty="0">
                <a:latin typeface="TimesNewRoman"/>
              </a:rPr>
              <a:t>elements, and elements are added to and removed from it by different parts of an application.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7807585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– Serial Communication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33600" y="1981201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Following figure shows a scheme to transmit character strings via RS-232 using a counting semaphore to control access to a ring buffer.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166539"/>
            <a:ext cx="6400800" cy="30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37954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a counting semaphore is initialized to m [1] to represent the number of spaces available in the empty ring buffer [2]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581400" y="3048000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24600" y="4818852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2103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The ring buffer is filled at its tail by the task [3] and emptied from its head by the ISR [4].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743200" y="4038600"/>
            <a:ext cx="1524000" cy="847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324600" y="2971800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52044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Before adding a character to the buffer the task must wait the semaphore. If it is blocked, it means that the buffer is full and cannot accept any more characters.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581400" y="4785315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1838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" indent="-9144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rgbClr val="1CADE4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If the buffer is not full, the semaphore is decremented, the task places the character at the tail of the buffer and increments the tail pointer.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819400"/>
            <a:ext cx="6400800" cy="306625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581400" y="4785315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93913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33600" y="457200"/>
            <a:ext cx="8153400" cy="58521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dirty="0" smtClean="0"/>
              <a:t>Once </a:t>
            </a:r>
            <a:r>
              <a:rPr lang="en-US" dirty="0"/>
              <a:t>there are characters in the </a:t>
            </a:r>
            <a:r>
              <a:rPr lang="en-US" dirty="0" smtClean="0"/>
              <a:t>buffer, </a:t>
            </a:r>
            <a:r>
              <a:rPr lang="en-US" dirty="0"/>
              <a:t>for each character the </a:t>
            </a:r>
            <a:r>
              <a:rPr lang="en-US" dirty="0" err="1" smtClean="0"/>
              <a:t>Tx</a:t>
            </a:r>
            <a:r>
              <a:rPr lang="en-US" dirty="0"/>
              <a:t> </a:t>
            </a:r>
            <a:r>
              <a:rPr lang="en-US" dirty="0" smtClean="0"/>
              <a:t>ISR </a:t>
            </a:r>
            <a:r>
              <a:rPr lang="en-US" dirty="0"/>
              <a:t>will remove it from the buffer, transmit it and increment </a:t>
            </a:r>
            <a:r>
              <a:rPr lang="en-US" dirty="0" smtClean="0"/>
              <a:t>the semaphore </a:t>
            </a:r>
            <a:r>
              <a:rPr lang="en-US" dirty="0"/>
              <a:t>by signaling it.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57400"/>
            <a:ext cx="6400800" cy="306625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81800" y="2292746"/>
            <a:ext cx="1828800" cy="1066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5805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3429000"/>
            <a:ext cx="6400800" cy="3066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685800"/>
            <a:ext cx="54483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64484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3133</TotalTime>
  <Words>586</Words>
  <Application>Microsoft Office PowerPoint</Application>
  <PresentationFormat>Widescreen</PresentationFormat>
  <Paragraphs>55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Calibri Light</vt:lpstr>
      <vt:lpstr>Courier</vt:lpstr>
      <vt:lpstr>Times New Roman</vt:lpstr>
      <vt:lpstr>TimesNewRoman</vt:lpstr>
      <vt:lpstr>Tw Cen MT</vt:lpstr>
      <vt:lpstr>Wingdings</vt:lpstr>
      <vt:lpstr>Office Theme</vt:lpstr>
      <vt:lpstr>RTOS </vt:lpstr>
      <vt:lpstr>PowerPoint Presentation</vt:lpstr>
      <vt:lpstr>PowerPoint Presentation</vt:lpstr>
      <vt:lpstr>PowerPoint Presentation</vt:lpstr>
      <vt:lpstr>Semaphore</vt:lpstr>
      <vt:lpstr>History of Semaphore</vt:lpstr>
      <vt:lpstr>Defining Semaphore</vt:lpstr>
      <vt:lpstr>PowerPoint Presentation</vt:lpstr>
      <vt:lpstr>PowerPoint Presentation</vt:lpstr>
      <vt:lpstr>PowerPoint Presentation</vt:lpstr>
      <vt:lpstr>Types of Semaphores</vt:lpstr>
      <vt:lpstr>Binary Semaphore</vt:lpstr>
      <vt:lpstr>PowerPoint Presentation</vt:lpstr>
      <vt:lpstr>PowerPoint Presentation</vt:lpstr>
      <vt:lpstr>PowerPoint Presentation</vt:lpstr>
      <vt:lpstr>Use of semaphores in task synchronization</vt:lpstr>
      <vt:lpstr>PowerPoint Presentation</vt:lpstr>
      <vt:lpstr>Binary semaphore for single resource management </vt:lpstr>
      <vt:lpstr>Counting Semaphore</vt:lpstr>
      <vt:lpstr>PowerPoint Presentation</vt:lpstr>
      <vt:lpstr>PowerPoint Presentation</vt:lpstr>
      <vt:lpstr>PowerPoint Presentation</vt:lpstr>
      <vt:lpstr>Managing resources using counting semaphores</vt:lpstr>
      <vt:lpstr>Example – Serial Communication</vt:lpstr>
      <vt:lpstr>a counting semaphore is initialized to m [1] to represent the number of spaces available in the empty ring buffer [2]</vt:lpstr>
      <vt:lpstr>The ring buffer is filled at its tail by the task [3] and emptied from its head by the ISR [4]. </vt:lpstr>
      <vt:lpstr>Before adding a character to the buffer the task must wait the semaphore. If it is blocked, it means that the buffer is full and cannot accept any more characters. </vt:lpstr>
      <vt:lpstr>If the buffer is not full, the semaphore is decremented, the task places the character at the tail of the buffer and increments the tail pointer.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Analysis – I</dc:title>
  <dc:creator>tooba</dc:creator>
  <cp:lastModifiedBy>Ayesha Javed</cp:lastModifiedBy>
  <cp:revision>318</cp:revision>
  <dcterms:created xsi:type="dcterms:W3CDTF">2014-08-22T09:03:09Z</dcterms:created>
  <dcterms:modified xsi:type="dcterms:W3CDTF">2018-12-30T09:28:21Z</dcterms:modified>
</cp:coreProperties>
</file>