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27"/>
  </p:notesMasterIdLst>
  <p:sldIdLst>
    <p:sldId id="256" r:id="rId2"/>
    <p:sldId id="265" r:id="rId3"/>
    <p:sldId id="293" r:id="rId4"/>
    <p:sldId id="297" r:id="rId5"/>
    <p:sldId id="314" r:id="rId6"/>
    <p:sldId id="294" r:id="rId7"/>
    <p:sldId id="295" r:id="rId8"/>
    <p:sldId id="296" r:id="rId9"/>
    <p:sldId id="298" r:id="rId10"/>
    <p:sldId id="299" r:id="rId11"/>
    <p:sldId id="268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269" r:id="rId23"/>
    <p:sldId id="311" r:id="rId24"/>
    <p:sldId id="312" r:id="rId25"/>
    <p:sldId id="3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12/31/2018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44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9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6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1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7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97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35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49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0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66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7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72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2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99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5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93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22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22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74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8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23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2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3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12/31/2018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12/31/2018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12/31/2018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12/31/2018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12/31/2018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12/31/2018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12/31/2018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12/31/2018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Pulse Width Modulation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11 </a:t>
            </a:r>
            <a:r>
              <a:rPr lang="en-US" dirty="0" err="1" smtClean="0"/>
              <a:t>Mazidi</a:t>
            </a:r>
            <a:endParaRPr lang="en-US" dirty="0" smtClean="0"/>
          </a:p>
          <a:p>
            <a:r>
              <a:rPr lang="en-US" dirty="0" smtClean="0"/>
              <a:t>Lecture 18, Embedded Systems, Fall 2018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99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Pulse Width Modulation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</a:t>
            </a:fld>
            <a:endParaRPr lang="en-US" sz="2400" dirty="0"/>
          </a:p>
        </p:txBody>
      </p:sp>
      <p:pic>
        <p:nvPicPr>
          <p:cNvPr id="5" name="Content Placeholder 4" descr="F10-7_dutyCycle.jpg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056993" y="2707107"/>
            <a:ext cx="8873347" cy="289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1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707689" cy="1752599"/>
          </a:xfrm>
        </p:spPr>
        <p:txBody>
          <a:bodyPr/>
          <a:lstStyle/>
          <a:p>
            <a:r>
              <a:rPr lang="en-US" dirty="0" smtClean="0"/>
              <a:t>PWM Module in TM4C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795" y="2598539"/>
            <a:ext cx="7488430" cy="392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7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389" y="0"/>
            <a:ext cx="11286699" cy="1752599"/>
          </a:xfrm>
        </p:spPr>
        <p:txBody>
          <a:bodyPr>
            <a:normAutofit/>
          </a:bodyPr>
          <a:lstStyle/>
          <a:p>
            <a:r>
              <a:rPr lang="en-US" sz="3200" dirty="0"/>
              <a:t>A PWM Generator (Counter) and </a:t>
            </a:r>
            <a:r>
              <a:rPr lang="en-US" sz="3200" dirty="0" err="1"/>
              <a:t>PWMa</a:t>
            </a:r>
            <a:r>
              <a:rPr lang="en-US" sz="3200" dirty="0"/>
              <a:t> and </a:t>
            </a:r>
            <a:r>
              <a:rPr lang="en-US" sz="3200" dirty="0" err="1"/>
              <a:t>PWMb</a:t>
            </a:r>
            <a:r>
              <a:rPr lang="en-US" sz="3200" dirty="0"/>
              <a:t>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931" y="1331892"/>
            <a:ext cx="4763068" cy="53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8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2 modules </a:t>
            </a:r>
          </a:p>
          <a:p>
            <a:r>
              <a:rPr lang="en-US" dirty="0" smtClean="0"/>
              <a:t>Each module has four generators</a:t>
            </a:r>
          </a:p>
          <a:p>
            <a:pPr lvl="1"/>
            <a:r>
              <a:rPr lang="en-US" dirty="0" smtClean="0"/>
              <a:t>Each generator has two outputs, two compare registers</a:t>
            </a:r>
          </a:p>
          <a:p>
            <a:pPr lvl="1"/>
            <a:r>
              <a:rPr lang="en-US" dirty="0" smtClean="0"/>
              <a:t>Each generator has one load and count register</a:t>
            </a:r>
          </a:p>
          <a:p>
            <a:r>
              <a:rPr lang="en-US" dirty="0" smtClean="0"/>
              <a:t>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0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707689" cy="1752599"/>
          </a:xfrm>
        </p:spPr>
        <p:txBody>
          <a:bodyPr>
            <a:normAutofit fontScale="90000"/>
          </a:bodyPr>
          <a:lstStyle/>
          <a:p>
            <a:r>
              <a:rPr lang="en-US" sz="4900" dirty="0" smtClean="0"/>
              <a:t>PWM clock source</a:t>
            </a:r>
            <a:br>
              <a:rPr lang="en-US" sz="49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RCGCPWM </a:t>
            </a:r>
            <a:r>
              <a:rPr lang="en-US" dirty="0"/>
              <a:t>Register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940" y="2768460"/>
            <a:ext cx="7488430" cy="855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4311" y="4203510"/>
            <a:ext cx="10361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R0 = for PWM 0 and R1 for PWM1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Clock source may come directly from system clock or through divider (see next slide)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8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481" y="685800"/>
            <a:ext cx="10854519" cy="1752599"/>
          </a:xfrm>
        </p:spPr>
        <p:txBody>
          <a:bodyPr/>
          <a:lstStyle/>
          <a:p>
            <a:r>
              <a:rPr lang="en-US" dirty="0"/>
              <a:t>Run-Mode Clock Configuration (RCC), offset 0x060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32" y="2538484"/>
            <a:ext cx="7833815" cy="399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4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481" y="685800"/>
            <a:ext cx="10854519" cy="1752599"/>
          </a:xfrm>
        </p:spPr>
        <p:txBody>
          <a:bodyPr/>
          <a:lstStyle/>
          <a:p>
            <a:r>
              <a:rPr lang="en-US" dirty="0"/>
              <a:t>Clock Sources to PWM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32" y="2853953"/>
            <a:ext cx="7833815" cy="336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5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389" y="0"/>
            <a:ext cx="11286699" cy="175259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Enable </a:t>
            </a:r>
            <a:r>
              <a:rPr lang="en-US" sz="3200" dirty="0" err="1" smtClean="0"/>
              <a:t>PWMx</a:t>
            </a:r>
            <a:r>
              <a:rPr lang="en-US" sz="3200" dirty="0" smtClean="0"/>
              <a:t> Generator (Counter)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9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58" y="1518662"/>
            <a:ext cx="6922562" cy="28437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30792" y="896039"/>
            <a:ext cx="35149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PWMxCTL</a:t>
            </a:r>
            <a:r>
              <a:rPr lang="en-US" sz="2400" b="1" dirty="0"/>
              <a:t>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0792" y="4523395"/>
            <a:ext cx="8952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generator has its own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PWMxCTL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PWM0_0_CTL_R , PWM0_1_CTL_R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D0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 is enable 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 bit is mode selection: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modes: count down, count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updown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789163"/>
              </p:ext>
            </p:extLst>
          </p:nvPr>
        </p:nvGraphicFramePr>
        <p:xfrm>
          <a:off x="7574507" y="4362436"/>
          <a:ext cx="4286536" cy="229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7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Offset</a:t>
                      </a:r>
                      <a:endParaRPr lang="en-US" sz="140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PWM0_0_CTL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Control for Counter0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0x040</a:t>
                      </a:r>
                      <a:endParaRPr lang="en-US" sz="140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PWM0_1_CTL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Control for Counter1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0x080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PWM0_2_CTL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Control for Counter2</a:t>
                      </a: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0x0C0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PWM0_3_CTL</a:t>
                      </a:r>
                      <a:r>
                        <a:rPr lang="en-US" sz="140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40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Control for Counter3</a:t>
                      </a:r>
                      <a:r>
                        <a:rPr lang="en-US" sz="1400">
                          <a:solidFill>
                            <a:srgbClr val="365F9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365F91"/>
                          </a:solidFill>
                          <a:effectLst/>
                          <a:latin typeface="+mn-lt"/>
                          <a:ea typeface="Arial-BoldMT"/>
                          <a:cs typeface="Calibri" panose="020F0502020204030204" pitchFamily="34" charset="0"/>
                        </a:rPr>
                        <a:t>0x100</a:t>
                      </a:r>
                      <a:endParaRPr lang="en-US" sz="1400" dirty="0">
                        <a:solidFill>
                          <a:srgbClr val="365F9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73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389" y="0"/>
            <a:ext cx="11286699" cy="1752599"/>
          </a:xfrm>
        </p:spPr>
        <p:txBody>
          <a:bodyPr>
            <a:normAutofit/>
          </a:bodyPr>
          <a:lstStyle/>
          <a:p>
            <a:r>
              <a:rPr lang="en-US" sz="3200" dirty="0"/>
              <a:t>Up/down and down-counter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10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272" y="1492419"/>
            <a:ext cx="5254388" cy="516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0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Load Register</a:t>
            </a:r>
            <a:br>
              <a:rPr lang="en-US" dirty="0" smtClean="0"/>
            </a:br>
            <a:r>
              <a:rPr lang="en-US" dirty="0" err="1" smtClean="0"/>
              <a:t>PWMxLOAD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11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590" y="2552132"/>
            <a:ext cx="8465085" cy="301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PWMxCOUNT (Current Counter)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76" y="2552132"/>
            <a:ext cx="8261112" cy="301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0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PWMxCMPA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13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76" y="2588471"/>
            <a:ext cx="8261112" cy="2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4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PWMxCMPB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76" y="2594916"/>
            <a:ext cx="8261112" cy="29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696036"/>
          </a:xfrm>
        </p:spPr>
        <p:txBody>
          <a:bodyPr>
            <a:normAutofit fontScale="90000"/>
          </a:bodyPr>
          <a:lstStyle/>
          <a:p>
            <a:r>
              <a:rPr lang="en-US" dirty="0"/>
              <a:t>PWM Events in TI TIVA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15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116" y="820707"/>
            <a:ext cx="4139326" cy="590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77468"/>
          </a:xfrm>
        </p:spPr>
        <p:txBody>
          <a:bodyPr>
            <a:normAutofit/>
          </a:bodyPr>
          <a:lstStyle/>
          <a:p>
            <a:r>
              <a:rPr lang="en-US" dirty="0"/>
              <a:t>PWMxGENA and PWMxGENB registers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870" y="1377469"/>
            <a:ext cx="7707724" cy="485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7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77468"/>
          </a:xfrm>
        </p:spPr>
        <p:txBody>
          <a:bodyPr>
            <a:normAutofit/>
          </a:bodyPr>
          <a:lstStyle/>
          <a:p>
            <a:r>
              <a:rPr lang="en-US" dirty="0"/>
              <a:t>PWMxGENA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870" y="2359664"/>
            <a:ext cx="7707724" cy="28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8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77468"/>
          </a:xfrm>
        </p:spPr>
        <p:txBody>
          <a:bodyPr>
            <a:normAutofit/>
          </a:bodyPr>
          <a:lstStyle/>
          <a:p>
            <a:r>
              <a:rPr lang="en-US" dirty="0"/>
              <a:t>PWMxGENB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871" y="2359664"/>
            <a:ext cx="7707722" cy="28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9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27545"/>
            <a:ext cx="10018713" cy="1160061"/>
          </a:xfrm>
        </p:spPr>
        <p:txBody>
          <a:bodyPr>
            <a:normAutofit fontScale="90000"/>
          </a:bodyPr>
          <a:lstStyle/>
          <a:p>
            <a:r>
              <a:rPr lang="en-US" dirty="0"/>
              <a:t>PWM generation using count-down mode and </a:t>
            </a:r>
            <a:r>
              <a:rPr lang="en-US" dirty="0" err="1"/>
              <a:t>ComparatorA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19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260" y="1842519"/>
            <a:ext cx="5911178" cy="438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0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27545"/>
            <a:ext cx="10018713" cy="1160061"/>
          </a:xfrm>
        </p:spPr>
        <p:txBody>
          <a:bodyPr>
            <a:normAutofit/>
          </a:bodyPr>
          <a:lstStyle/>
          <a:p>
            <a:r>
              <a:rPr lang="en-US" dirty="0" smtClean="0"/>
              <a:t>Channel selection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20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41" y="2033517"/>
            <a:ext cx="7013334" cy="367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6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27545"/>
            <a:ext cx="10018713" cy="1160061"/>
          </a:xfrm>
        </p:spPr>
        <p:txBody>
          <a:bodyPr>
            <a:normAutofit/>
          </a:bodyPr>
          <a:lstStyle/>
          <a:p>
            <a:r>
              <a:rPr lang="en-US" dirty="0"/>
              <a:t>PWMENABLE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21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17" y="2041381"/>
            <a:ext cx="8842122" cy="32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9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30958"/>
            <a:ext cx="10018713" cy="1752599"/>
          </a:xfrm>
        </p:spPr>
        <p:txBody>
          <a:bodyPr/>
          <a:lstStyle/>
          <a:p>
            <a:r>
              <a:rPr lang="en-US" dirty="0"/>
              <a:t>Module 0 (M0) PWM alternate pin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22</a:t>
            </a:fld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037624"/>
              </p:ext>
            </p:extLst>
          </p:nvPr>
        </p:nvGraphicFramePr>
        <p:xfrm>
          <a:off x="2459653" y="1807191"/>
          <a:ext cx="7462269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M0PWMx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GPIOAFSL register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PB6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GPIOB-&gt;AFSEL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=0x40  (0100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M0PWM1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PB7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GPIOB-&gt;AFSEL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=0x80 (1000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M0PWM2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GPIOB-&gt;AFSEL</a:t>
                      </a:r>
                      <a:r>
                        <a:rPr lang="en-US" sz="2000" dirty="0">
                          <a:effectLst/>
                          <a:latin typeface="+mn-lt"/>
                          <a:ea typeface="ArialMT"/>
                          <a:cs typeface="ArialMT"/>
                        </a:rPr>
                        <a:t> =0x10 (0001 0000 binary)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M0PWM3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GPIOB-&gt;AFSEL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=0x20 (0010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M0PWM4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PE4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GPIOE-&gt;AFSEL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=0x10 (0001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M0PWM5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PE5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GPIOE-&gt;AFSEL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=0x20 (0010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M0PWM6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PC4 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GPIOC-&gt;AFSEL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 0x10 (0001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GPIOD-&gt;AFSEL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 0x01 (0000 0001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M0PWM7 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PC5 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GPIOC-&gt;AFSEL</a:t>
                      </a: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 =0x0x20 (0010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GPIOD-&gt;AFSEL</a:t>
                      </a:r>
                      <a:r>
                        <a:rPr lang="en-US" sz="2000" dirty="0">
                          <a:effectLst/>
                          <a:latin typeface="+mn-lt"/>
                          <a:ea typeface="ArialMT"/>
                          <a:cs typeface="ArialMT"/>
                        </a:rPr>
                        <a:t> = 0x02 (0000 0010 binary)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04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365" y="0"/>
            <a:ext cx="10820635" cy="1752599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0 (M0) PWM pin assignment using GPIO_PCTL (Extracted from Table 23-5 of </a:t>
            </a:r>
            <a:r>
              <a:rPr lang="en-US" dirty="0" err="1"/>
              <a:t>Tiva</a:t>
            </a:r>
            <a:r>
              <a:rPr lang="en-US" dirty="0"/>
              <a:t> Manual)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23</a:t>
            </a:fld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14420"/>
              </p:ext>
            </p:extLst>
          </p:nvPr>
        </p:nvGraphicFramePr>
        <p:xfrm>
          <a:off x="2459653" y="1807191"/>
          <a:ext cx="7462269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Value for GPIOPCTL register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PB6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GPIO_PORTB_PCTL=0x0400000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M0PWM1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PB7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GPIO_PORTB_PCTL=0x4000000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M0PWM2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GPIO_PORTB_PCTL=0x0004000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M0PWM3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PB5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GPIO_PORTB_PCTL=0x00400000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M0PWM4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PE4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GPIO_PORTE_PCTL=0x0040000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M0PWM5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PE5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GPIO_PORTE_PCTL=0x00400000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M0PWM6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PC4 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GPIO_PORTC_PCTL=00040000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GPIO_PORTD_PCTL=0x00000004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M0PWM7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PC5 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GPIO_PORTC_PCTL=0x00400000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ArialMT"/>
                          <a:cs typeface="ArialMT"/>
                        </a:rPr>
                        <a:t>GPIO_PORTD_PCTL=0x00000040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95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365" y="0"/>
            <a:ext cx="10820635" cy="1752599"/>
          </a:xfrm>
        </p:spPr>
        <p:txBody>
          <a:bodyPr>
            <a:normAutofit/>
          </a:bodyPr>
          <a:lstStyle/>
          <a:p>
            <a:r>
              <a:rPr lang="en-US" dirty="0"/>
              <a:t>Module 1 (M1) PWM Alternate pin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24</a:t>
            </a:fld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3452"/>
              </p:ext>
            </p:extLst>
          </p:nvPr>
        </p:nvGraphicFramePr>
        <p:xfrm>
          <a:off x="2705312" y="1752599"/>
          <a:ext cx="7680633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2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M1PWMx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GPIO_AFSL register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PD0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GPIOD-&gt;AFSEL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=0x01 (0000 0001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M1PWM1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PD1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GPIOD-&gt;AFSEL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=0x02 (0000 0010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M1PWM2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PA6 or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GPIOA-&gt;AFSEL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=0x40 (0100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PE4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GPIOE-&gt;AFSEL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=0x10 (0001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M1PWM3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PA7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GPIOA-&gt;AFSEL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=0x80 (1000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PE5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GPIOE-&gt;AFSEL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=0x20 (0010 0000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M1PWM4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PF0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GPIOF-&gt;AFSEL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=0x01 (0000 0001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M1PWM5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PF1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GPIOF-&gt;AFSEL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=0x02 (0000 0010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M1PWM6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PF2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GPIOF-&gt;AFSEL</a:t>
                      </a: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=0x04 (0000 0100 binary)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M1PWM7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PF3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GPIOF-&gt;AFSEL</a:t>
                      </a:r>
                      <a:r>
                        <a:rPr lang="en-US" sz="2000" dirty="0" smtClean="0">
                          <a:effectLst/>
                          <a:latin typeface="+mn-lt"/>
                          <a:ea typeface="ArialMT"/>
                          <a:cs typeface="ArialMT"/>
                        </a:rPr>
                        <a:t> =0x08 (0000 1000 binary)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5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365" y="0"/>
            <a:ext cx="10820635" cy="1752599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1 (M1) PWM pin assignment using GPIO_PCTL register (Extracted from Table 23-5 of </a:t>
            </a:r>
            <a:r>
              <a:rPr lang="en-US" dirty="0" err="1"/>
              <a:t>Tiva</a:t>
            </a:r>
            <a:r>
              <a:rPr lang="en-US" dirty="0"/>
              <a:t> Manual)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25</a:t>
            </a:fld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92108"/>
              </p:ext>
            </p:extLst>
          </p:nvPr>
        </p:nvGraphicFramePr>
        <p:xfrm>
          <a:off x="2705312" y="1752599"/>
          <a:ext cx="7680633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2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Value for GPIOPCTL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GPIOD-&gt;PCTL= 0x00000005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M1PWM1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PD1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GPIOD-&gt;PCTL=0x00000050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M1PWM2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PA6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GPIOA-&gt;PCTL=0x05000000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PE4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GPIOE-&gt;PCTL=0x00050000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0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M1PWM3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PA7 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GPIOA-&gt;PCTL=0x50000000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GPIOE-&gt;PCTL=0x00500000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M1PWM4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PF0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GPIOF-&gt;PCTL=0x00000005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M1PWM5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PF1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GPIOF-&gt;PCTL=0x00000050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M1PWM6 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PF2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GPIOF-&gt;PCTL=0x00000500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M1PWM7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PF3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ArialMT"/>
                          <a:cs typeface="ArialMT"/>
                        </a:rPr>
                        <a:t>GPIOF-&gt;PCTL=0x00005000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77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1495</TotalTime>
  <Words>643</Words>
  <Application>Microsoft Office PowerPoint</Application>
  <PresentationFormat>Widescreen</PresentationFormat>
  <Paragraphs>222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Arial-BoldMT</vt:lpstr>
      <vt:lpstr>ArialMT</vt:lpstr>
      <vt:lpstr>Calibri</vt:lpstr>
      <vt:lpstr>Corbel</vt:lpstr>
      <vt:lpstr>Courier</vt:lpstr>
      <vt:lpstr>Times New Roman</vt:lpstr>
      <vt:lpstr>Parallax</vt:lpstr>
      <vt:lpstr>Pulse Width Modulation</vt:lpstr>
      <vt:lpstr>Pulse Width Modulation Comparison</vt:lpstr>
      <vt:lpstr>PWM Module in TM4C</vt:lpstr>
      <vt:lpstr>A PWM Generator (Counter) and PWMa and PWMb Output</vt:lpstr>
      <vt:lpstr>Specifications</vt:lpstr>
      <vt:lpstr>PWM clock source  RCGCPWM Register</vt:lpstr>
      <vt:lpstr>Run-Mode Clock Configuration (RCC), offset 0x060</vt:lpstr>
      <vt:lpstr>Clock Sources to PWM</vt:lpstr>
      <vt:lpstr>Enable PWMx Generator (Counter) </vt:lpstr>
      <vt:lpstr>Up/down and down-counter</vt:lpstr>
      <vt:lpstr>The Load Register PWMxLOAD</vt:lpstr>
      <vt:lpstr>PWMxCOUNT (Current Counter)</vt:lpstr>
      <vt:lpstr>PWMxCMPA</vt:lpstr>
      <vt:lpstr>PWMxCMPB</vt:lpstr>
      <vt:lpstr>PWM Events in TI TIVA</vt:lpstr>
      <vt:lpstr>PWMxGENA and PWMxGENB registers</vt:lpstr>
      <vt:lpstr>PWMxGENA</vt:lpstr>
      <vt:lpstr>PWMxGENB</vt:lpstr>
      <vt:lpstr>PWM generation using count-down mode and ComparatorA</vt:lpstr>
      <vt:lpstr>Channel selection</vt:lpstr>
      <vt:lpstr>PWMENABLE</vt:lpstr>
      <vt:lpstr>Module 0 (M0) PWM alternate pin assignment</vt:lpstr>
      <vt:lpstr>Module 0 (M0) PWM pin assignment using GPIO_PCTL (Extracted from Table 23-5 of Tiva Manual)</vt:lpstr>
      <vt:lpstr>Module 1 (M1) PWM Alternate pin assignment</vt:lpstr>
      <vt:lpstr>Module 1 (M1) PWM pin assignment using GPIO_PCTL register (Extracted from Table 23-5 of Tiva Manual)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Ayesha Javed</cp:lastModifiedBy>
  <cp:revision>466</cp:revision>
  <dcterms:created xsi:type="dcterms:W3CDTF">2016-04-05T15:14:57Z</dcterms:created>
  <dcterms:modified xsi:type="dcterms:W3CDTF">2018-12-30T21:53:54Z</dcterms:modified>
</cp:coreProperties>
</file>