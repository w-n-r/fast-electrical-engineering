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26"/>
  </p:notesMasterIdLst>
  <p:sldIdLst>
    <p:sldId id="256" r:id="rId2"/>
    <p:sldId id="283" r:id="rId3"/>
    <p:sldId id="284" r:id="rId4"/>
    <p:sldId id="258" r:id="rId5"/>
    <p:sldId id="259" r:id="rId6"/>
    <p:sldId id="285" r:id="rId7"/>
    <p:sldId id="286" r:id="rId8"/>
    <p:sldId id="289" r:id="rId9"/>
    <p:sldId id="287" r:id="rId10"/>
    <p:sldId id="288" r:id="rId11"/>
    <p:sldId id="261" r:id="rId12"/>
    <p:sldId id="290" r:id="rId13"/>
    <p:sldId id="263" r:id="rId14"/>
    <p:sldId id="264" r:id="rId15"/>
    <p:sldId id="267" r:id="rId16"/>
    <p:sldId id="268" r:id="rId17"/>
    <p:sldId id="269" r:id="rId18"/>
    <p:sldId id="271" r:id="rId19"/>
    <p:sldId id="291" r:id="rId20"/>
    <p:sldId id="293" r:id="rId21"/>
    <p:sldId id="294" r:id="rId22"/>
    <p:sldId id="296" r:id="rId23"/>
    <p:sldId id="297" r:id="rId24"/>
    <p:sldId id="2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84307" autoAdjust="0"/>
  </p:normalViewPr>
  <p:slideViewPr>
    <p:cSldViewPr snapToGrid="0">
      <p:cViewPr varScale="1">
        <p:scale>
          <a:sx n="62" d="100"/>
          <a:sy n="62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9D8EBD-BCEA-44DB-B3FA-BEF2334C0C16}" type="datetimeFigureOut">
              <a:rPr lang="en-US" smtClean="0"/>
              <a:t>12/30/2018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7F81B-48C6-4241-8C54-F91A4F434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9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22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23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18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86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14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8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1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52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277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64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85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7F81B-48C6-4241-8C54-F91A4F434E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8114-23E4-4593-BF3B-532BFBD2E1B6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82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65C8-5366-440F-85B8-EFCE7441B29B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D68B0-814B-40D6-B4DB-04CC4FF7D2A1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0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B75F-8F27-4911-AC37-C552ADB1044A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6D5C-3F53-40F4-B006-594CFED681E5}" type="datetime1">
              <a:rPr lang="en-US" smtClean="0"/>
              <a:t>12/30/2018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FAB96-F4F7-4D54-B513-CDD7343FAFF8}" type="datetime1">
              <a:rPr lang="en-US" smtClean="0"/>
              <a:t>12/30/2018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4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03BFA-5E5C-4D5E-8ABD-D656A00E87E8}" type="datetime1">
              <a:rPr lang="en-US" smtClean="0"/>
              <a:t>12/30/2018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86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4CFD-9BCE-4FD7-86C9-19BCA0CFC0F4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8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145B-A388-4771-A1DA-47B0603B35BE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7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7376-1B16-4472-B0F1-F964F0DA414A}" type="datetime1">
              <a:rPr lang="en-US" smtClean="0"/>
              <a:t>12/30/2018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0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FDD39-9C18-486C-BC65-D16C8C15D60C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34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E44D-7099-4E2F-8E43-3E18C2255D06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31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1EC0-F5BD-4E51-9DAB-E318021EB119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96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F43C8-D353-4AE7-AD9B-AB6C5E624401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94BF-BC85-48BF-BC3B-9C7B6A1A6F9D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0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96FF-8624-43D2-B715-A5C5861C3834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87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51E3D-2E4F-4121-8B5B-DDDAB554B90A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AC7750-DD3B-4E48-B89E-99E4CC08EBBE}" type="datetime1">
              <a:rPr lang="en-US" smtClean="0"/>
              <a:t>12/30/2018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8B6C21-E150-4397-8C19-7B7D96984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Serial and Parallel Port interfacing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SSI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4991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Synchronous Serial Interface (SSI)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Synchronous communication </a:t>
            </a:r>
          </a:p>
          <a:p>
            <a:r>
              <a:rPr lang="en-US" dirty="0" smtClean="0"/>
              <a:t>Device can operate as a master or  a slave</a:t>
            </a:r>
          </a:p>
          <a:p>
            <a:r>
              <a:rPr lang="en-US" dirty="0" smtClean="0"/>
              <a:t>Channel can have one master or one slave or multiple slaves</a:t>
            </a:r>
          </a:p>
          <a:p>
            <a:r>
              <a:rPr lang="en-US" dirty="0" smtClean="0"/>
              <a:t>The master initiates all data communication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4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UART and SSI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UART is asynchronous, each device has its own clock but have same frequency </a:t>
            </a:r>
          </a:p>
          <a:p>
            <a:r>
              <a:rPr lang="en-US" dirty="0" smtClean="0"/>
              <a:t>In UART clock signal is not included in the interface signal </a:t>
            </a:r>
          </a:p>
          <a:p>
            <a:r>
              <a:rPr lang="en-US" dirty="0" smtClean="0"/>
              <a:t>In SSI both devices communicate with synchronous serial </a:t>
            </a:r>
          </a:p>
          <a:p>
            <a:r>
              <a:rPr lang="en-US" dirty="0" smtClean="0"/>
              <a:t>Clock signal is included in communication </a:t>
            </a:r>
          </a:p>
          <a:p>
            <a:r>
              <a:rPr lang="en-US" dirty="0" smtClean="0"/>
              <a:t>Clock is generated by master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7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Bus vs. Traditional Parallel Bus Connection to Microcontroller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4</a:t>
            </a:fld>
            <a:endParaRPr lang="en-US" sz="2400" dirty="0"/>
          </a:p>
        </p:txBody>
      </p:sp>
      <p:pic>
        <p:nvPicPr>
          <p:cNvPr id="5" name="Content Placeholder 4" descr="F8-1.jpg"/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082609" y="2438399"/>
            <a:ext cx="6822116" cy="342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8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5</a:t>
            </a:fld>
            <a:endParaRPr lang="en-US" sz="2400" dirty="0"/>
          </a:p>
        </p:txBody>
      </p:sp>
      <p:pic>
        <p:nvPicPr>
          <p:cNvPr id="5" name="Content Placeholder 4" descr="F8-2.jpg"/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350403" y="2438399"/>
            <a:ext cx="6286527" cy="425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8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SPI architecture of TM4C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1" y="2323151"/>
            <a:ext cx="9613225" cy="35439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GPIO Pin Assignment for all 4 SSI 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7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620790" y="2243920"/>
          <a:ext cx="1001871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4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Module Pin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Pin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Module Pin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GPIO Pin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SSI0Clk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PA2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SSI2Clk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PB4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SSI0Fss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PA3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SSI2Fss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PB5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SSI0Rx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PA4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SSI2Rx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PB6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SSI0Tx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PA5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SSI2TX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PB7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SSI1Clk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PD0 or PF2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SSI3Clk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SSI1Fss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PD1 or PF3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SSI3Fss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SSI1Rx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PD2 or PF0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Courier"/>
                        </a:rPr>
                        <a:t>SSI3Rx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SSI1TX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PD3 or PF1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SSI3TX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PD3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86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SSI Module Base Address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8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3895920" y="3476679"/>
          <a:ext cx="5486400" cy="175260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Module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Base Address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SSI0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ArialMT"/>
                          <a:cs typeface="ArialMT"/>
                        </a:rPr>
                        <a:t>0x40008000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SSI1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ArialMT"/>
                          <a:cs typeface="ArialMT"/>
                        </a:rPr>
                        <a:t>0x40009000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SSI2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+mn-lt"/>
                          <a:ea typeface="ArialMT"/>
                          <a:cs typeface="ArialMT"/>
                        </a:rPr>
                        <a:t>0x4000A000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ArialMT"/>
                          <a:cs typeface="ArialMT"/>
                        </a:rPr>
                        <a:t>SSI3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+mn-lt"/>
                          <a:ea typeface="ArialMT"/>
                          <a:cs typeface="ArialMT"/>
                        </a:rPr>
                        <a:t>0x4000B000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21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SSI clock frequency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116127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04" y="2125555"/>
            <a:ext cx="10929196" cy="1895030"/>
          </a:xfrm>
          <a:prstGeom prst="rect">
            <a:avLst/>
          </a:prstGeo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402" y="4369722"/>
            <a:ext cx="9144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4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10</a:t>
            </a:fld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dirty="0" err="1" smtClean="0"/>
              <a:t>prescaler</a:t>
            </a:r>
            <a:r>
              <a:rPr lang="en-US" dirty="0" smtClean="0"/>
              <a:t> is 32, system clock = 16MHz, what is SCR if Bit rate is 100K </a:t>
            </a:r>
          </a:p>
          <a:p>
            <a:r>
              <a:rPr lang="en-US" dirty="0" err="1" smtClean="0"/>
              <a:t>Asnwer</a:t>
            </a:r>
            <a:r>
              <a:rPr lang="en-US" dirty="0" smtClean="0"/>
              <a:t>: SCR= 16M/(32x100K) – 1 =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10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Clock Polarity and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11</a:t>
            </a:fld>
            <a:endParaRPr lang="en-US" sz="2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539117"/>
              </p:ext>
            </p:extLst>
          </p:nvPr>
        </p:nvGraphicFramePr>
        <p:xfrm>
          <a:off x="2214800" y="2120681"/>
          <a:ext cx="9012639" cy="245364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111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0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6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Clock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Polarity (CPOL)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Clock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Phase (CPHA)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Data read and change time	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SPI Mode 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read on falling edge, changed on a rising edge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read on rising edge, changed on a falling edge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read on rising edge, changed on a falling edge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read on falling edge, changed on a rising edge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21793" marR="121793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57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configure SSI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Enable Clock to SPI as well as the port being used </a:t>
            </a:r>
          </a:p>
          <a:p>
            <a:r>
              <a:rPr lang="en-US" dirty="0" smtClean="0"/>
              <a:t>Do all the configurations for PORT (alternate function </a:t>
            </a:r>
            <a:r>
              <a:rPr lang="en-US" dirty="0" err="1" smtClean="0"/>
              <a:t>etc</a:t>
            </a:r>
            <a:r>
              <a:rPr lang="en-US" dirty="0" smtClean="0"/>
              <a:t>) </a:t>
            </a:r>
          </a:p>
          <a:p>
            <a:r>
              <a:rPr lang="en-US" dirty="0" smtClean="0"/>
              <a:t>Set the control registers of SSI: CR1, CR0, CPSR, SR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0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Enable clock of SSI </a:t>
            </a:r>
            <a:br>
              <a:rPr lang="en-US" dirty="0" smtClean="0"/>
            </a:br>
            <a:r>
              <a:rPr lang="en-US" dirty="0" smtClean="0"/>
              <a:t>RCGCSSI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13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137" y="3063647"/>
            <a:ext cx="7817059" cy="108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0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US" dirty="0" smtClean="0"/>
              <a:t>Control Register 0 (SSICR0)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14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136" y="1330749"/>
            <a:ext cx="7817059" cy="925810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3869049"/>
              </p:ext>
            </p:extLst>
          </p:nvPr>
        </p:nvGraphicFramePr>
        <p:xfrm>
          <a:off x="1827243" y="2378134"/>
          <a:ext cx="1001871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6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Bits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Description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0-3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Data Size Select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0x03 to 0x0F for 4-bit to 16-bit data size</a:t>
                      </a:r>
                    </a:p>
                    <a:p>
                      <a:pPr algn="ctr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0x07 means 8-bit data size </a:t>
                      </a:r>
                    </a:p>
                    <a:p>
                      <a:pPr algn="ctr"/>
                      <a:endParaRPr lang="en-US" sz="1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en-US" sz="20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en-US" sz="20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en-US" sz="20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4-5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Frame Format Select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 for SPI, 1 for TI, and 2 for MICROWIRE frame format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Serial Clock Polarity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Clock polarity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Serial Clock Phase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Clock phase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8-15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Serial Clock Rate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BR=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SysClk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/(CPSDVSR * (1 + SCR))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129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458" y="436420"/>
            <a:ext cx="11081982" cy="827116"/>
          </a:xfrm>
        </p:spPr>
        <p:txBody>
          <a:bodyPr>
            <a:normAutofit/>
          </a:bodyPr>
          <a:lstStyle/>
          <a:p>
            <a:r>
              <a:rPr lang="it-IT" sz="3600" dirty="0" smtClean="0"/>
              <a:t>Setting Bit Rate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15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56" y="1411826"/>
            <a:ext cx="9144000" cy="10927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7856" y="2809702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Set CPSDVSR and SCR bits in the SSICR0 register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15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5720" y="685800"/>
            <a:ext cx="11081982" cy="1752599"/>
          </a:xfrm>
        </p:spPr>
        <p:txBody>
          <a:bodyPr>
            <a:normAutofit/>
          </a:bodyPr>
          <a:lstStyle/>
          <a:p>
            <a:r>
              <a:rPr lang="it-IT" sz="3600" dirty="0" smtClean="0"/>
              <a:t>SSI </a:t>
            </a:r>
            <a:r>
              <a:rPr lang="it-IT" sz="3600" dirty="0"/>
              <a:t>Control </a:t>
            </a:r>
            <a:r>
              <a:rPr lang="it-IT" sz="3600" dirty="0" smtClean="0"/>
              <a:t>Register 1 </a:t>
            </a:r>
            <a:r>
              <a:rPr lang="it-IT" sz="3600" dirty="0"/>
              <a:t>(SSICR1</a:t>
            </a:r>
            <a:r>
              <a:rPr lang="it-IT" sz="3600" dirty="0" smtClean="0"/>
              <a:t>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16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56" y="2098366"/>
            <a:ext cx="9144000" cy="10829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7856" y="352459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MS= 0 when master else slave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SSE = enable/disable bit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981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5720" y="685800"/>
            <a:ext cx="11081982" cy="1752599"/>
          </a:xfrm>
        </p:spPr>
        <p:txBody>
          <a:bodyPr>
            <a:normAutofit/>
          </a:bodyPr>
          <a:lstStyle/>
          <a:p>
            <a:r>
              <a:rPr lang="it-IT" sz="3600" dirty="0" smtClean="0"/>
              <a:t>Data register (SSIDR)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17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56" y="1922336"/>
            <a:ext cx="9144000" cy="1032126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618" y="3219929"/>
            <a:ext cx="7321055" cy="363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5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0018" y="253540"/>
            <a:ext cx="11081982" cy="594360"/>
          </a:xfrm>
        </p:spPr>
        <p:txBody>
          <a:bodyPr>
            <a:normAutofit fontScale="90000"/>
          </a:bodyPr>
          <a:lstStyle/>
          <a:p>
            <a:r>
              <a:rPr lang="it-IT" sz="3600" dirty="0" smtClean="0"/>
              <a:t>Status Flag Register (SSISR)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z="2400" smtClean="0"/>
              <a:t>18</a:t>
            </a:fld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82" y="847900"/>
            <a:ext cx="7321055" cy="864849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2666711"/>
              </p:ext>
            </p:extLst>
          </p:nvPr>
        </p:nvGraphicFramePr>
        <p:xfrm>
          <a:off x="1937353" y="1896783"/>
          <a:ext cx="10018712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9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Bits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Function</a:t>
                      </a:r>
                      <a:endParaRPr lang="en-US" sz="20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200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TFE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Transmit FIFO Empty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bit is 1 when the transmit FIFO is empty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TNF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Transmit FIFO Not Full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bit is 1 when the SSI transmit FIFO not full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Receive FIFO Not Empty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bit is 1 when the receive FIFO is not empty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RFF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Receive FIFO Full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bit is 1 when the receive FIFO is full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BSY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SSI Busy Bit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bit is 1 when the SSI is currently transmitting or receiving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94560" y="5735782"/>
            <a:ext cx="8757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Wait on busy flag for reading/writing for single byte transfer at a time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57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Code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78429" y="2438399"/>
            <a:ext cx="2859578" cy="3428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Master Controller </a:t>
            </a:r>
          </a:p>
          <a:p>
            <a:pPr algn="ctr"/>
            <a:r>
              <a:rPr lang="en-US" dirty="0" smtClean="0"/>
              <a:t>TM4C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740726" y="2438399"/>
            <a:ext cx="2859578" cy="3428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Slave Controller</a:t>
            </a:r>
          </a:p>
          <a:p>
            <a:pPr algn="ctr"/>
            <a:r>
              <a:rPr lang="en-US" dirty="0" smtClean="0"/>
              <a:t>TM4C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56115" y="4152765"/>
            <a:ext cx="581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Tx</a:t>
            </a:r>
            <a:endParaRPr lang="en-US" dirty="0" smtClean="0"/>
          </a:p>
          <a:p>
            <a:r>
              <a:rPr lang="en-US" dirty="0" err="1" smtClean="0"/>
              <a:t>Clk</a:t>
            </a:r>
            <a:endParaRPr lang="en-US" dirty="0" smtClean="0"/>
          </a:p>
          <a:p>
            <a:r>
              <a:rPr lang="en-US" dirty="0" err="1" smtClean="0"/>
              <a:t>Fss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707473" y="4152765"/>
            <a:ext cx="581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x</a:t>
            </a:r>
          </a:p>
          <a:p>
            <a:r>
              <a:rPr lang="en-US" dirty="0" err="1" smtClean="0"/>
              <a:t>Clk</a:t>
            </a:r>
            <a:endParaRPr lang="en-US" dirty="0" smtClean="0"/>
          </a:p>
          <a:p>
            <a:r>
              <a:rPr lang="en-US" dirty="0" err="1" smtClean="0"/>
              <a:t>Fss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838006" y="4339244"/>
            <a:ext cx="18694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8" idx="1"/>
          </p:cNvCxnSpPr>
          <p:nvPr/>
        </p:nvCxnSpPr>
        <p:spPr>
          <a:xfrm>
            <a:off x="4838006" y="4614430"/>
            <a:ext cx="18694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838006" y="4921135"/>
            <a:ext cx="1869467" cy="332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10174777" y="3707476"/>
            <a:ext cx="1795549" cy="1213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Laptop (</a:t>
            </a:r>
            <a:r>
              <a:rPr lang="en-US" dirty="0" err="1" smtClean="0"/>
              <a:t>Teraterm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9600304" y="4152765"/>
            <a:ext cx="574474" cy="46166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725671" y="4198931"/>
            <a:ext cx="86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UART0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21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95888" y="240930"/>
            <a:ext cx="7207135" cy="64633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void init_SSI2(void)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SYSCTL_RCGCSSI_R |= 4;       /* enable clock to SSI2 */</a:t>
            </a:r>
          </a:p>
          <a:p>
            <a:r>
              <a:rPr lang="en-US" dirty="0"/>
              <a:t>    SYSCTL_RCGCGPIO_R |= 2;      /* enable clock to GPIOB for SSI2 */</a:t>
            </a:r>
          </a:p>
          <a:p>
            <a:r>
              <a:rPr lang="en-US" dirty="0"/>
              <a:t>    </a:t>
            </a:r>
            <a:r>
              <a:rPr lang="en-US" b="1" dirty="0"/>
              <a:t>while((SYSCTL_PRGPIO_R&amp;0x0002) == 0){};// ready?</a:t>
            </a:r>
          </a:p>
          <a:p>
            <a:r>
              <a:rPr lang="en-US" dirty="0"/>
              <a:t>    /* configure PORTB 4,5,7*/</a:t>
            </a:r>
          </a:p>
          <a:p>
            <a:r>
              <a:rPr lang="en-US" dirty="0"/>
              <a:t>    GPIO_PORTB_AMSEL_R &amp;= ~0xB0;      /* disable analog for these pins */</a:t>
            </a:r>
          </a:p>
          <a:p>
            <a:r>
              <a:rPr lang="en-US" dirty="0"/>
              <a:t>    GPIO_PORTB_DEN_R |= 0xB0;         /* and make them digital */</a:t>
            </a:r>
          </a:p>
          <a:p>
            <a:r>
              <a:rPr lang="en-US" dirty="0"/>
              <a:t>    GPIO_PORTB_DIR_R |= 0xB0;         /* and make them digital */</a:t>
            </a:r>
          </a:p>
          <a:p>
            <a:r>
              <a:rPr lang="en-US" dirty="0"/>
              <a:t>    GPIO_PORTB_AFSEL_R |= 0xB0;       /* enable alternate function */</a:t>
            </a:r>
          </a:p>
          <a:p>
            <a:r>
              <a:rPr lang="en-US" dirty="0"/>
              <a:t>    GPIO_PORTB_PCTL_R |= 0x20220000;/* assign pins to SSI2 */</a:t>
            </a:r>
          </a:p>
          <a:p>
            <a:r>
              <a:rPr lang="en-US" dirty="0"/>
              <a:t>    GPIO_PORTB_DATA_R |= 0x20   ;        /* keep SS idle high */</a:t>
            </a:r>
          </a:p>
          <a:p>
            <a:endParaRPr lang="en-US" dirty="0"/>
          </a:p>
          <a:p>
            <a:r>
              <a:rPr lang="en-US" dirty="0"/>
              <a:t>    /* SPI Master, SPO = 0, SPH = 0, clock = 16 MHz, 8 bit data */</a:t>
            </a:r>
          </a:p>
          <a:p>
            <a:r>
              <a:rPr lang="en-US" dirty="0"/>
              <a:t>       SSI2_CR1_R = 0;          /* disable SSI and make it master */</a:t>
            </a:r>
          </a:p>
          <a:p>
            <a:r>
              <a:rPr lang="en-US" dirty="0"/>
              <a:t>       SSI2_CR0_R = 0x00003307;;     /* 9600 SSI clock, SPI mode, 8 bit data, </a:t>
            </a:r>
            <a:r>
              <a:rPr lang="en-US" dirty="0" smtClean="0"/>
              <a:t>SCR= </a:t>
            </a:r>
            <a:r>
              <a:rPr lang="en-US" dirty="0"/>
              <a:t>*/</a:t>
            </a:r>
          </a:p>
          <a:p>
            <a:r>
              <a:rPr lang="en-US" dirty="0"/>
              <a:t>       SSI2_CC_R = 0;           /* use system clock */</a:t>
            </a:r>
          </a:p>
          <a:p>
            <a:r>
              <a:rPr lang="en-US" dirty="0"/>
              <a:t>       SSI2_CPSR_R = 0x20;         /* </a:t>
            </a:r>
            <a:r>
              <a:rPr lang="en-US" u="sng" dirty="0" err="1"/>
              <a:t>prescaler</a:t>
            </a:r>
            <a:r>
              <a:rPr lang="en-US" u="sng" dirty="0"/>
              <a:t> divided by 0x20 */</a:t>
            </a:r>
          </a:p>
          <a:p>
            <a:endParaRPr lang="en-US" dirty="0"/>
          </a:p>
          <a:p>
            <a:r>
              <a:rPr lang="en-US" dirty="0"/>
              <a:t>       SSI2_CR1_R |= 2;         /* enable SSI2 */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2509" y="2518477"/>
            <a:ext cx="3075709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Initialization of SSI2 (master) 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9629" y="4671753"/>
            <a:ext cx="354122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Alternate function of a pin can be checked from the pdf document placed on </a:t>
            </a:r>
            <a:r>
              <a:rPr lang="en-US" dirty="0" err="1" smtClean="0"/>
              <a:t>xeon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Pins Alternate functions </a:t>
            </a:r>
            <a:r>
              <a:rPr lang="en-US" dirty="0" smtClean="0">
                <a:solidFill>
                  <a:srgbClr val="FF0000"/>
                </a:solidFill>
              </a:rPr>
              <a:t>.pdf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5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112058" y="2056401"/>
            <a:ext cx="6236337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void SSI2Write(unsigned char data)</a:t>
            </a:r>
          </a:p>
          <a:p>
            <a:r>
              <a:rPr lang="en-US" dirty="0"/>
              <a:t>{</a:t>
            </a:r>
          </a:p>
          <a:p>
            <a:r>
              <a:rPr lang="en-US" dirty="0" smtClean="0"/>
              <a:t>    </a:t>
            </a:r>
            <a:r>
              <a:rPr lang="en-US" dirty="0"/>
              <a:t>GPIO_PORTB_DATA_R &amp;= ~0x20;       /* assert SS low */</a:t>
            </a:r>
          </a:p>
          <a:p>
            <a:r>
              <a:rPr lang="en-US" dirty="0" smtClean="0"/>
              <a:t>	SSI2_DR_R </a:t>
            </a:r>
            <a:r>
              <a:rPr lang="en-US" dirty="0"/>
              <a:t>= data;            /* transmit high byte */</a:t>
            </a:r>
          </a:p>
          <a:p>
            <a:r>
              <a:rPr lang="en-US" dirty="0"/>
              <a:t>    while(SSI2_SR_R &amp; 0x10);     /* wait until transmit complete */</a:t>
            </a:r>
          </a:p>
          <a:p>
            <a:r>
              <a:rPr lang="en-US" dirty="0"/>
              <a:t>    GPIO_PORTB_DATA_R |= 0x20;        /* keep SS idle high */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7811" y="881149"/>
            <a:ext cx="8379229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Transmitting data by master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8403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95888" y="240930"/>
            <a:ext cx="7207135" cy="61863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void init_SSI2(void)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SYSCTL_RCGCSSI_R |= 4;       /* enable clock to SSI2 */</a:t>
            </a:r>
          </a:p>
          <a:p>
            <a:r>
              <a:rPr lang="en-US" dirty="0"/>
              <a:t>       SYSCTL_RCGCGPIO_R |= 2;      /* enable clock to GPIOB for SSI2 */</a:t>
            </a:r>
          </a:p>
          <a:p>
            <a:r>
              <a:rPr lang="en-US" dirty="0"/>
              <a:t>       </a:t>
            </a:r>
            <a:r>
              <a:rPr lang="en-US" b="1" dirty="0"/>
              <a:t>while((SYSCTL_PRGPIO_R&amp;0x0002) == 0){};// ready?</a:t>
            </a:r>
          </a:p>
          <a:p>
            <a:r>
              <a:rPr lang="en-US" dirty="0"/>
              <a:t>       /* configure PORTB 4,5,6*/</a:t>
            </a:r>
          </a:p>
          <a:p>
            <a:r>
              <a:rPr lang="en-US" dirty="0"/>
              <a:t>       GPIO_PORTB_AMSEL_R &amp;= ~0x70;      /* disable analog for these pins */</a:t>
            </a:r>
          </a:p>
          <a:p>
            <a:r>
              <a:rPr lang="en-US" dirty="0"/>
              <a:t>       GPIO_PORTB_DEN_R |= 0x70;         /* and make them digital */</a:t>
            </a:r>
          </a:p>
          <a:p>
            <a:r>
              <a:rPr lang="en-US" dirty="0"/>
              <a:t>       GPIO_PORTB_DIR_R |= 0x00;         /* and make them digital */</a:t>
            </a:r>
          </a:p>
          <a:p>
            <a:r>
              <a:rPr lang="en-US" dirty="0"/>
              <a:t>       GPIO_PORTB_AFSEL_R |= 0x70;       /* enable alternate function */</a:t>
            </a:r>
          </a:p>
          <a:p>
            <a:r>
              <a:rPr lang="en-US" dirty="0"/>
              <a:t>       GPIO_PORTB_PCTL_R |= 0x02220000;/* assign pins to SSI2 */</a:t>
            </a:r>
          </a:p>
          <a:p>
            <a:endParaRPr lang="en-US" dirty="0"/>
          </a:p>
          <a:p>
            <a:r>
              <a:rPr lang="en-US" dirty="0"/>
              <a:t>       /* SPI Master, SPO = 0, SPH = 0, clock = 16 MHz, 8 bit data */</a:t>
            </a:r>
          </a:p>
          <a:p>
            <a:r>
              <a:rPr lang="en-US" dirty="0"/>
              <a:t>          SSI2_CR1_R = 0x04;          /* disable SSI and make it slave */</a:t>
            </a:r>
          </a:p>
          <a:p>
            <a:r>
              <a:rPr lang="en-US" dirty="0"/>
              <a:t>          SSI2_CR0_R = 0x00003307;     /* 9600 SSI clock, SPI mode, 8 bit data</a:t>
            </a:r>
            <a:r>
              <a:rPr lang="en-US"/>
              <a:t>, </a:t>
            </a:r>
            <a:r>
              <a:rPr lang="en-US" smtClean="0"/>
              <a:t>SCR=0x33 </a:t>
            </a:r>
            <a:r>
              <a:rPr lang="en-US" dirty="0"/>
              <a:t>*/</a:t>
            </a:r>
          </a:p>
          <a:p>
            <a:r>
              <a:rPr lang="en-US" dirty="0"/>
              <a:t>          SSI2_CC_R = 0;           /* use system clock */</a:t>
            </a:r>
          </a:p>
          <a:p>
            <a:r>
              <a:rPr lang="en-US" dirty="0"/>
              <a:t>          SSI2_CPSR_R = 0x20;         /* </a:t>
            </a:r>
            <a:r>
              <a:rPr lang="en-US" u="sng" dirty="0" err="1"/>
              <a:t>prescaler</a:t>
            </a:r>
            <a:r>
              <a:rPr lang="en-US" u="sng" dirty="0"/>
              <a:t> divided by 0x20 */</a:t>
            </a:r>
          </a:p>
          <a:p>
            <a:endParaRPr lang="en-US" dirty="0"/>
          </a:p>
          <a:p>
            <a:r>
              <a:rPr lang="en-US" dirty="0"/>
              <a:t>          SSI2_CR1_R |= 2;         /* enable SSI1 */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09" y="2518477"/>
            <a:ext cx="3075709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Initialization of SSI2 (Slave) </a:t>
            </a:r>
            <a:endParaRPr 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9629" y="4671753"/>
            <a:ext cx="354122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Alternate function of a pin can be checked from the pdf document placed on </a:t>
            </a:r>
            <a:r>
              <a:rPr lang="en-US" dirty="0" err="1" smtClean="0"/>
              <a:t>xeon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Pins Alternate functions </a:t>
            </a:r>
            <a:r>
              <a:rPr lang="en-US" dirty="0" smtClean="0">
                <a:solidFill>
                  <a:srgbClr val="FF0000"/>
                </a:solidFill>
              </a:rPr>
              <a:t>.pdf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2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112058" y="2056401"/>
            <a:ext cx="6236337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char SSI2Read()</a:t>
            </a:r>
          </a:p>
          <a:p>
            <a:r>
              <a:rPr lang="en-US" dirty="0"/>
              <a:t>{</a:t>
            </a:r>
          </a:p>
          <a:p>
            <a:r>
              <a:rPr lang="en-US" b="1" dirty="0"/>
              <a:t>char data;</a:t>
            </a:r>
          </a:p>
          <a:p>
            <a:r>
              <a:rPr lang="en-US" b="1" dirty="0" smtClean="0"/>
              <a:t>while(SSI2_SR_R </a:t>
            </a:r>
            <a:r>
              <a:rPr lang="en-US" b="1" dirty="0"/>
              <a:t>&amp; 0x10);</a:t>
            </a:r>
          </a:p>
          <a:p>
            <a:r>
              <a:rPr lang="en-US" dirty="0"/>
              <a:t>    data = SSI2_DR_R ;</a:t>
            </a:r>
          </a:p>
          <a:p>
            <a:r>
              <a:rPr lang="en-US" b="1" dirty="0"/>
              <a:t>return data;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7811" y="881149"/>
            <a:ext cx="8379229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Receiving  data by slave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38684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GLCD on </a:t>
            </a:r>
            <a:r>
              <a:rPr lang="en-US" dirty="0" err="1" smtClean="0"/>
              <a:t>boosterpack</a:t>
            </a:r>
            <a:r>
              <a:rPr lang="en-US" dirty="0" smtClean="0"/>
              <a:t> is interfaced using SSI </a:t>
            </a:r>
          </a:p>
          <a:p>
            <a:r>
              <a:rPr lang="en-US" dirty="0" smtClean="0"/>
              <a:t>DAC chip uses SSI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6C21-E150-4397-8C19-7B7D96984F6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3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3000</TotalTime>
  <Words>1104</Words>
  <Application>Microsoft Office PowerPoint</Application>
  <PresentationFormat>Widescreen</PresentationFormat>
  <Paragraphs>271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ArialMT</vt:lpstr>
      <vt:lpstr>Calibri</vt:lpstr>
      <vt:lpstr>Corbel</vt:lpstr>
      <vt:lpstr>Courier</vt:lpstr>
      <vt:lpstr>Parallax</vt:lpstr>
      <vt:lpstr>Serial and Parallel Port interfacing</vt:lpstr>
      <vt:lpstr>Synchronous Serial Interface (SSI)</vt:lpstr>
      <vt:lpstr>Difference between UART and SSI</vt:lpstr>
      <vt:lpstr>SPI Bus vs. Traditional Parallel Bus Connection to Microcontroller</vt:lpstr>
      <vt:lpstr>SPI Architecture</vt:lpstr>
      <vt:lpstr>SPI architecture of TM4C</vt:lpstr>
      <vt:lpstr>GPIO Pin Assignment for all 4 SSI Modules</vt:lpstr>
      <vt:lpstr>SSI Module Base Address</vt:lpstr>
      <vt:lpstr>SSI clock frequency</vt:lpstr>
      <vt:lpstr>Example</vt:lpstr>
      <vt:lpstr>SPI Clock Polarity and phase</vt:lpstr>
      <vt:lpstr>Steps to configure SSI Module</vt:lpstr>
      <vt:lpstr>Enable clock of SSI  RCGCSSI</vt:lpstr>
      <vt:lpstr>Control Register 0 (SSICR0)</vt:lpstr>
      <vt:lpstr>Setting Bit Rate</vt:lpstr>
      <vt:lpstr>SSI Control Register 1 (SSICR1)</vt:lpstr>
      <vt:lpstr>Data register (SSIDR)</vt:lpstr>
      <vt:lpstr>Status Flag Register (SSISR)</vt:lpstr>
      <vt:lpstr>Example Code </vt:lpstr>
      <vt:lpstr>PowerPoint Presentation</vt:lpstr>
      <vt:lpstr>PowerPoint Presentation</vt:lpstr>
      <vt:lpstr>PowerPoint Presentation</vt:lpstr>
      <vt:lpstr>PowerPoint Presentation</vt:lpstr>
      <vt:lpstr>Other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Misagh.s</dc:creator>
  <cp:lastModifiedBy>Ayesha Javed</cp:lastModifiedBy>
  <cp:revision>493</cp:revision>
  <dcterms:created xsi:type="dcterms:W3CDTF">2016-04-05T15:14:57Z</dcterms:created>
  <dcterms:modified xsi:type="dcterms:W3CDTF">2018-12-30T15:12:14Z</dcterms:modified>
</cp:coreProperties>
</file>