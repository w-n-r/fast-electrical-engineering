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70" r:id="rId4"/>
    <p:sldId id="271" r:id="rId5"/>
    <p:sldId id="258" r:id="rId6"/>
    <p:sldId id="260" r:id="rId7"/>
    <p:sldId id="261" r:id="rId8"/>
    <p:sldId id="269" r:id="rId9"/>
    <p:sldId id="263" r:id="rId10"/>
    <p:sldId id="264" r:id="rId11"/>
    <p:sldId id="265" r:id="rId12"/>
    <p:sldId id="267" r:id="rId13"/>
    <p:sldId id="268" r:id="rId14"/>
    <p:sldId id="275"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7" autoAdjust="0"/>
    <p:restoredTop sz="84183" autoAdjust="0"/>
  </p:normalViewPr>
  <p:slideViewPr>
    <p:cSldViewPr snapToGrid="0">
      <p:cViewPr varScale="1">
        <p:scale>
          <a:sx n="69" d="100"/>
          <a:sy n="69" d="100"/>
        </p:scale>
        <p:origin x="1003"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4061C6-AA7B-4CBA-9DFF-B8F7CCC1CC64}" type="datetimeFigureOut">
              <a:rPr lang="en-US" smtClean="0"/>
              <a:pPr/>
              <a:t>2/11/2025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B2B287-E767-4227-AEC0-5B5A82A1E1F9}" type="slidenum">
              <a:rPr lang="en-US" smtClean="0"/>
              <a:pPr/>
              <a:t>‹#›</a:t>
            </a:fld>
            <a:endParaRPr lang="en-US"/>
          </a:p>
        </p:txBody>
      </p:sp>
    </p:spTree>
    <p:extLst>
      <p:ext uri="{BB962C8B-B14F-4D97-AF65-F5344CB8AC3E}">
        <p14:creationId xmlns:p14="http://schemas.microsoft.com/office/powerpoint/2010/main" val="400152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B2B287-E767-4227-AEC0-5B5A82A1E1F9}" type="slidenum">
              <a:rPr lang="en-US" smtClean="0"/>
              <a:pPr/>
              <a:t>2</a:t>
            </a:fld>
            <a:endParaRPr lang="en-US"/>
          </a:p>
        </p:txBody>
      </p:sp>
    </p:spTree>
    <p:extLst>
      <p:ext uri="{BB962C8B-B14F-4D97-AF65-F5344CB8AC3E}">
        <p14:creationId xmlns:p14="http://schemas.microsoft.com/office/powerpoint/2010/main" val="2138565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Some examples include musical clips from CDs and iTunes, recorded clips from conversations, interviews, famous speeches, and recordings of nature sounds like bird calls and whale songs.</a:t>
            </a:r>
          </a:p>
          <a:p>
            <a:pPr marL="228600" indent="-228600">
              <a:buFont typeface="+mj-lt"/>
              <a:buAutoNum type="arabicPeriod"/>
            </a:pPr>
            <a:r>
              <a:rPr lang="en-US" dirty="0"/>
              <a:t>Examples of visual aids include actual objects, models, photographs, drawings and diagrams, maps, charts, and graphs</a:t>
            </a:r>
          </a:p>
          <a:p>
            <a:pPr marL="228600" indent="-228600">
              <a:buFont typeface="+mj-lt"/>
              <a:buAutoNum type="arabicPeriod"/>
            </a:pPr>
            <a:r>
              <a:rPr lang="en-US" dirty="0"/>
              <a:t>Examples of audiovisual aids include clips from movies and television, YouTube videos, and podcasts, as well as other events or observations captured on video.</a:t>
            </a:r>
          </a:p>
          <a:p>
            <a:pPr marL="228600" indent="-228600">
              <a:buFont typeface="+mj-lt"/>
              <a:buAutoNum type="arabicPeriod"/>
            </a:pPr>
            <a:r>
              <a:rPr lang="en-US" dirty="0"/>
              <a:t>For example, a speaker can enhance the verbal description of the fragrance of a particular perfume by allowing audience members to smell it and the flavor of a particular entrée by allowing audience members to taste it.</a:t>
            </a:r>
          </a:p>
        </p:txBody>
      </p:sp>
      <p:sp>
        <p:nvSpPr>
          <p:cNvPr id="4" name="Slide Number Placeholder 3"/>
          <p:cNvSpPr>
            <a:spLocks noGrp="1"/>
          </p:cNvSpPr>
          <p:nvPr>
            <p:ph type="sldNum" sz="quarter" idx="10"/>
          </p:nvPr>
        </p:nvSpPr>
        <p:spPr/>
        <p:txBody>
          <a:bodyPr/>
          <a:lstStyle/>
          <a:p>
            <a:fld id="{B3B2B287-E767-4227-AEC0-5B5A82A1E1F9}" type="slidenum">
              <a:rPr lang="en-US" smtClean="0"/>
              <a:pPr/>
              <a:t>5</a:t>
            </a:fld>
            <a:endParaRPr lang="en-US"/>
          </a:p>
        </p:txBody>
      </p:sp>
    </p:spTree>
    <p:extLst>
      <p:ext uri="{BB962C8B-B14F-4D97-AF65-F5344CB8AC3E}">
        <p14:creationId xmlns:p14="http://schemas.microsoft.com/office/powerpoint/2010/main" val="3437019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aids enhance the verbal message by allowing </a:t>
            </a:r>
            <a:r>
              <a:rPr lang="en-US" dirty="0" err="1"/>
              <a:t>audiences</a:t>
            </a:r>
            <a:r>
              <a:rPr lang="en-US" dirty="0"/>
              <a:t> to see what it is you are describing or explaining. They include actual objects and models, photographs, drawings and diagrams, maps, charts, and graphs.</a:t>
            </a:r>
          </a:p>
          <a:p>
            <a:r>
              <a:rPr lang="en-US" dirty="0"/>
              <a:t>Audiovisual aids enhance a verbal message using a combination of sight and sound. </a:t>
            </a:r>
          </a:p>
          <a:p>
            <a:r>
              <a:rPr lang="en-US" dirty="0"/>
              <a:t>Depending on your topic, other sensory aids that appeal to smell, touch, or taste may </a:t>
            </a:r>
            <a:r>
              <a:rPr lang="en-US" dirty="0" err="1"/>
              <a:t>effectively</a:t>
            </a:r>
            <a:r>
              <a:rPr lang="en-US" dirty="0"/>
              <a:t> enhance your speech (Photo 13.3). For example, a speech about making perfume</a:t>
            </a:r>
          </a:p>
          <a:p>
            <a:endParaRPr lang="en-US" dirty="0"/>
          </a:p>
        </p:txBody>
      </p:sp>
      <p:sp>
        <p:nvSpPr>
          <p:cNvPr id="4" name="Slide Number Placeholder 3"/>
          <p:cNvSpPr>
            <a:spLocks noGrp="1"/>
          </p:cNvSpPr>
          <p:nvPr>
            <p:ph type="sldNum" sz="quarter" idx="10"/>
          </p:nvPr>
        </p:nvSpPr>
        <p:spPr/>
        <p:txBody>
          <a:bodyPr/>
          <a:lstStyle/>
          <a:p>
            <a:fld id="{B3B2B287-E767-4227-AEC0-5B5A82A1E1F9}" type="slidenum">
              <a:rPr lang="en-US" smtClean="0"/>
              <a:pPr/>
              <a:t>6</a:t>
            </a:fld>
            <a:endParaRPr lang="en-US"/>
          </a:p>
        </p:txBody>
      </p:sp>
    </p:spTree>
    <p:extLst>
      <p:ext uri="{BB962C8B-B14F-4D97-AF65-F5344CB8AC3E}">
        <p14:creationId xmlns:p14="http://schemas.microsoft.com/office/powerpoint/2010/main" val="122511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B2B287-E767-4227-AEC0-5B5A82A1E1F9}" type="slidenum">
              <a:rPr lang="en-US" smtClean="0"/>
              <a:pPr/>
              <a:t>7</a:t>
            </a:fld>
            <a:endParaRPr lang="en-US"/>
          </a:p>
        </p:txBody>
      </p:sp>
    </p:spTree>
    <p:extLst>
      <p:ext uri="{BB962C8B-B14F-4D97-AF65-F5344CB8AC3E}">
        <p14:creationId xmlns:p14="http://schemas.microsoft.com/office/powerpoint/2010/main" val="47448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appropriately means highlighting the relevance of your topic, establishing common ground and speaker credibility, demonstrating linguistic sensitivity, and adapting to cultural diversity.</a:t>
            </a:r>
          </a:p>
          <a:p>
            <a:r>
              <a:rPr lang="en-US" dirty="0"/>
              <a:t>Psychologically, we pay more attention to information that is related to our “territory”—to our family, our neighborhood, or our city, state, or country. You have probably heard speakers say something like this: “Let me bring this closer to home by showing you . . .” </a:t>
            </a:r>
          </a:p>
        </p:txBody>
      </p:sp>
      <p:sp>
        <p:nvSpPr>
          <p:cNvPr id="4" name="Slide Number Placeholder 3"/>
          <p:cNvSpPr>
            <a:spLocks noGrp="1"/>
          </p:cNvSpPr>
          <p:nvPr>
            <p:ph type="sldNum" sz="quarter" idx="10"/>
          </p:nvPr>
        </p:nvSpPr>
        <p:spPr/>
        <p:txBody>
          <a:bodyPr/>
          <a:lstStyle/>
          <a:p>
            <a:fld id="{B3B2B287-E767-4227-AEC0-5B5A82A1E1F9}" type="slidenum">
              <a:rPr lang="en-US" smtClean="0"/>
              <a:pPr/>
              <a:t>10</a:t>
            </a:fld>
            <a:endParaRPr lang="en-US"/>
          </a:p>
        </p:txBody>
      </p:sp>
    </p:spTree>
    <p:extLst>
      <p:ext uri="{BB962C8B-B14F-4D97-AF65-F5344CB8AC3E}">
        <p14:creationId xmlns:p14="http://schemas.microsoft.com/office/powerpoint/2010/main" val="2206918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B2B287-E767-4227-AEC0-5B5A82A1E1F9}" type="slidenum">
              <a:rPr lang="en-US" smtClean="0"/>
              <a:pPr/>
              <a:t>11</a:t>
            </a:fld>
            <a:endParaRPr lang="en-US"/>
          </a:p>
        </p:txBody>
      </p:sp>
    </p:spTree>
    <p:extLst>
      <p:ext uri="{BB962C8B-B14F-4D97-AF65-F5344CB8AC3E}">
        <p14:creationId xmlns:p14="http://schemas.microsoft.com/office/powerpoint/2010/main" val="1465421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guideline of familiarity, you might select house, apartment, high-rise, or skyscraper, but you would avoid edifice. Each of the other choices is more precise or more specific, but edifice is neither more precise nor more specific, and in addition to being less commonly understood, it will be perceived as affected or stilted</a:t>
            </a:r>
          </a:p>
        </p:txBody>
      </p:sp>
      <p:sp>
        <p:nvSpPr>
          <p:cNvPr id="4" name="Slide Number Placeholder 3"/>
          <p:cNvSpPr>
            <a:spLocks noGrp="1"/>
          </p:cNvSpPr>
          <p:nvPr>
            <p:ph type="sldNum" sz="quarter" idx="10"/>
          </p:nvPr>
        </p:nvSpPr>
        <p:spPr/>
        <p:txBody>
          <a:bodyPr/>
          <a:lstStyle/>
          <a:p>
            <a:fld id="{B3B2B287-E767-4227-AEC0-5B5A82A1E1F9}" type="slidenum">
              <a:rPr lang="en-US" smtClean="0"/>
              <a:pPr/>
              <a:t>12</a:t>
            </a:fld>
            <a:endParaRPr lang="en-US"/>
          </a:p>
        </p:txBody>
      </p:sp>
    </p:spTree>
    <p:extLst>
      <p:ext uri="{BB962C8B-B14F-4D97-AF65-F5344CB8AC3E}">
        <p14:creationId xmlns:p14="http://schemas.microsoft.com/office/powerpoint/2010/main" val="2942313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B2B287-E767-4227-AEC0-5B5A82A1E1F9}" type="slidenum">
              <a:rPr lang="en-US" smtClean="0"/>
              <a:pPr/>
              <a:t>15</a:t>
            </a:fld>
            <a:endParaRPr lang="en-US"/>
          </a:p>
        </p:txBody>
      </p:sp>
    </p:spTree>
    <p:extLst>
      <p:ext uri="{BB962C8B-B14F-4D97-AF65-F5344CB8AC3E}">
        <p14:creationId xmlns:p14="http://schemas.microsoft.com/office/powerpoint/2010/main" val="2658717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C3174A0-86A4-4211-9473-7C565BF45F68}"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AD971-DCA8-489E-893D-718051816251}" type="slidenum">
              <a:rPr lang="en-US" smtClean="0"/>
              <a:pPr/>
              <a:t>‹#›</a:t>
            </a:fld>
            <a:endParaRPr lang="en-US"/>
          </a:p>
        </p:txBody>
      </p:sp>
    </p:spTree>
    <p:extLst>
      <p:ext uri="{BB962C8B-B14F-4D97-AF65-F5344CB8AC3E}">
        <p14:creationId xmlns:p14="http://schemas.microsoft.com/office/powerpoint/2010/main" val="829684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3174A0-86A4-4211-9473-7C565BF45F68}"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AD971-DCA8-489E-893D-718051816251}" type="slidenum">
              <a:rPr lang="en-US" smtClean="0"/>
              <a:pPr/>
              <a:t>‹#›</a:t>
            </a:fld>
            <a:endParaRPr lang="en-US"/>
          </a:p>
        </p:txBody>
      </p:sp>
    </p:spTree>
    <p:extLst>
      <p:ext uri="{BB962C8B-B14F-4D97-AF65-F5344CB8AC3E}">
        <p14:creationId xmlns:p14="http://schemas.microsoft.com/office/powerpoint/2010/main" val="3490029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C3174A0-86A4-4211-9473-7C565BF45F68}"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AD971-DCA8-489E-893D-718051816251}" type="slidenum">
              <a:rPr lang="en-US" smtClean="0"/>
              <a:pPr/>
              <a:t>‹#›</a:t>
            </a:fld>
            <a:endParaRPr lang="en-US"/>
          </a:p>
        </p:txBody>
      </p:sp>
    </p:spTree>
    <p:extLst>
      <p:ext uri="{BB962C8B-B14F-4D97-AF65-F5344CB8AC3E}">
        <p14:creationId xmlns:p14="http://schemas.microsoft.com/office/powerpoint/2010/main" val="1658542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C3174A0-86A4-4211-9473-7C565BF45F68}" type="datetimeFigureOut">
              <a:rPr lang="en-US" smtClean="0"/>
              <a:pPr/>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AD971-DCA8-489E-893D-718051816251}" type="slidenum">
              <a:rPr lang="en-US" smtClean="0"/>
              <a:pPr/>
              <a:t>‹#›</a:t>
            </a:fld>
            <a:endParaRPr lang="en-US"/>
          </a:p>
        </p:txBody>
      </p:sp>
    </p:spTree>
    <p:extLst>
      <p:ext uri="{BB962C8B-B14F-4D97-AF65-F5344CB8AC3E}">
        <p14:creationId xmlns:p14="http://schemas.microsoft.com/office/powerpoint/2010/main" val="2758220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C3174A0-86A4-4211-9473-7C565BF45F68}" type="datetimeFigureOut">
              <a:rPr lang="en-US" smtClean="0"/>
              <a:pPr/>
              <a:t>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1AD971-DCA8-489E-893D-718051816251}" type="slidenum">
              <a:rPr lang="en-US" smtClean="0"/>
              <a:pPr/>
              <a:t>‹#›</a:t>
            </a:fld>
            <a:endParaRPr lang="en-US"/>
          </a:p>
        </p:txBody>
      </p:sp>
    </p:spTree>
    <p:extLst>
      <p:ext uri="{BB962C8B-B14F-4D97-AF65-F5344CB8AC3E}">
        <p14:creationId xmlns:p14="http://schemas.microsoft.com/office/powerpoint/2010/main" val="907628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C3174A0-86A4-4211-9473-7C565BF45F68}" type="datetimeFigureOut">
              <a:rPr lang="en-US" smtClean="0"/>
              <a:pPr/>
              <a:t>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1AD971-DCA8-489E-893D-718051816251}" type="slidenum">
              <a:rPr lang="en-US" smtClean="0"/>
              <a:pPr/>
              <a:t>‹#›</a:t>
            </a:fld>
            <a:endParaRPr lang="en-US"/>
          </a:p>
        </p:txBody>
      </p:sp>
    </p:spTree>
    <p:extLst>
      <p:ext uri="{BB962C8B-B14F-4D97-AF65-F5344CB8AC3E}">
        <p14:creationId xmlns:p14="http://schemas.microsoft.com/office/powerpoint/2010/main" val="2607150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3174A0-86A4-4211-9473-7C565BF45F68}" type="datetimeFigureOut">
              <a:rPr lang="en-US" smtClean="0"/>
              <a:pPr/>
              <a:t>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1AD971-DCA8-489E-893D-718051816251}" type="slidenum">
              <a:rPr lang="en-US" smtClean="0"/>
              <a:pPr/>
              <a:t>‹#›</a:t>
            </a:fld>
            <a:endParaRPr lang="en-US"/>
          </a:p>
        </p:txBody>
      </p:sp>
    </p:spTree>
    <p:extLst>
      <p:ext uri="{BB962C8B-B14F-4D97-AF65-F5344CB8AC3E}">
        <p14:creationId xmlns:p14="http://schemas.microsoft.com/office/powerpoint/2010/main" val="1188711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C3174A0-86A4-4211-9473-7C565BF45F68}" type="datetimeFigureOut">
              <a:rPr lang="en-US" smtClean="0"/>
              <a:pPr/>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AD971-DCA8-489E-893D-718051816251}" type="slidenum">
              <a:rPr lang="en-US" smtClean="0"/>
              <a:pPr/>
              <a:t>‹#›</a:t>
            </a:fld>
            <a:endParaRPr lang="en-US"/>
          </a:p>
        </p:txBody>
      </p:sp>
    </p:spTree>
    <p:extLst>
      <p:ext uri="{BB962C8B-B14F-4D97-AF65-F5344CB8AC3E}">
        <p14:creationId xmlns:p14="http://schemas.microsoft.com/office/powerpoint/2010/main" val="3360305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C3174A0-86A4-4211-9473-7C565BF45F68}" type="datetimeFigureOut">
              <a:rPr lang="en-US" smtClean="0"/>
              <a:pPr/>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AD971-DCA8-489E-893D-718051816251}" type="slidenum">
              <a:rPr lang="en-US" smtClean="0"/>
              <a:pPr/>
              <a:t>‹#›</a:t>
            </a:fld>
            <a:endParaRPr lang="en-US"/>
          </a:p>
        </p:txBody>
      </p:sp>
    </p:spTree>
    <p:extLst>
      <p:ext uri="{BB962C8B-B14F-4D97-AF65-F5344CB8AC3E}">
        <p14:creationId xmlns:p14="http://schemas.microsoft.com/office/powerpoint/2010/main" val="109802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3174A0-86A4-4211-9473-7C565BF45F68}"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AD971-DCA8-489E-893D-718051816251}" type="slidenum">
              <a:rPr lang="en-US" smtClean="0"/>
              <a:pPr/>
              <a:t>‹#›</a:t>
            </a:fld>
            <a:endParaRPr lang="en-US"/>
          </a:p>
        </p:txBody>
      </p:sp>
    </p:spTree>
    <p:extLst>
      <p:ext uri="{BB962C8B-B14F-4D97-AF65-F5344CB8AC3E}">
        <p14:creationId xmlns:p14="http://schemas.microsoft.com/office/powerpoint/2010/main" val="2457863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3174A0-86A4-4211-9473-7C565BF45F68}"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AD971-DCA8-489E-893D-718051816251}" type="slidenum">
              <a:rPr lang="en-US" smtClean="0"/>
              <a:pPr/>
              <a:t>‹#›</a:t>
            </a:fld>
            <a:endParaRPr lang="en-US"/>
          </a:p>
        </p:txBody>
      </p:sp>
    </p:spTree>
    <p:extLst>
      <p:ext uri="{BB962C8B-B14F-4D97-AF65-F5344CB8AC3E}">
        <p14:creationId xmlns:p14="http://schemas.microsoft.com/office/powerpoint/2010/main" val="3830739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3174A0-86A4-4211-9473-7C565BF45F68}" type="datetimeFigureOut">
              <a:rPr lang="en-US" smtClean="0"/>
              <a:pPr/>
              <a:t>2/11/2025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1AD971-DCA8-489E-893D-718051816251}" type="slidenum">
              <a:rPr lang="en-US" smtClean="0"/>
              <a:pPr/>
              <a:t>‹#›</a:t>
            </a:fld>
            <a:endParaRPr lang="en-US"/>
          </a:p>
        </p:txBody>
      </p:sp>
    </p:spTree>
    <p:extLst>
      <p:ext uri="{BB962C8B-B14F-4D97-AF65-F5344CB8AC3E}">
        <p14:creationId xmlns:p14="http://schemas.microsoft.com/office/powerpoint/2010/main" val="41384508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073482" y="3543754"/>
            <a:ext cx="4118517" cy="3314246"/>
          </a:xfrm>
          <a:prstGeom prst="rect">
            <a:avLst/>
          </a:prstGeom>
        </p:spPr>
      </p:pic>
      <p:sp>
        <p:nvSpPr>
          <p:cNvPr id="2" name="Title 1"/>
          <p:cNvSpPr>
            <a:spLocks noGrp="1"/>
          </p:cNvSpPr>
          <p:nvPr>
            <p:ph type="ctrTitle"/>
          </p:nvPr>
        </p:nvSpPr>
        <p:spPr>
          <a:xfrm>
            <a:off x="1549083" y="1141969"/>
            <a:ext cx="9144000" cy="2731954"/>
          </a:xfrm>
        </p:spPr>
        <p:txBody>
          <a:bodyPr>
            <a:normAutofit fontScale="90000"/>
          </a:bodyPr>
          <a:lstStyle/>
          <a:p>
            <a:br>
              <a:rPr lang="en-US" sz="4800" b="1" dirty="0"/>
            </a:br>
            <a:br>
              <a:rPr lang="en-US" sz="4800" b="1" dirty="0"/>
            </a:br>
            <a:br>
              <a:rPr lang="en-US" sz="4800" b="1" dirty="0"/>
            </a:br>
            <a:br>
              <a:rPr lang="en-US" sz="4800" b="1" dirty="0"/>
            </a:br>
            <a:r>
              <a:rPr lang="en-US" sz="4800" b="1" dirty="0"/>
              <a:t>Adapting Verbally and Visually</a:t>
            </a:r>
            <a:br>
              <a:rPr lang="en-US" sz="4800" b="1" dirty="0"/>
            </a:br>
            <a:r>
              <a:rPr lang="en-US" sz="4000" dirty="0"/>
              <a:t>Presentational Aids </a:t>
            </a:r>
            <a:br>
              <a:rPr lang="en-US" sz="4000" dirty="0"/>
            </a:br>
            <a:r>
              <a:rPr lang="en-US" sz="4000" dirty="0"/>
              <a:t>Language &amp; Oral Style</a:t>
            </a:r>
            <a:br>
              <a:rPr lang="en-US" sz="4000" dirty="0"/>
            </a:br>
            <a:br>
              <a:rPr lang="en-US" sz="4000" dirty="0"/>
            </a:br>
            <a:r>
              <a:rPr lang="en-US" sz="3100" dirty="0"/>
              <a:t>Spring 2025</a:t>
            </a:r>
            <a:br>
              <a:rPr lang="en-US" sz="3100" dirty="0"/>
            </a:br>
            <a:r>
              <a:rPr lang="en-US" sz="3100" dirty="0"/>
              <a:t>EE Comm. Skills (SS-2010)</a:t>
            </a:r>
            <a:br>
              <a:rPr lang="en-US" sz="4000" dirty="0"/>
            </a:br>
            <a:r>
              <a:rPr lang="en-US" sz="2700" dirty="0"/>
              <a:t>Week 3.1</a:t>
            </a:r>
            <a:endParaRPr lang="en-US" dirty="0"/>
          </a:p>
        </p:txBody>
      </p:sp>
      <p:sp>
        <p:nvSpPr>
          <p:cNvPr id="3" name="Subtitle 2"/>
          <p:cNvSpPr>
            <a:spLocks noGrp="1"/>
          </p:cNvSpPr>
          <p:nvPr>
            <p:ph type="subTitle" idx="1"/>
          </p:nvPr>
        </p:nvSpPr>
        <p:spPr>
          <a:xfrm>
            <a:off x="1549083" y="4692412"/>
            <a:ext cx="9144000" cy="546100"/>
          </a:xfrm>
        </p:spPr>
        <p:txBody>
          <a:bodyPr>
            <a:normAutofit/>
          </a:bodyPr>
          <a:lstStyle/>
          <a:p>
            <a:r>
              <a:rPr lang="en-US" sz="3200" b="1" dirty="0"/>
              <a:t>Chapter 13 &amp; 14</a:t>
            </a:r>
          </a:p>
        </p:txBody>
      </p:sp>
    </p:spTree>
    <p:extLst>
      <p:ext uri="{BB962C8B-B14F-4D97-AF65-F5344CB8AC3E}">
        <p14:creationId xmlns:p14="http://schemas.microsoft.com/office/powerpoint/2010/main" val="1247841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Overview</a:t>
            </a:r>
          </a:p>
        </p:txBody>
      </p:sp>
      <p:sp>
        <p:nvSpPr>
          <p:cNvPr id="3" name="Content Placeholder 2"/>
          <p:cNvSpPr>
            <a:spLocks noGrp="1"/>
          </p:cNvSpPr>
          <p:nvPr>
            <p:ph idx="1"/>
          </p:nvPr>
        </p:nvSpPr>
        <p:spPr>
          <a:xfrm>
            <a:off x="838200" y="1466850"/>
            <a:ext cx="10515600" cy="5181600"/>
          </a:xfrm>
        </p:spPr>
        <p:txBody>
          <a:bodyPr>
            <a:noAutofit/>
          </a:bodyPr>
          <a:lstStyle/>
          <a:p>
            <a:r>
              <a:rPr lang="en-US" dirty="0"/>
              <a:t>Types of presentational aids </a:t>
            </a:r>
          </a:p>
          <a:p>
            <a:r>
              <a:rPr lang="en-US" dirty="0"/>
              <a:t>Preparing presentational aids </a:t>
            </a:r>
          </a:p>
          <a:p>
            <a:pPr lvl="1"/>
            <a:r>
              <a:rPr lang="en-US" sz="2800" dirty="0"/>
              <a:t>considering the best visual design layout, size, style, graphics, color, simplicity, and format.</a:t>
            </a:r>
          </a:p>
          <a:p>
            <a:r>
              <a:rPr lang="en-US" dirty="0"/>
              <a:t>Present professionally: effective use of presentational aids </a:t>
            </a:r>
          </a:p>
          <a:p>
            <a:r>
              <a:rPr lang="en-US" dirty="0"/>
              <a:t>Explain how oral style differs from written style. </a:t>
            </a:r>
          </a:p>
          <a:p>
            <a:r>
              <a:rPr lang="en-US" dirty="0"/>
              <a:t>Using appropriate language considering four audience variables.</a:t>
            </a:r>
          </a:p>
          <a:p>
            <a:r>
              <a:rPr lang="en-US" dirty="0"/>
              <a:t> Choosing language to accurately convey ideas  using </a:t>
            </a:r>
          </a:p>
          <a:p>
            <a:pPr lvl="1"/>
            <a:r>
              <a:rPr lang="en-US" sz="2800" dirty="0"/>
              <a:t>language and delivery techniques. </a:t>
            </a:r>
          </a:p>
          <a:p>
            <a:pPr lvl="1"/>
            <a:r>
              <a:rPr lang="en-US" sz="2800" dirty="0"/>
              <a:t>Using vivid language </a:t>
            </a:r>
            <a:endParaRPr lang="en-US" sz="2800" b="1" dirty="0"/>
          </a:p>
        </p:txBody>
      </p:sp>
    </p:spTree>
    <p:extLst>
      <p:ext uri="{BB962C8B-B14F-4D97-AF65-F5344CB8AC3E}">
        <p14:creationId xmlns:p14="http://schemas.microsoft.com/office/powerpoint/2010/main" val="2297997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rot="19760970">
            <a:off x="987068" y="627496"/>
            <a:ext cx="5221351" cy="4192176"/>
          </a:xfrm>
          <a:prstGeom prst="rect">
            <a:avLst/>
          </a:prstGeom>
        </p:spPr>
      </p:pic>
      <p:sp>
        <p:nvSpPr>
          <p:cNvPr id="2" name="Title 1"/>
          <p:cNvSpPr>
            <a:spLocks noGrp="1"/>
          </p:cNvSpPr>
          <p:nvPr>
            <p:ph type="title"/>
          </p:nvPr>
        </p:nvSpPr>
        <p:spPr>
          <a:xfrm>
            <a:off x="5981700" y="198438"/>
            <a:ext cx="4953000" cy="1143000"/>
          </a:xfrm>
        </p:spPr>
        <p:txBody>
          <a:bodyPr/>
          <a:lstStyle/>
          <a:p>
            <a:r>
              <a:rPr lang="en-US" b="1" dirty="0"/>
              <a:t>Planning</a:t>
            </a:r>
          </a:p>
        </p:txBody>
      </p:sp>
      <p:sp>
        <p:nvSpPr>
          <p:cNvPr id="3" name="Content Placeholder 2"/>
          <p:cNvSpPr>
            <a:spLocks noGrp="1"/>
          </p:cNvSpPr>
          <p:nvPr>
            <p:ph idx="1"/>
          </p:nvPr>
        </p:nvSpPr>
        <p:spPr>
          <a:xfrm>
            <a:off x="6172200" y="4191000"/>
            <a:ext cx="6019800" cy="2438400"/>
          </a:xfrm>
        </p:spPr>
        <p:txBody>
          <a:bodyPr>
            <a:normAutofit/>
          </a:bodyPr>
          <a:lstStyle/>
          <a:p>
            <a:r>
              <a:rPr lang="en-US" dirty="0"/>
              <a:t>Plan your message</a:t>
            </a:r>
          </a:p>
          <a:p>
            <a:r>
              <a:rPr lang="en-US" dirty="0"/>
              <a:t>Organize your material</a:t>
            </a:r>
          </a:p>
          <a:p>
            <a:r>
              <a:rPr lang="en-US" dirty="0"/>
              <a:t>Design the look of your presentation</a:t>
            </a:r>
          </a:p>
          <a:p>
            <a:r>
              <a:rPr lang="en-US" dirty="0"/>
              <a:t>Create the slides</a:t>
            </a:r>
          </a:p>
        </p:txBody>
      </p:sp>
      <p:sp>
        <p:nvSpPr>
          <p:cNvPr id="5" name="Rectangle 4"/>
          <p:cNvSpPr/>
          <p:nvPr/>
        </p:nvSpPr>
        <p:spPr>
          <a:xfrm>
            <a:off x="6095999" y="1341438"/>
            <a:ext cx="5510645" cy="2246769"/>
          </a:xfrm>
          <a:prstGeom prst="rect">
            <a:avLst/>
          </a:prstGeom>
        </p:spPr>
        <p:txBody>
          <a:bodyPr wrap="square">
            <a:spAutoFit/>
          </a:bodyPr>
          <a:lstStyle/>
          <a:p>
            <a:r>
              <a:rPr lang="en-US" sz="2800" b="1" dirty="0"/>
              <a:t>     Focus on:</a:t>
            </a:r>
          </a:p>
          <a:p>
            <a:pPr marL="514350" indent="-514350">
              <a:buFont typeface="+mj-lt"/>
              <a:buAutoNum type="arabicPeriod"/>
            </a:pPr>
            <a:r>
              <a:rPr lang="en-US" sz="2800" dirty="0"/>
              <a:t>the purpose of your presentation</a:t>
            </a:r>
          </a:p>
          <a:p>
            <a:pPr marL="514350" indent="-514350">
              <a:buFont typeface="+mj-lt"/>
              <a:buAutoNum type="arabicPeriod"/>
            </a:pPr>
            <a:r>
              <a:rPr lang="en-US" sz="2800" dirty="0"/>
              <a:t>Who will be your audience?</a:t>
            </a:r>
          </a:p>
          <a:p>
            <a:pPr marL="514350" indent="-514350">
              <a:buFont typeface="+mj-lt"/>
              <a:buAutoNum type="arabicPeriod"/>
            </a:pPr>
            <a:r>
              <a:rPr lang="en-US" sz="2800" dirty="0"/>
              <a:t>What are you trying to achieve through this presentation?</a:t>
            </a:r>
          </a:p>
        </p:txBody>
      </p:sp>
    </p:spTree>
    <p:extLst>
      <p:ext uri="{BB962C8B-B14F-4D97-AF65-F5344CB8AC3E}">
        <p14:creationId xmlns:p14="http://schemas.microsoft.com/office/powerpoint/2010/main" val="1365598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Sermon “Preparation” Sunday May 14 2017. Trinity Church, Newport RI. The  Reverend Alan Neale | Alan Neal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888966">
            <a:off x="7776972" y="1248424"/>
            <a:ext cx="3920649" cy="184501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817418" y="689264"/>
            <a:ext cx="7124700" cy="5219700"/>
          </a:xfrm>
        </p:spPr>
        <p:txBody>
          <a:bodyPr>
            <a:noAutofit/>
          </a:bodyPr>
          <a:lstStyle/>
          <a:p>
            <a:pPr marL="0" indent="0">
              <a:spcBef>
                <a:spcPts val="0"/>
              </a:spcBef>
              <a:buNone/>
            </a:pPr>
            <a:r>
              <a:rPr lang="en-US" dirty="0">
                <a:solidFill>
                  <a:schemeClr val="accent5">
                    <a:lumMod val="50000"/>
                  </a:schemeClr>
                </a:solidFill>
              </a:rPr>
              <a:t>Fundamental rules:</a:t>
            </a:r>
          </a:p>
          <a:p>
            <a:pPr marL="514350" indent="-514350">
              <a:spcBef>
                <a:spcPts val="0"/>
              </a:spcBef>
              <a:buFont typeface="+mj-lt"/>
              <a:buAutoNum type="arabicPeriod"/>
            </a:pPr>
            <a:r>
              <a:rPr lang="en-US" b="1" dirty="0"/>
              <a:t>Subject of presentation:</a:t>
            </a:r>
          </a:p>
          <a:p>
            <a:pPr marL="857250" lvl="1" indent="-457200">
              <a:spcBef>
                <a:spcPts val="0"/>
              </a:spcBef>
            </a:pPr>
            <a:r>
              <a:rPr lang="en-US" sz="2800" dirty="0"/>
              <a:t>Decide your message </a:t>
            </a:r>
          </a:p>
          <a:p>
            <a:pPr marL="857250" lvl="1" indent="-457200">
              <a:spcBef>
                <a:spcPts val="0"/>
              </a:spcBef>
            </a:pPr>
            <a:r>
              <a:rPr lang="en-US" sz="2800" dirty="0"/>
              <a:t>Be sure of what you want to talk about</a:t>
            </a:r>
          </a:p>
          <a:p>
            <a:pPr marL="514350" indent="-514350">
              <a:spcBef>
                <a:spcPts val="0"/>
              </a:spcBef>
              <a:buFont typeface="+mj-lt"/>
              <a:buAutoNum type="arabicPeriod"/>
            </a:pPr>
            <a:r>
              <a:rPr lang="en-US" b="1" dirty="0"/>
              <a:t>Organize your points logically:</a:t>
            </a:r>
          </a:p>
          <a:p>
            <a:pPr marL="914400" lvl="1" indent="-514350">
              <a:spcBef>
                <a:spcPts val="0"/>
              </a:spcBef>
            </a:pPr>
            <a:r>
              <a:rPr lang="en-US" sz="2800" dirty="0"/>
              <a:t>What to say at the beginning?</a:t>
            </a:r>
          </a:p>
          <a:p>
            <a:pPr marL="914400" lvl="1" indent="-514350">
              <a:spcBef>
                <a:spcPts val="0"/>
              </a:spcBef>
            </a:pPr>
            <a:r>
              <a:rPr lang="en-US" sz="2800" dirty="0"/>
              <a:t>What to include in the middle?</a:t>
            </a:r>
          </a:p>
          <a:p>
            <a:pPr marL="914400" lvl="1" indent="-514350">
              <a:spcBef>
                <a:spcPts val="0"/>
              </a:spcBef>
            </a:pPr>
            <a:r>
              <a:rPr lang="en-US" sz="2800" dirty="0"/>
              <a:t>How to close?</a:t>
            </a:r>
          </a:p>
          <a:p>
            <a:pPr marL="514350" indent="-514350">
              <a:spcBef>
                <a:spcPts val="0"/>
              </a:spcBef>
              <a:buFont typeface="+mj-lt"/>
              <a:buAutoNum type="arabicPeriod"/>
            </a:pPr>
            <a:r>
              <a:rPr lang="en-US" b="1" dirty="0"/>
              <a:t>Keep notes to a minimum:</a:t>
            </a:r>
          </a:p>
          <a:p>
            <a:pPr marL="914400" lvl="1" indent="-514350">
              <a:spcBef>
                <a:spcPts val="0"/>
              </a:spcBef>
            </a:pPr>
            <a:r>
              <a:rPr lang="en-US" sz="2800" dirty="0"/>
              <a:t>If necessary, use Index Cards</a:t>
            </a:r>
          </a:p>
          <a:p>
            <a:pPr marL="1314450" lvl="2" indent="-514350">
              <a:spcBef>
                <a:spcPts val="0"/>
              </a:spcBef>
            </a:pPr>
            <a:r>
              <a:rPr lang="en-US" sz="2800" dirty="0"/>
              <a:t>Jot down the main points</a:t>
            </a:r>
          </a:p>
        </p:txBody>
      </p:sp>
    </p:spTree>
    <p:extLst>
      <p:ext uri="{BB962C8B-B14F-4D97-AF65-F5344CB8AC3E}">
        <p14:creationId xmlns:p14="http://schemas.microsoft.com/office/powerpoint/2010/main" val="2858664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0825"/>
            <a:ext cx="10515600" cy="568325"/>
          </a:xfrm>
        </p:spPr>
        <p:txBody>
          <a:bodyPr>
            <a:normAutofit fontScale="90000"/>
          </a:bodyPr>
          <a:lstStyle/>
          <a:p>
            <a:r>
              <a:rPr lang="en-US" b="1" dirty="0"/>
              <a:t>Presentational aids </a:t>
            </a:r>
          </a:p>
        </p:txBody>
      </p:sp>
      <p:sp>
        <p:nvSpPr>
          <p:cNvPr id="3" name="Content Placeholder 2"/>
          <p:cNvSpPr>
            <a:spLocks noGrp="1"/>
          </p:cNvSpPr>
          <p:nvPr>
            <p:ph idx="1"/>
          </p:nvPr>
        </p:nvSpPr>
        <p:spPr>
          <a:xfrm>
            <a:off x="458932" y="819150"/>
            <a:ext cx="12211050" cy="5791200"/>
          </a:xfrm>
        </p:spPr>
        <p:txBody>
          <a:bodyPr>
            <a:noAutofit/>
          </a:bodyPr>
          <a:lstStyle/>
          <a:p>
            <a:pPr marL="0" indent="0">
              <a:lnSpc>
                <a:spcPct val="100000"/>
              </a:lnSpc>
              <a:spcBef>
                <a:spcPts val="0"/>
              </a:spcBef>
              <a:buNone/>
            </a:pPr>
            <a:r>
              <a:rPr lang="en-US" sz="2400" b="1" dirty="0">
                <a:solidFill>
                  <a:schemeClr val="accent5">
                    <a:lumMod val="50000"/>
                  </a:schemeClr>
                </a:solidFill>
              </a:rPr>
              <a:t>Any visual, audio, audiovisual, or other sensory material used to enhance verbal message </a:t>
            </a:r>
          </a:p>
          <a:p>
            <a:pPr marL="514350" indent="-514350">
              <a:lnSpc>
                <a:spcPct val="100000"/>
              </a:lnSpc>
              <a:spcBef>
                <a:spcPts val="0"/>
              </a:spcBef>
              <a:buFont typeface="+mj-lt"/>
              <a:buAutoNum type="arabicPeriod"/>
            </a:pPr>
            <a:r>
              <a:rPr lang="en-US" sz="2400" b="1" dirty="0"/>
              <a:t>visual aids </a:t>
            </a:r>
          </a:p>
          <a:p>
            <a:pPr lvl="1">
              <a:lnSpc>
                <a:spcPct val="100000"/>
              </a:lnSpc>
              <a:spcBef>
                <a:spcPts val="0"/>
              </a:spcBef>
            </a:pPr>
            <a:r>
              <a:rPr lang="en-US" dirty="0"/>
              <a:t>enhance a speech by allowing audience members to see what it is you are describing or explaining </a:t>
            </a:r>
          </a:p>
          <a:p>
            <a:pPr marL="514350" indent="-514350">
              <a:lnSpc>
                <a:spcPct val="100000"/>
              </a:lnSpc>
              <a:spcBef>
                <a:spcPts val="0"/>
              </a:spcBef>
              <a:buFont typeface="+mj-lt"/>
              <a:buAutoNum type="arabicPeriod"/>
            </a:pPr>
            <a:r>
              <a:rPr lang="en-US" sz="2400" b="1" dirty="0"/>
              <a:t>audio aids</a:t>
            </a:r>
            <a:r>
              <a:rPr lang="en-US" sz="2400" dirty="0"/>
              <a:t> </a:t>
            </a:r>
          </a:p>
          <a:p>
            <a:pPr lvl="1">
              <a:lnSpc>
                <a:spcPct val="100000"/>
              </a:lnSpc>
              <a:spcBef>
                <a:spcPts val="0"/>
              </a:spcBef>
            </a:pPr>
            <a:r>
              <a:rPr lang="en-US" dirty="0"/>
              <a:t>enhance a verbal message through sound </a:t>
            </a:r>
          </a:p>
          <a:p>
            <a:pPr marL="514350" indent="-514350">
              <a:lnSpc>
                <a:spcPct val="100000"/>
              </a:lnSpc>
              <a:spcBef>
                <a:spcPts val="0"/>
              </a:spcBef>
              <a:buFont typeface="+mj-lt"/>
              <a:buAutoNum type="arabicPeriod"/>
            </a:pPr>
            <a:r>
              <a:rPr lang="en-US" sz="2400" b="1" dirty="0"/>
              <a:t>audiovisual aids </a:t>
            </a:r>
          </a:p>
          <a:p>
            <a:pPr lvl="1">
              <a:lnSpc>
                <a:spcPct val="100000"/>
              </a:lnSpc>
              <a:spcBef>
                <a:spcPts val="0"/>
              </a:spcBef>
            </a:pPr>
            <a:r>
              <a:rPr lang="en-US" dirty="0"/>
              <a:t>enhance a verbal message through a combination of sight and sound </a:t>
            </a:r>
          </a:p>
          <a:p>
            <a:pPr marL="514350" indent="-514350">
              <a:lnSpc>
                <a:spcPct val="100000"/>
              </a:lnSpc>
              <a:spcBef>
                <a:spcPts val="0"/>
              </a:spcBef>
              <a:buFont typeface="+mj-lt"/>
              <a:buAutoNum type="arabicPeriod"/>
            </a:pPr>
            <a:r>
              <a:rPr lang="en-US" sz="2400" b="1" dirty="0"/>
              <a:t>other sensory aids </a:t>
            </a:r>
          </a:p>
          <a:p>
            <a:pPr lvl="1">
              <a:lnSpc>
                <a:spcPct val="100000"/>
              </a:lnSpc>
              <a:spcBef>
                <a:spcPts val="0"/>
              </a:spcBef>
            </a:pPr>
            <a:r>
              <a:rPr lang="en-US" dirty="0"/>
              <a:t>enhance a verbal message through smell, touch, or taste</a:t>
            </a:r>
          </a:p>
          <a:p>
            <a:pPr>
              <a:lnSpc>
                <a:spcPct val="100000"/>
              </a:lnSpc>
              <a:spcBef>
                <a:spcPts val="0"/>
              </a:spcBef>
            </a:pPr>
            <a:r>
              <a:rPr lang="en-US" sz="2400" b="1" dirty="0"/>
              <a:t>Benefits</a:t>
            </a:r>
          </a:p>
          <a:p>
            <a:pPr lvl="1">
              <a:lnSpc>
                <a:spcPct val="100000"/>
              </a:lnSpc>
              <a:spcBef>
                <a:spcPts val="0"/>
              </a:spcBef>
            </a:pPr>
            <a:r>
              <a:rPr lang="en-US" dirty="0"/>
              <a:t>get audience attention by dramatizing verbal message</a:t>
            </a:r>
          </a:p>
          <a:p>
            <a:pPr lvl="1">
              <a:lnSpc>
                <a:spcPct val="100000"/>
              </a:lnSpc>
              <a:spcBef>
                <a:spcPts val="0"/>
              </a:spcBef>
            </a:pPr>
            <a:r>
              <a:rPr lang="en-US" dirty="0"/>
              <a:t>help audience understand and remember information </a:t>
            </a:r>
          </a:p>
          <a:p>
            <a:pPr lvl="1">
              <a:lnSpc>
                <a:spcPct val="100000"/>
              </a:lnSpc>
              <a:spcBef>
                <a:spcPts val="0"/>
              </a:spcBef>
            </a:pPr>
            <a:r>
              <a:rPr lang="en-US" dirty="0"/>
              <a:t>allow addressing diverse learning styles of audience </a:t>
            </a:r>
          </a:p>
          <a:p>
            <a:pPr lvl="1">
              <a:lnSpc>
                <a:spcPct val="100000"/>
              </a:lnSpc>
              <a:spcBef>
                <a:spcPts val="0"/>
              </a:spcBef>
            </a:pPr>
            <a:r>
              <a:rPr lang="en-US" dirty="0"/>
              <a:t>increase persuasive appeal </a:t>
            </a:r>
          </a:p>
          <a:p>
            <a:pPr lvl="1">
              <a:lnSpc>
                <a:spcPct val="100000"/>
              </a:lnSpc>
              <a:spcBef>
                <a:spcPts val="0"/>
              </a:spcBef>
            </a:pPr>
            <a:r>
              <a:rPr lang="en-US" dirty="0"/>
              <a:t>help you feel more competent and confident </a:t>
            </a:r>
          </a:p>
        </p:txBody>
      </p:sp>
    </p:spTree>
    <p:extLst>
      <p:ext uri="{BB962C8B-B14F-4D97-AF65-F5344CB8AC3E}">
        <p14:creationId xmlns:p14="http://schemas.microsoft.com/office/powerpoint/2010/main" val="970432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346075"/>
            <a:ext cx="5524500" cy="549275"/>
          </a:xfrm>
        </p:spPr>
        <p:txBody>
          <a:bodyPr>
            <a:normAutofit fontScale="90000"/>
          </a:bodyPr>
          <a:lstStyle/>
          <a:p>
            <a:r>
              <a:rPr lang="en-US" sz="3600" b="1" dirty="0">
                <a:solidFill>
                  <a:schemeClr val="accent5">
                    <a:lumMod val="50000"/>
                  </a:schemeClr>
                </a:solidFill>
                <a:latin typeface="+mn-lt"/>
              </a:rPr>
              <a:t>Types of Presentational Aids</a:t>
            </a:r>
          </a:p>
        </p:txBody>
      </p:sp>
      <p:sp>
        <p:nvSpPr>
          <p:cNvPr id="3" name="Content Placeholder 2"/>
          <p:cNvSpPr>
            <a:spLocks noGrp="1"/>
          </p:cNvSpPr>
          <p:nvPr>
            <p:ph idx="1"/>
          </p:nvPr>
        </p:nvSpPr>
        <p:spPr>
          <a:xfrm>
            <a:off x="285750" y="1066800"/>
            <a:ext cx="4495800" cy="5429250"/>
          </a:xfrm>
        </p:spPr>
        <p:txBody>
          <a:bodyPr>
            <a:noAutofit/>
          </a:bodyPr>
          <a:lstStyle/>
          <a:p>
            <a:pPr marL="0" indent="0">
              <a:buNone/>
            </a:pPr>
            <a:r>
              <a:rPr lang="en-US" b="1" dirty="0"/>
              <a:t>Visual Aids</a:t>
            </a:r>
          </a:p>
          <a:p>
            <a:pPr lvl="1"/>
            <a:r>
              <a:rPr lang="en-US" sz="2800" dirty="0"/>
              <a:t>Actual Objects</a:t>
            </a:r>
          </a:p>
          <a:p>
            <a:pPr lvl="1"/>
            <a:r>
              <a:rPr lang="en-US" sz="2800" dirty="0"/>
              <a:t>Models</a:t>
            </a:r>
          </a:p>
          <a:p>
            <a:pPr lvl="1"/>
            <a:r>
              <a:rPr lang="en-US" sz="2800" dirty="0"/>
              <a:t>Photographs</a:t>
            </a:r>
          </a:p>
          <a:p>
            <a:pPr lvl="1"/>
            <a:r>
              <a:rPr lang="en-US" sz="2800" dirty="0"/>
              <a:t>Drawings and Diagrams</a:t>
            </a:r>
          </a:p>
          <a:p>
            <a:pPr lvl="1"/>
            <a:r>
              <a:rPr lang="en-US" sz="2800" dirty="0"/>
              <a:t>Maps</a:t>
            </a:r>
          </a:p>
          <a:p>
            <a:pPr lvl="1"/>
            <a:r>
              <a:rPr lang="en-US" sz="2800" dirty="0"/>
              <a:t>Charts</a:t>
            </a:r>
          </a:p>
          <a:p>
            <a:pPr lvl="1"/>
            <a:r>
              <a:rPr lang="en-US" sz="2800" dirty="0"/>
              <a:t>Graphs and Tables</a:t>
            </a:r>
          </a:p>
          <a:p>
            <a:endParaRPr lang="en-US" dirty="0"/>
          </a:p>
          <a:p>
            <a:pPr marL="0" indent="0">
              <a:buNone/>
            </a:pPr>
            <a:r>
              <a:rPr lang="en-US" b="1" dirty="0"/>
              <a:t>Audio Visual Aids</a:t>
            </a:r>
          </a:p>
          <a:p>
            <a:pPr marL="0" indent="0">
              <a:buNone/>
            </a:pPr>
            <a:r>
              <a:rPr lang="en-US" b="1" dirty="0"/>
              <a:t>Other Sensory Aids</a:t>
            </a:r>
          </a:p>
        </p:txBody>
      </p:sp>
      <p:sp>
        <p:nvSpPr>
          <p:cNvPr id="4" name="Rectangle 3"/>
          <p:cNvSpPr/>
          <p:nvPr/>
        </p:nvSpPr>
        <p:spPr>
          <a:xfrm>
            <a:off x="5957391" y="348734"/>
            <a:ext cx="5137753" cy="584775"/>
          </a:xfrm>
          <a:prstGeom prst="rect">
            <a:avLst/>
          </a:prstGeom>
        </p:spPr>
        <p:txBody>
          <a:bodyPr wrap="none">
            <a:spAutoFit/>
          </a:bodyPr>
          <a:lstStyle/>
          <a:p>
            <a:r>
              <a:rPr lang="en-US" sz="3200" b="1" dirty="0">
                <a:solidFill>
                  <a:schemeClr val="accent5">
                    <a:lumMod val="50000"/>
                  </a:schemeClr>
                </a:solidFill>
              </a:rPr>
              <a:t>Choosing Presentational Aids</a:t>
            </a:r>
          </a:p>
        </p:txBody>
      </p:sp>
      <p:sp>
        <p:nvSpPr>
          <p:cNvPr id="5" name="Rectangle 4"/>
          <p:cNvSpPr/>
          <p:nvPr/>
        </p:nvSpPr>
        <p:spPr>
          <a:xfrm>
            <a:off x="5143500" y="1339840"/>
            <a:ext cx="6915150" cy="4832092"/>
          </a:xfrm>
          <a:prstGeom prst="rect">
            <a:avLst/>
          </a:prstGeom>
        </p:spPr>
        <p:txBody>
          <a:bodyPr wrap="square">
            <a:spAutoFit/>
          </a:bodyPr>
          <a:lstStyle/>
          <a:p>
            <a:r>
              <a:rPr lang="en-US" sz="2800" dirty="0"/>
              <a:t>Choose aids that:</a:t>
            </a:r>
          </a:p>
          <a:p>
            <a:pPr marL="514350" indent="-514350">
              <a:buFont typeface="+mj-lt"/>
              <a:buAutoNum type="arabicPeriod"/>
            </a:pPr>
            <a:r>
              <a:rPr lang="en-US" sz="2800" dirty="0"/>
              <a:t>illustrate the most important ideas </a:t>
            </a:r>
          </a:p>
          <a:p>
            <a:pPr marL="514350" indent="-514350">
              <a:buFont typeface="+mj-lt"/>
              <a:buAutoNum type="arabicPeriod"/>
            </a:pPr>
            <a:r>
              <a:rPr lang="en-US" sz="2800" dirty="0"/>
              <a:t>clarify complex ideas-difficult to explain verbally.</a:t>
            </a:r>
          </a:p>
          <a:p>
            <a:pPr marL="514350" indent="-514350">
              <a:buFont typeface="+mj-lt"/>
              <a:buAutoNum type="arabicPeriod"/>
            </a:pPr>
            <a:r>
              <a:rPr lang="en-US" sz="2800" dirty="0"/>
              <a:t>are appropriate for the audience size</a:t>
            </a:r>
          </a:p>
          <a:p>
            <a:pPr marL="514350" indent="-514350">
              <a:buFont typeface="+mj-lt"/>
              <a:buAutoNum type="arabicPeriod"/>
            </a:pPr>
            <a:r>
              <a:rPr lang="en-US" sz="2800" dirty="0"/>
              <a:t>make information and details interesting</a:t>
            </a:r>
          </a:p>
          <a:p>
            <a:pPr marL="514350" indent="-514350">
              <a:buFont typeface="+mj-lt"/>
              <a:buAutoNum type="arabicPeriod"/>
            </a:pPr>
            <a:r>
              <a:rPr lang="en-US" sz="2800" dirty="0"/>
              <a:t>Are easy to use and transport </a:t>
            </a:r>
          </a:p>
          <a:p>
            <a:pPr marL="514350" indent="-514350">
              <a:buFont typeface="+mj-lt"/>
              <a:buAutoNum type="arabicPeriod"/>
            </a:pPr>
            <a:r>
              <a:rPr lang="en-US" sz="2800" dirty="0"/>
              <a:t>enhance but not overwhelm the verbal message </a:t>
            </a:r>
          </a:p>
          <a:p>
            <a:pPr marL="514350" indent="-514350">
              <a:buFont typeface="+mj-lt"/>
              <a:buAutoNum type="arabicPeriod"/>
            </a:pPr>
            <a:r>
              <a:rPr lang="en-US" sz="2800" dirty="0"/>
              <a:t>have the time and money to prepare </a:t>
            </a:r>
          </a:p>
          <a:p>
            <a:pPr marL="514350" indent="-514350">
              <a:buFont typeface="+mj-lt"/>
              <a:buAutoNum type="arabicPeriod"/>
            </a:pPr>
            <a:r>
              <a:rPr lang="en-US" sz="2800" dirty="0"/>
              <a:t>demonstrate cultural sensitivity </a:t>
            </a:r>
          </a:p>
        </p:txBody>
      </p:sp>
    </p:spTree>
    <p:extLst>
      <p:ext uri="{BB962C8B-B14F-4D97-AF65-F5344CB8AC3E}">
        <p14:creationId xmlns:p14="http://schemas.microsoft.com/office/powerpoint/2010/main" val="2676878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8686800" cy="1143000"/>
          </a:xfrm>
        </p:spPr>
        <p:txBody>
          <a:bodyPr>
            <a:noAutofit/>
          </a:bodyPr>
          <a:lstStyle/>
          <a:p>
            <a:r>
              <a:rPr lang="en-US" sz="3600" b="1" dirty="0"/>
              <a:t>Preparation of Presentational Aids</a:t>
            </a:r>
          </a:p>
        </p:txBody>
      </p:sp>
      <p:sp>
        <p:nvSpPr>
          <p:cNvPr id="3" name="Content Placeholder 2"/>
          <p:cNvSpPr>
            <a:spLocks noGrp="1"/>
          </p:cNvSpPr>
          <p:nvPr>
            <p:ph idx="1"/>
          </p:nvPr>
        </p:nvSpPr>
        <p:spPr>
          <a:xfrm>
            <a:off x="476250" y="1292225"/>
            <a:ext cx="11277600" cy="4022725"/>
          </a:xfrm>
        </p:spPr>
        <p:txBody>
          <a:bodyPr>
            <a:normAutofit/>
          </a:bodyPr>
          <a:lstStyle/>
          <a:p>
            <a:pPr marL="514350" indent="-514350">
              <a:buFont typeface="+mj-lt"/>
              <a:buAutoNum type="arabicPeriod"/>
            </a:pPr>
            <a:r>
              <a:rPr lang="en-US" dirty="0"/>
              <a:t>Limit the reading required of the audience.</a:t>
            </a:r>
          </a:p>
          <a:p>
            <a:pPr marL="514350" indent="-514350">
              <a:buFont typeface="+mj-lt"/>
              <a:buAutoNum type="arabicPeriod"/>
            </a:pPr>
            <a:r>
              <a:rPr lang="en-US" dirty="0"/>
              <a:t>Customize presentational aids from other sources.</a:t>
            </a:r>
          </a:p>
          <a:p>
            <a:pPr marL="514350" indent="-514350">
              <a:buFont typeface="+mj-lt"/>
              <a:buAutoNum type="arabicPeriod"/>
            </a:pPr>
            <a:r>
              <a:rPr lang="en-US" dirty="0"/>
              <a:t>Use images that can be seen easily </a:t>
            </a:r>
          </a:p>
          <a:p>
            <a:pPr marL="514350" indent="-514350">
              <a:buFont typeface="+mj-lt"/>
              <a:buAutoNum type="arabicPeriod"/>
            </a:pPr>
            <a:r>
              <a:rPr lang="en-US" dirty="0"/>
              <a:t>Use a </a:t>
            </a:r>
            <a:r>
              <a:rPr lang="en-US" dirty="0">
                <a:latin typeface="Algerian" panose="04020705040A02060702" pitchFamily="82" charset="0"/>
              </a:rPr>
              <a:t>consistent</a:t>
            </a:r>
            <a:r>
              <a:rPr lang="en-US" dirty="0"/>
              <a:t> print style </a:t>
            </a:r>
            <a:r>
              <a:rPr lang="en-US" dirty="0">
                <a:latin typeface="Bauhaus 93" panose="04030905020B02020C02" pitchFamily="82" charset="0"/>
              </a:rPr>
              <a:t>that is easy to read</a:t>
            </a:r>
          </a:p>
          <a:p>
            <a:pPr marL="514350" indent="-514350">
              <a:buFont typeface="+mj-lt"/>
              <a:buAutoNum type="arabicPeriod"/>
            </a:pPr>
            <a:r>
              <a:rPr lang="en-US" dirty="0"/>
              <a:t>Make sure information is laid out aesthetically </a:t>
            </a:r>
          </a:p>
          <a:p>
            <a:pPr marL="514350" indent="-514350">
              <a:buFont typeface="+mj-lt"/>
              <a:buAutoNum type="arabicPeriod"/>
            </a:pPr>
            <a:r>
              <a:rPr lang="en-US" dirty="0"/>
              <a:t>Use appropriate graphic illustrations </a:t>
            </a:r>
          </a:p>
          <a:p>
            <a:pPr marL="514350" indent="-514350">
              <a:buFont typeface="+mj-lt"/>
              <a:buAutoNum type="arabicPeriod"/>
            </a:pPr>
            <a:r>
              <a:rPr lang="en-US" dirty="0"/>
              <a:t>Use color strategically</a:t>
            </a:r>
          </a:p>
        </p:txBody>
      </p:sp>
    </p:spTree>
    <p:extLst>
      <p:ext uri="{BB962C8B-B14F-4D97-AF65-F5344CB8AC3E}">
        <p14:creationId xmlns:p14="http://schemas.microsoft.com/office/powerpoint/2010/main" val="3953788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79576" y="274638"/>
            <a:ext cx="7931224" cy="639762"/>
          </a:xfrm>
        </p:spPr>
        <p:txBody>
          <a:bodyPr>
            <a:normAutofit fontScale="90000"/>
          </a:bodyPr>
          <a:lstStyle/>
          <a:p>
            <a:r>
              <a:rPr lang="en-US" b="1" dirty="0">
                <a:solidFill>
                  <a:schemeClr val="accent5">
                    <a:lumMod val="50000"/>
                  </a:schemeClr>
                </a:solidFill>
                <a:latin typeface="+mn-lt"/>
                <a:cs typeface="Arial" pitchFamily="34" charset="0"/>
              </a:rPr>
              <a:t>Text Guidelines</a:t>
            </a:r>
            <a:endParaRPr lang="en-SG" b="1" dirty="0">
              <a:solidFill>
                <a:schemeClr val="accent5">
                  <a:lumMod val="50000"/>
                </a:schemeClr>
              </a:solidFill>
              <a:latin typeface="+mn-lt"/>
              <a:cs typeface="Arial" pitchFamily="34" charset="0"/>
            </a:endParaRPr>
          </a:p>
        </p:txBody>
      </p:sp>
      <p:sp>
        <p:nvSpPr>
          <p:cNvPr id="2" name="Content Placeholder 1"/>
          <p:cNvSpPr>
            <a:spLocks noGrp="1"/>
          </p:cNvSpPr>
          <p:nvPr>
            <p:ph idx="1"/>
          </p:nvPr>
        </p:nvSpPr>
        <p:spPr>
          <a:xfrm>
            <a:off x="171450" y="1333500"/>
            <a:ext cx="6038850" cy="5524500"/>
          </a:xfrm>
        </p:spPr>
        <p:txBody>
          <a:bodyPr>
            <a:noAutofit/>
          </a:bodyPr>
          <a:lstStyle/>
          <a:p>
            <a:r>
              <a:rPr lang="en-SG" b="1" dirty="0">
                <a:cs typeface="Arial" pitchFamily="34" charset="0"/>
              </a:rPr>
              <a:t>Font size  </a:t>
            </a:r>
          </a:p>
          <a:p>
            <a:pPr lvl="1"/>
            <a:r>
              <a:rPr lang="en-SG" sz="2800" b="1" dirty="0">
                <a:cs typeface="Arial" pitchFamily="34" charset="0"/>
              </a:rPr>
              <a:t>Text  28 </a:t>
            </a:r>
          </a:p>
          <a:p>
            <a:pPr lvl="1"/>
            <a:r>
              <a:rPr lang="en-SG" sz="3600" b="1" dirty="0">
                <a:cs typeface="Arial" pitchFamily="34" charset="0"/>
              </a:rPr>
              <a:t>Headings 36- 40 </a:t>
            </a:r>
          </a:p>
          <a:p>
            <a:pPr lvl="1"/>
            <a:r>
              <a:rPr lang="en-SG" sz="2800" b="1" dirty="0">
                <a:cs typeface="Arial" pitchFamily="34" charset="0"/>
              </a:rPr>
              <a:t>5-7 bullet points per slide</a:t>
            </a:r>
          </a:p>
          <a:p>
            <a:r>
              <a:rPr lang="en-SG" b="1" dirty="0">
                <a:cs typeface="Arial" pitchFamily="34" charset="0"/>
              </a:rPr>
              <a:t>Use READABLE fonts</a:t>
            </a:r>
          </a:p>
          <a:p>
            <a:pPr lvl="1"/>
            <a:r>
              <a:rPr lang="en-SG" sz="2800" b="1" dirty="0">
                <a:cs typeface="Arial" pitchFamily="34" charset="0"/>
              </a:rPr>
              <a:t>Times New Roman/Calibri/Sans Serif</a:t>
            </a:r>
          </a:p>
          <a:p>
            <a:r>
              <a:rPr lang="en-SG" b="1" dirty="0">
                <a:cs typeface="Arial" pitchFamily="34" charset="0"/>
              </a:rPr>
              <a:t>Use </a:t>
            </a:r>
            <a:r>
              <a:rPr lang="en-SG" b="1" dirty="0">
                <a:solidFill>
                  <a:srgbClr val="FF0000"/>
                </a:solidFill>
                <a:cs typeface="Arial" pitchFamily="34" charset="0"/>
              </a:rPr>
              <a:t>colour </a:t>
            </a:r>
            <a:r>
              <a:rPr lang="en-SG" b="1" dirty="0">
                <a:cs typeface="Arial" pitchFamily="34" charset="0"/>
              </a:rPr>
              <a:t>for emphasis</a:t>
            </a:r>
          </a:p>
          <a:p>
            <a:r>
              <a:rPr lang="en-SG" sz="2800" b="1" dirty="0">
                <a:cs typeface="Arial" pitchFamily="34" charset="0"/>
              </a:rPr>
              <a:t>contrasting background and text</a:t>
            </a:r>
          </a:p>
          <a:p>
            <a:r>
              <a:rPr lang="en-SG" b="1" dirty="0">
                <a:cs typeface="Arial" pitchFamily="34" charset="0"/>
              </a:rPr>
              <a:t>Check for spelling and grammatical errors</a:t>
            </a:r>
          </a:p>
          <a:p>
            <a:pPr>
              <a:buNone/>
            </a:pPr>
            <a:endParaRPr lang="en-SG" b="1" dirty="0">
              <a:solidFill>
                <a:schemeClr val="tx1">
                  <a:lumMod val="50000"/>
                  <a:lumOff val="50000"/>
                </a:schemeClr>
              </a:solidFill>
              <a:cs typeface="Arial" pitchFamily="34" charset="0"/>
            </a:endParaRPr>
          </a:p>
        </p:txBody>
      </p:sp>
      <p:sp>
        <p:nvSpPr>
          <p:cNvPr id="4" name="Content Placeholder 1"/>
          <p:cNvSpPr txBox="1">
            <a:spLocks/>
          </p:cNvSpPr>
          <p:nvPr/>
        </p:nvSpPr>
        <p:spPr>
          <a:xfrm>
            <a:off x="6057900" y="1543050"/>
            <a:ext cx="5886450" cy="4495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b="1" dirty="0"/>
              <a:t>Use relevant media elements images/ graphs/tables</a:t>
            </a:r>
          </a:p>
          <a:p>
            <a:r>
              <a:rPr lang="en-SG" b="1" dirty="0"/>
              <a:t>Avoid distracting pictures/ sounds/copyrighted materials</a:t>
            </a:r>
          </a:p>
          <a:p>
            <a:r>
              <a:rPr lang="en-US" b="1" dirty="0">
                <a:cs typeface="Arial" pitchFamily="34" charset="0"/>
              </a:rPr>
              <a:t>NEVER USE ALL CAPITALS; THEY ARE HARD TO READ</a:t>
            </a:r>
          </a:p>
          <a:p>
            <a:r>
              <a:rPr lang="en-US" b="1" dirty="0"/>
              <a:t>Don’t </a:t>
            </a:r>
            <a:r>
              <a:rPr lang="en-US" b="1" dirty="0">
                <a:solidFill>
                  <a:srgbClr val="FF0000"/>
                </a:solidFill>
              </a:rPr>
              <a:t>SAY</a:t>
            </a:r>
            <a:r>
              <a:rPr lang="en-US" b="1" dirty="0"/>
              <a:t> it, </a:t>
            </a:r>
            <a:r>
              <a:rPr lang="en-US" b="1" dirty="0">
                <a:solidFill>
                  <a:srgbClr val="FF0000"/>
                </a:solidFill>
              </a:rPr>
              <a:t>SHOW </a:t>
            </a:r>
            <a:r>
              <a:rPr lang="en-US" b="1" dirty="0"/>
              <a:t>it</a:t>
            </a:r>
          </a:p>
          <a:p>
            <a:endParaRPr lang="en-SG" b="1" dirty="0"/>
          </a:p>
        </p:txBody>
      </p:sp>
      <p:pic>
        <p:nvPicPr>
          <p:cNvPr id="5" name="Picture 6" descr="C:\Documents and Settings\zahida.mansoor\Desktop\9.gif"/>
          <p:cNvPicPr>
            <a:picLocks noChangeAspect="1" noChangeArrowheads="1" noCrop="1"/>
          </p:cNvPicPr>
          <p:nvPr/>
        </p:nvPicPr>
        <p:blipFill>
          <a:blip r:embed="rId2"/>
          <a:srcRect/>
          <a:stretch>
            <a:fillRect/>
          </a:stretch>
        </p:blipFill>
        <p:spPr bwMode="auto">
          <a:xfrm>
            <a:off x="6343650" y="4781550"/>
            <a:ext cx="3039913" cy="809625"/>
          </a:xfrm>
          <a:prstGeom prst="rect">
            <a:avLst/>
          </a:prstGeom>
          <a:noFill/>
        </p:spPr>
      </p:pic>
      <p:pic>
        <p:nvPicPr>
          <p:cNvPr id="6" name="Picture 6" descr="C:\Documents and Settings\zahida.mansoor\Desktop\9.gif"/>
          <p:cNvPicPr>
            <a:picLocks noChangeAspect="1" noChangeArrowheads="1" noCrop="1"/>
          </p:cNvPicPr>
          <p:nvPr/>
        </p:nvPicPr>
        <p:blipFill>
          <a:blip r:embed="rId2"/>
          <a:srcRect/>
          <a:stretch>
            <a:fillRect/>
          </a:stretch>
        </p:blipFill>
        <p:spPr bwMode="auto">
          <a:xfrm>
            <a:off x="8763000" y="5848350"/>
            <a:ext cx="3039913" cy="809625"/>
          </a:xfrm>
          <a:prstGeom prst="rect">
            <a:avLst/>
          </a:prstGeom>
          <a:noFill/>
        </p:spPr>
      </p:pic>
      <p:pic>
        <p:nvPicPr>
          <p:cNvPr id="10" name="Picture 6" descr="C:\Documents and Settings\zahida.mansoor\Desktop\9.gif"/>
          <p:cNvPicPr>
            <a:picLocks noChangeAspect="1" noChangeArrowheads="1" noCrop="1"/>
          </p:cNvPicPr>
          <p:nvPr/>
        </p:nvPicPr>
        <p:blipFill>
          <a:blip r:embed="rId2"/>
          <a:srcRect/>
          <a:stretch>
            <a:fillRect/>
          </a:stretch>
        </p:blipFill>
        <p:spPr bwMode="auto">
          <a:xfrm>
            <a:off x="7486650" y="381000"/>
            <a:ext cx="3048000" cy="809625"/>
          </a:xfrm>
          <a:prstGeom prst="rect">
            <a:avLst/>
          </a:prstGeom>
          <a:noFill/>
        </p:spPr>
      </p:pic>
      <p:pic>
        <p:nvPicPr>
          <p:cNvPr id="11" name="Picture 6" descr="C:\Documents and Settings\zahida.mansoor\Desktop\9.gif"/>
          <p:cNvPicPr>
            <a:picLocks noChangeAspect="1" noChangeArrowheads="1" noCrop="1"/>
          </p:cNvPicPr>
          <p:nvPr/>
        </p:nvPicPr>
        <p:blipFill>
          <a:blip r:embed="rId2"/>
          <a:srcRect/>
          <a:stretch>
            <a:fillRect/>
          </a:stretch>
        </p:blipFill>
        <p:spPr bwMode="auto">
          <a:xfrm>
            <a:off x="2533650" y="6048375"/>
            <a:ext cx="3048000" cy="809625"/>
          </a:xfrm>
          <a:prstGeom prst="rect">
            <a:avLst/>
          </a:prstGeom>
          <a:noFill/>
        </p:spPr>
      </p:pic>
      <p:pic>
        <p:nvPicPr>
          <p:cNvPr id="12" name="Picture 6" descr="C:\Documents and Settings\zahida.mansoor\Desktop\9.gif"/>
          <p:cNvPicPr>
            <a:picLocks noChangeAspect="1" noChangeArrowheads="1" noCrop="1"/>
          </p:cNvPicPr>
          <p:nvPr/>
        </p:nvPicPr>
        <p:blipFill>
          <a:blip r:embed="rId2"/>
          <a:srcRect/>
          <a:stretch>
            <a:fillRect/>
          </a:stretch>
        </p:blipFill>
        <p:spPr bwMode="auto">
          <a:xfrm>
            <a:off x="5619750" y="5772150"/>
            <a:ext cx="3048000" cy="809625"/>
          </a:xfrm>
          <a:prstGeom prst="rect">
            <a:avLst/>
          </a:prstGeom>
          <a:noFill/>
        </p:spPr>
      </p:pic>
    </p:spTree>
    <p:extLst>
      <p:ext uri="{BB962C8B-B14F-4D97-AF65-F5344CB8AC3E}">
        <p14:creationId xmlns:p14="http://schemas.microsoft.com/office/powerpoint/2010/main" val="362069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9"/>
                                          </p:stCondLst>
                                        </p:cTn>
                                        <p:tgtEl>
                                          <p:spTgt spid="1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1447" y="281999"/>
            <a:ext cx="8129155" cy="653184"/>
          </a:xfrm>
        </p:spPr>
        <p:txBody>
          <a:bodyPr>
            <a:normAutofit/>
          </a:bodyPr>
          <a:lstStyle/>
          <a:p>
            <a:r>
              <a:rPr lang="en-US" sz="3600" b="1" dirty="0">
                <a:solidFill>
                  <a:schemeClr val="accent5">
                    <a:lumMod val="50000"/>
                  </a:schemeClr>
                </a:solidFill>
              </a:rPr>
              <a:t>Practice Oral Language and Delivery Style</a:t>
            </a:r>
          </a:p>
        </p:txBody>
      </p:sp>
      <p:sp>
        <p:nvSpPr>
          <p:cNvPr id="3" name="Content Placeholder 2"/>
          <p:cNvSpPr>
            <a:spLocks noGrp="1"/>
          </p:cNvSpPr>
          <p:nvPr>
            <p:ph idx="1"/>
          </p:nvPr>
        </p:nvSpPr>
        <p:spPr>
          <a:xfrm>
            <a:off x="647699" y="1198419"/>
            <a:ext cx="11296650" cy="5181600"/>
          </a:xfrm>
        </p:spPr>
        <p:txBody>
          <a:bodyPr/>
          <a:lstStyle/>
          <a:p>
            <a:pPr marL="0" indent="0">
              <a:buNone/>
            </a:pPr>
            <a:r>
              <a:rPr lang="en-US" dirty="0">
                <a:solidFill>
                  <a:schemeClr val="accent5">
                    <a:lumMod val="50000"/>
                  </a:schemeClr>
                </a:solidFill>
              </a:rPr>
              <a:t>Oral style refers to how we convey messages through the spoken word:</a:t>
            </a:r>
          </a:p>
          <a:p>
            <a:r>
              <a:rPr lang="en-US" dirty="0"/>
              <a:t>An effective oral style </a:t>
            </a:r>
          </a:p>
          <a:p>
            <a:pPr marL="514350" indent="-514350">
              <a:buFont typeface="+mj-lt"/>
              <a:buAutoNum type="arabicPeriod"/>
            </a:pPr>
            <a:r>
              <a:rPr lang="en-US" dirty="0"/>
              <a:t>tends toward short sentences and familiar language </a:t>
            </a:r>
          </a:p>
          <a:p>
            <a:pPr marL="514350" indent="-514350">
              <a:buFont typeface="+mj-lt"/>
              <a:buAutoNum type="arabicPeriod"/>
            </a:pPr>
            <a:r>
              <a:rPr lang="en-US" dirty="0"/>
              <a:t>features plural personal pronouns </a:t>
            </a:r>
          </a:p>
          <a:p>
            <a:pPr marL="514350" indent="-514350">
              <a:buFont typeface="+mj-lt"/>
              <a:buAutoNum type="arabicPeriod"/>
            </a:pPr>
            <a:r>
              <a:rPr lang="en-US" dirty="0"/>
              <a:t>descriptive words/ phrases to sustain listener interest and promote retention</a:t>
            </a:r>
          </a:p>
          <a:p>
            <a:pPr marL="514350" indent="-514350">
              <a:buFont typeface="+mj-lt"/>
              <a:buAutoNum type="arabicPeriod"/>
            </a:pPr>
            <a:r>
              <a:rPr lang="en-US" dirty="0"/>
              <a:t>incorporates clear macro-structural elements</a:t>
            </a:r>
          </a:p>
          <a:p>
            <a:pPr lvl="1"/>
            <a:r>
              <a:rPr lang="en-US" dirty="0"/>
              <a:t>(e.g., main point preview, section transitions, and signposts)</a:t>
            </a:r>
          </a:p>
        </p:txBody>
      </p:sp>
    </p:spTree>
    <p:extLst>
      <p:ext uri="{BB962C8B-B14F-4D97-AF65-F5344CB8AC3E}">
        <p14:creationId xmlns:p14="http://schemas.microsoft.com/office/powerpoint/2010/main" val="1961476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763" y="102711"/>
            <a:ext cx="5614555" cy="663575"/>
          </a:xfrm>
        </p:spPr>
        <p:txBody>
          <a:bodyPr>
            <a:normAutofit/>
          </a:bodyPr>
          <a:lstStyle/>
          <a:p>
            <a:r>
              <a:rPr lang="en-US" sz="3200" b="1" dirty="0">
                <a:solidFill>
                  <a:schemeClr val="accent5">
                    <a:lumMod val="50000"/>
                  </a:schemeClr>
                </a:solidFill>
              </a:rPr>
              <a:t>Speaking appropriately </a:t>
            </a:r>
          </a:p>
        </p:txBody>
      </p:sp>
      <p:sp>
        <p:nvSpPr>
          <p:cNvPr id="3" name="Content Placeholder 2"/>
          <p:cNvSpPr>
            <a:spLocks noGrp="1"/>
          </p:cNvSpPr>
          <p:nvPr>
            <p:ph idx="1"/>
          </p:nvPr>
        </p:nvSpPr>
        <p:spPr>
          <a:xfrm>
            <a:off x="190500" y="2476500"/>
            <a:ext cx="11868150" cy="4381500"/>
          </a:xfrm>
        </p:spPr>
        <p:txBody>
          <a:bodyPr>
            <a:noAutofit/>
          </a:bodyPr>
          <a:lstStyle/>
          <a:p>
            <a:pPr marL="514350" indent="-514350">
              <a:lnSpc>
                <a:spcPct val="100000"/>
              </a:lnSpc>
              <a:spcBef>
                <a:spcPts val="0"/>
              </a:spcBef>
              <a:buFont typeface="+mj-lt"/>
              <a:buAutoNum type="arabicPeriod"/>
            </a:pPr>
            <a:r>
              <a:rPr lang="en-US" b="1" dirty="0"/>
              <a:t>Relevance</a:t>
            </a:r>
          </a:p>
          <a:p>
            <a:pPr lvl="1">
              <a:lnSpc>
                <a:spcPct val="100000"/>
              </a:lnSpc>
              <a:spcBef>
                <a:spcPts val="0"/>
              </a:spcBef>
            </a:pPr>
            <a:r>
              <a:rPr lang="en-US" b="1" dirty="0"/>
              <a:t>timeliness -</a:t>
            </a:r>
            <a:r>
              <a:rPr lang="en-US" dirty="0"/>
              <a:t>the information audience members can use now</a:t>
            </a:r>
          </a:p>
          <a:p>
            <a:pPr lvl="1">
              <a:lnSpc>
                <a:spcPct val="100000"/>
              </a:lnSpc>
              <a:spcBef>
                <a:spcPts val="0"/>
              </a:spcBef>
            </a:pPr>
            <a:r>
              <a:rPr lang="en-US" b="1" dirty="0"/>
              <a:t>proximity</a:t>
            </a:r>
            <a:r>
              <a:rPr lang="en-US" dirty="0"/>
              <a:t> -information in relation to listeners’ personal space</a:t>
            </a:r>
          </a:p>
          <a:p>
            <a:pPr marL="514350" indent="-514350">
              <a:lnSpc>
                <a:spcPct val="100000"/>
              </a:lnSpc>
              <a:spcBef>
                <a:spcPts val="0"/>
              </a:spcBef>
              <a:buFont typeface="+mj-lt"/>
              <a:buAutoNum type="arabicPeriod" startAt="2"/>
            </a:pPr>
            <a:r>
              <a:rPr lang="en-US" b="1" dirty="0"/>
              <a:t>Common ground</a:t>
            </a:r>
          </a:p>
          <a:p>
            <a:pPr lvl="1">
              <a:lnSpc>
                <a:spcPct val="100000"/>
              </a:lnSpc>
              <a:spcBef>
                <a:spcPts val="0"/>
              </a:spcBef>
            </a:pPr>
            <a:r>
              <a:rPr lang="en-US" dirty="0"/>
              <a:t>background, knowledge, attitudes, experiences, and  philosophies shared by speaker and audience</a:t>
            </a:r>
          </a:p>
          <a:p>
            <a:pPr marL="971550" lvl="1" indent="-514350">
              <a:lnSpc>
                <a:spcPct val="100000"/>
              </a:lnSpc>
              <a:spcBef>
                <a:spcPts val="0"/>
              </a:spcBef>
              <a:buFont typeface="+mj-lt"/>
              <a:buAutoNum type="arabicPeriod"/>
            </a:pPr>
            <a:r>
              <a:rPr lang="en-US" dirty="0"/>
              <a:t>Using personal Pronouns</a:t>
            </a:r>
          </a:p>
          <a:p>
            <a:pPr marL="971550" lvl="1" indent="-514350">
              <a:lnSpc>
                <a:spcPct val="100000"/>
              </a:lnSpc>
              <a:spcBef>
                <a:spcPts val="0"/>
              </a:spcBef>
              <a:buFont typeface="+mj-lt"/>
              <a:buAutoNum type="arabicPeriod"/>
            </a:pPr>
            <a:r>
              <a:rPr lang="en-US" dirty="0"/>
              <a:t>Asking Rhetorical questions</a:t>
            </a:r>
          </a:p>
          <a:p>
            <a:pPr marL="971550" lvl="1" indent="-514350">
              <a:lnSpc>
                <a:spcPct val="100000"/>
              </a:lnSpc>
              <a:spcBef>
                <a:spcPts val="0"/>
              </a:spcBef>
              <a:buFont typeface="+mj-lt"/>
              <a:buAutoNum type="arabicPeriod"/>
            </a:pPr>
            <a:r>
              <a:rPr lang="en-US" dirty="0"/>
              <a:t>Draw from Common Experiences</a:t>
            </a:r>
          </a:p>
          <a:p>
            <a:pPr marL="514350" indent="-514350">
              <a:lnSpc>
                <a:spcPct val="100000"/>
              </a:lnSpc>
              <a:spcBef>
                <a:spcPts val="0"/>
              </a:spcBef>
              <a:buFont typeface="+mj-lt"/>
              <a:buAutoNum type="arabicPeriod" startAt="3"/>
            </a:pPr>
            <a:r>
              <a:rPr lang="en-US" b="1" dirty="0"/>
              <a:t>Speaker’s Credibility</a:t>
            </a:r>
          </a:p>
          <a:p>
            <a:pPr lvl="1">
              <a:lnSpc>
                <a:spcPct val="100000"/>
              </a:lnSpc>
              <a:spcBef>
                <a:spcPts val="0"/>
              </a:spcBef>
            </a:pPr>
            <a:r>
              <a:rPr lang="en-US" dirty="0"/>
              <a:t>the confidence an audience places in the truthfulness of what a speaker says</a:t>
            </a:r>
            <a:endParaRPr lang="en-US" b="1" dirty="0"/>
          </a:p>
          <a:p>
            <a:pPr marL="457200" lvl="1" indent="0">
              <a:lnSpc>
                <a:spcPct val="100000"/>
              </a:lnSpc>
              <a:spcBef>
                <a:spcPts val="0"/>
              </a:spcBef>
              <a:buNone/>
            </a:pPr>
            <a:endParaRPr lang="en-US" dirty="0"/>
          </a:p>
          <a:p>
            <a:pPr>
              <a:lnSpc>
                <a:spcPct val="100000"/>
              </a:lnSpc>
              <a:spcBef>
                <a:spcPts val="0"/>
              </a:spcBef>
            </a:pPr>
            <a:endParaRPr lang="en-US" dirty="0"/>
          </a:p>
        </p:txBody>
      </p:sp>
      <p:sp>
        <p:nvSpPr>
          <p:cNvPr id="4" name="Rectangle 3"/>
          <p:cNvSpPr/>
          <p:nvPr/>
        </p:nvSpPr>
        <p:spPr>
          <a:xfrm>
            <a:off x="190500" y="766286"/>
            <a:ext cx="11868150" cy="1815882"/>
          </a:xfrm>
          <a:prstGeom prst="rect">
            <a:avLst/>
          </a:prstGeom>
        </p:spPr>
        <p:txBody>
          <a:bodyPr wrap="square">
            <a:spAutoFit/>
          </a:bodyPr>
          <a:lstStyle/>
          <a:p>
            <a:r>
              <a:rPr lang="en-US" sz="2800" b="1" dirty="0">
                <a:solidFill>
                  <a:schemeClr val="accent5">
                    <a:lumMod val="50000"/>
                  </a:schemeClr>
                </a:solidFill>
              </a:rPr>
              <a:t>Using language that adapts to the needs, interests, knowledge, and attitudes of the audience </a:t>
            </a:r>
          </a:p>
          <a:p>
            <a:r>
              <a:rPr lang="en-US" sz="2800" b="1" dirty="0"/>
              <a:t>verbal immediacy -</a:t>
            </a:r>
            <a:r>
              <a:rPr lang="en-US" sz="2800" dirty="0"/>
              <a:t>Language used to reduce the psychological distance between speaker and audience</a:t>
            </a:r>
          </a:p>
        </p:txBody>
      </p:sp>
    </p:spTree>
    <p:extLst>
      <p:ext uri="{BB962C8B-B14F-4D97-AF65-F5344CB8AC3E}">
        <p14:creationId xmlns:p14="http://schemas.microsoft.com/office/powerpoint/2010/main" val="3670101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0825"/>
            <a:ext cx="10515600" cy="663575"/>
          </a:xfrm>
        </p:spPr>
        <p:txBody>
          <a:bodyPr>
            <a:normAutofit/>
          </a:bodyPr>
          <a:lstStyle/>
          <a:p>
            <a:r>
              <a:rPr lang="en-US" sz="3600" b="1" dirty="0">
                <a:solidFill>
                  <a:schemeClr val="accent5">
                    <a:lumMod val="50000"/>
                  </a:schemeClr>
                </a:solidFill>
              </a:rPr>
              <a:t>Speaking appropriately </a:t>
            </a:r>
          </a:p>
        </p:txBody>
      </p:sp>
      <p:sp>
        <p:nvSpPr>
          <p:cNvPr id="5" name="Content Placeholder 2"/>
          <p:cNvSpPr txBox="1">
            <a:spLocks/>
          </p:cNvSpPr>
          <p:nvPr/>
        </p:nvSpPr>
        <p:spPr>
          <a:xfrm>
            <a:off x="247650" y="952500"/>
            <a:ext cx="11944350" cy="59055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4"/>
            </a:pPr>
            <a:r>
              <a:rPr lang="en-US" b="1" dirty="0"/>
              <a:t>Linguistic Sensitivity</a:t>
            </a:r>
          </a:p>
          <a:p>
            <a:pPr marL="0" indent="0">
              <a:buNone/>
            </a:pPr>
            <a:r>
              <a:rPr lang="en-US" dirty="0"/>
              <a:t>choosing words that show respectfulness to others and avoiding potentially offensive language </a:t>
            </a:r>
          </a:p>
          <a:p>
            <a:pPr lvl="1"/>
            <a:r>
              <a:rPr lang="en-US" b="1" dirty="0"/>
              <a:t>generic language </a:t>
            </a:r>
          </a:p>
          <a:p>
            <a:pPr lvl="1"/>
            <a:r>
              <a:rPr lang="en-US" dirty="0"/>
              <a:t>Using words that apply to one co-cultural group as though they represent everyone </a:t>
            </a:r>
          </a:p>
          <a:p>
            <a:pPr lvl="1"/>
            <a:r>
              <a:rPr lang="en-US" b="1" dirty="0"/>
              <a:t>nonparallel language </a:t>
            </a:r>
          </a:p>
          <a:p>
            <a:pPr lvl="1"/>
            <a:r>
              <a:rPr lang="en-US" dirty="0"/>
              <a:t>words that are changed because of the sex, race, or other group characteristics individual</a:t>
            </a:r>
          </a:p>
          <a:p>
            <a:pPr lvl="1"/>
            <a:r>
              <a:rPr lang="en-US" b="1" dirty="0"/>
              <a:t>Offensive humor </a:t>
            </a:r>
          </a:p>
          <a:p>
            <a:pPr lvl="1"/>
            <a:r>
              <a:rPr lang="en-US" b="1" dirty="0"/>
              <a:t>Profanity and vulgarity</a:t>
            </a:r>
          </a:p>
          <a:p>
            <a:pPr marL="514350" indent="-514350">
              <a:buFont typeface="+mj-lt"/>
              <a:buAutoNum type="arabicPeriod" startAt="5"/>
            </a:pPr>
            <a:r>
              <a:rPr lang="en-US" b="1" dirty="0"/>
              <a:t>Cultural Diversity</a:t>
            </a:r>
          </a:p>
          <a:p>
            <a:pPr marL="0" indent="0">
              <a:buNone/>
            </a:pPr>
            <a:r>
              <a:rPr lang="en-US" dirty="0"/>
              <a:t>Language rules and expectations vary from culture to culture. When address an audience comprised of people from cultural and co-cultural groups different from your own, make extra effort to ensure that you are being understood. </a:t>
            </a:r>
            <a:endParaRPr lang="en-US" b="1" dirty="0"/>
          </a:p>
        </p:txBody>
      </p:sp>
    </p:spTree>
    <p:extLst>
      <p:ext uri="{BB962C8B-B14F-4D97-AF65-F5344CB8AC3E}">
        <p14:creationId xmlns:p14="http://schemas.microsoft.com/office/powerpoint/2010/main" val="557080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1050" y="155575"/>
            <a:ext cx="10515600" cy="854075"/>
          </a:xfrm>
        </p:spPr>
        <p:txBody>
          <a:bodyPr>
            <a:normAutofit/>
          </a:bodyPr>
          <a:lstStyle/>
          <a:p>
            <a:pPr lvl="1" algn="ctr" rtl="0">
              <a:spcBef>
                <a:spcPct val="0"/>
              </a:spcBef>
            </a:pPr>
            <a:r>
              <a:rPr lang="en-US" sz="3200" dirty="0">
                <a:solidFill>
                  <a:schemeClr val="accent5">
                    <a:lumMod val="50000"/>
                  </a:schemeClr>
                </a:solidFill>
                <a:latin typeface="+mn-lt"/>
              </a:rPr>
              <a:t>Speaking Clearly </a:t>
            </a:r>
            <a:endParaRPr lang="en-US" sz="2400" dirty="0">
              <a:solidFill>
                <a:schemeClr val="accent5">
                  <a:lumMod val="50000"/>
                </a:schemeClr>
              </a:solidFill>
              <a:latin typeface="+mn-lt"/>
            </a:endParaRPr>
          </a:p>
        </p:txBody>
      </p:sp>
      <p:sp>
        <p:nvSpPr>
          <p:cNvPr id="3" name="Content Placeholder 2"/>
          <p:cNvSpPr>
            <a:spLocks noGrp="1"/>
          </p:cNvSpPr>
          <p:nvPr>
            <p:ph idx="1"/>
          </p:nvPr>
        </p:nvSpPr>
        <p:spPr>
          <a:xfrm>
            <a:off x="40890" y="1018011"/>
            <a:ext cx="12370420" cy="5962650"/>
          </a:xfrm>
        </p:spPr>
        <p:txBody>
          <a:bodyPr>
            <a:normAutofit lnSpcReduction="10000"/>
          </a:bodyPr>
          <a:lstStyle/>
          <a:p>
            <a:pPr marL="0" indent="0">
              <a:buNone/>
            </a:pPr>
            <a:r>
              <a:rPr lang="en-US" b="1" dirty="0">
                <a:solidFill>
                  <a:schemeClr val="accent5">
                    <a:lumMod val="50000"/>
                  </a:schemeClr>
                </a:solidFill>
              </a:rPr>
              <a:t>C</a:t>
            </a:r>
            <a:r>
              <a:rPr lang="en-US" b="1" dirty="0">
                <a:solidFill>
                  <a:schemeClr val="accent5">
                    <a:lumMod val="50000"/>
                  </a:schemeClr>
                </a:solidFill>
                <a:latin typeface="+mn-lt"/>
              </a:rPr>
              <a:t>hoosing clear language </a:t>
            </a:r>
            <a:r>
              <a:rPr lang="en-US" dirty="0">
                <a:solidFill>
                  <a:schemeClr val="accent5">
                    <a:lumMod val="50000"/>
                  </a:schemeClr>
                </a:solidFill>
              </a:rPr>
              <a:t>ensure listeners understand the intended meaning clearly</a:t>
            </a:r>
          </a:p>
          <a:p>
            <a:r>
              <a:rPr lang="en-US" b="1" dirty="0"/>
              <a:t>Use Specific Language</a:t>
            </a:r>
          </a:p>
          <a:p>
            <a:pPr lvl="1"/>
            <a:r>
              <a:rPr lang="en-US" dirty="0"/>
              <a:t>using precise words that clarify meaning by narrowing what is understood from a general category to a particular item or group within that category</a:t>
            </a:r>
            <a:endParaRPr lang="en-US" b="1" dirty="0"/>
          </a:p>
          <a:p>
            <a:r>
              <a:rPr lang="en-US" b="1" dirty="0"/>
              <a:t>Choose Familiar Terms</a:t>
            </a:r>
          </a:p>
          <a:p>
            <a:pPr lvl="1"/>
            <a:r>
              <a:rPr lang="en-US" b="1" dirty="0"/>
              <a:t>jargon</a:t>
            </a:r>
          </a:p>
          <a:p>
            <a:pPr lvl="2"/>
            <a:r>
              <a:rPr lang="en-US" sz="2400" i="1" dirty="0"/>
              <a:t>the unique technical terminology of a trade or profession.</a:t>
            </a:r>
          </a:p>
          <a:p>
            <a:pPr lvl="1"/>
            <a:r>
              <a:rPr lang="en-US" b="1" dirty="0"/>
              <a:t>slang</a:t>
            </a:r>
          </a:p>
          <a:p>
            <a:pPr lvl="2"/>
            <a:r>
              <a:rPr lang="en-US" sz="2400" i="1" dirty="0"/>
              <a:t>informal, nonstandard vocabulary and definitions assigned to words by a social group or subculture.</a:t>
            </a:r>
          </a:p>
          <a:p>
            <a:pPr lvl="1"/>
            <a:r>
              <a:rPr lang="en-US" b="1" i="1" dirty="0"/>
              <a:t>Provide Details and Examples</a:t>
            </a:r>
          </a:p>
          <a:p>
            <a:r>
              <a:rPr lang="en-US" b="1" dirty="0"/>
              <a:t>Limit Vocalized Pauses</a:t>
            </a:r>
          </a:p>
          <a:p>
            <a:pPr lvl="1"/>
            <a:r>
              <a:rPr lang="en-US" dirty="0"/>
              <a:t>unnecessary words interjected into sentences to fill moments of silence. Words commonly used for this purpose are “like,” “you know,” “really,” and “basically,” as well as “um” and “uh.”</a:t>
            </a:r>
            <a:endParaRPr lang="en-US" b="1" i="1" dirty="0"/>
          </a:p>
        </p:txBody>
      </p:sp>
    </p:spTree>
    <p:extLst>
      <p:ext uri="{BB962C8B-B14F-4D97-AF65-F5344CB8AC3E}">
        <p14:creationId xmlns:p14="http://schemas.microsoft.com/office/powerpoint/2010/main" val="4090574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Autofit/>
          </a:bodyPr>
          <a:lstStyle/>
          <a:p>
            <a:r>
              <a:rPr lang="en-US" sz="3600" b="1" dirty="0">
                <a:solidFill>
                  <a:schemeClr val="accent5">
                    <a:lumMod val="50000"/>
                  </a:schemeClr>
                </a:solidFill>
              </a:rPr>
              <a:t>Adapting to Your Audience Visually</a:t>
            </a:r>
          </a:p>
        </p:txBody>
      </p:sp>
      <p:sp>
        <p:nvSpPr>
          <p:cNvPr id="3" name="Content Placeholder 2"/>
          <p:cNvSpPr>
            <a:spLocks noGrp="1"/>
          </p:cNvSpPr>
          <p:nvPr>
            <p:ph idx="1"/>
          </p:nvPr>
        </p:nvSpPr>
        <p:spPr>
          <a:xfrm>
            <a:off x="400050" y="1143001"/>
            <a:ext cx="11372850" cy="5486399"/>
          </a:xfrm>
        </p:spPr>
        <p:txBody>
          <a:bodyPr>
            <a:normAutofit lnSpcReduction="10000"/>
          </a:bodyPr>
          <a:lstStyle/>
          <a:p>
            <a:pPr marL="514350" indent="-514350">
              <a:buFont typeface="+mj-lt"/>
              <a:buAutoNum type="arabicPeriod"/>
            </a:pPr>
            <a:r>
              <a:rPr lang="en-US" dirty="0"/>
              <a:t>Limit the reading required of the audience. </a:t>
            </a:r>
          </a:p>
          <a:p>
            <a:pPr marL="514350" indent="-514350">
              <a:buFont typeface="+mj-lt"/>
              <a:buAutoNum type="arabicPeriod"/>
            </a:pPr>
            <a:r>
              <a:rPr lang="en-US" dirty="0"/>
              <a:t>Customize presentational aids from other sources. </a:t>
            </a:r>
          </a:p>
          <a:p>
            <a:pPr marL="514350" indent="-514350">
              <a:buFont typeface="+mj-lt"/>
              <a:buAutoNum type="arabicPeriod"/>
            </a:pPr>
            <a:r>
              <a:rPr lang="en-US" dirty="0"/>
              <a:t>Use a photo, print, or type size that can be seen easily by your entire audience.</a:t>
            </a:r>
          </a:p>
          <a:p>
            <a:pPr marL="514350" indent="-514350">
              <a:buFont typeface="+mj-lt"/>
              <a:buAutoNum type="arabicPeriod"/>
            </a:pPr>
            <a:r>
              <a:rPr lang="en-US" dirty="0"/>
              <a:t>Use a print style that is easy to read. </a:t>
            </a:r>
          </a:p>
          <a:p>
            <a:pPr marL="514350" indent="-514350">
              <a:buFont typeface="+mj-lt"/>
              <a:buAutoNum type="arabicPeriod"/>
            </a:pPr>
            <a:r>
              <a:rPr lang="en-US" dirty="0"/>
              <a:t>Make sure information is laid out in a way that is visually pleasing. </a:t>
            </a:r>
          </a:p>
          <a:p>
            <a:pPr marL="514350" indent="-514350">
              <a:buFont typeface="+mj-lt"/>
              <a:buAutoNum type="arabicPeriod"/>
            </a:pPr>
            <a:r>
              <a:rPr lang="en-US" dirty="0"/>
              <a:t>Use pictures or other visual symbols to add interest. </a:t>
            </a:r>
          </a:p>
          <a:p>
            <a:pPr marL="514350" indent="-514350">
              <a:buFont typeface="+mj-lt"/>
              <a:buAutoNum type="arabicPeriod"/>
            </a:pPr>
            <a:r>
              <a:rPr lang="en-US" dirty="0"/>
              <a:t>Use color strategically.</a:t>
            </a:r>
          </a:p>
          <a:p>
            <a:pPr marL="514350" indent="-514350">
              <a:buFont typeface="+mj-lt"/>
              <a:buAutoNum type="arabicPeriod"/>
            </a:pPr>
            <a:r>
              <a:rPr lang="en-US" dirty="0"/>
              <a:t>Use presentation software to prepare professional looking presentational aids.</a:t>
            </a:r>
          </a:p>
          <a:p>
            <a:pPr lvl="1"/>
            <a:r>
              <a:rPr lang="en-US" b="1" dirty="0"/>
              <a:t>Microsoft’s </a:t>
            </a:r>
            <a:r>
              <a:rPr lang="en-US" b="1" i="1" dirty="0"/>
              <a:t>PowerPoin</a:t>
            </a:r>
            <a:r>
              <a:rPr lang="en-US" b="1" dirty="0"/>
              <a:t>t,</a:t>
            </a:r>
          </a:p>
          <a:p>
            <a:pPr lvl="1"/>
            <a:r>
              <a:rPr lang="en-US" b="1" dirty="0"/>
              <a:t>Adobe’s </a:t>
            </a:r>
            <a:r>
              <a:rPr lang="en-US" b="1" i="1" dirty="0"/>
              <a:t>Captivate</a:t>
            </a:r>
            <a:endParaRPr lang="en-US" b="1" dirty="0"/>
          </a:p>
          <a:p>
            <a:pPr lvl="1"/>
            <a:r>
              <a:rPr lang="en-US" b="1" dirty="0"/>
              <a:t>Apple’s </a:t>
            </a:r>
            <a:r>
              <a:rPr lang="en-US" b="1" i="1" dirty="0"/>
              <a:t>Keynote 3</a:t>
            </a:r>
            <a:r>
              <a:rPr lang="en-US" b="1" dirty="0"/>
              <a:t> </a:t>
            </a:r>
          </a:p>
        </p:txBody>
      </p:sp>
    </p:spTree>
    <p:extLst>
      <p:ext uri="{BB962C8B-B14F-4D97-AF65-F5344CB8AC3E}">
        <p14:creationId xmlns:p14="http://schemas.microsoft.com/office/powerpoint/2010/main" val="3058921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57014-8693-7B30-4B12-886AE2DBE21E}"/>
              </a:ext>
            </a:extLst>
          </p:cNvPr>
          <p:cNvSpPr>
            <a:spLocks noGrp="1"/>
          </p:cNvSpPr>
          <p:nvPr>
            <p:ph type="title"/>
          </p:nvPr>
        </p:nvSpPr>
        <p:spPr>
          <a:xfrm>
            <a:off x="748990" y="681037"/>
            <a:ext cx="11049000" cy="705392"/>
          </a:xfrm>
        </p:spPr>
        <p:txBody>
          <a:bodyPr>
            <a:normAutofit fontScale="90000"/>
          </a:bodyPr>
          <a:lstStyle/>
          <a:p>
            <a:r>
              <a:rPr lang="en-US" sz="3100" b="1" dirty="0"/>
              <a:t>In-class Activity:</a:t>
            </a:r>
            <a:r>
              <a:rPr lang="en-US" sz="3100" dirty="0"/>
              <a:t> Identify errors on the following slide and suggest revisions</a:t>
            </a:r>
            <a:endParaRPr lang="en-US" dirty="0"/>
          </a:p>
        </p:txBody>
      </p:sp>
      <p:sp>
        <p:nvSpPr>
          <p:cNvPr id="3" name="Content Placeholder 2">
            <a:extLst>
              <a:ext uri="{FF2B5EF4-FFF2-40B4-BE49-F238E27FC236}">
                <a16:creationId xmlns:a16="http://schemas.microsoft.com/office/drawing/2014/main" id="{D56F4B8B-9C30-C7F9-2B7F-753287ECFB53}"/>
              </a:ext>
            </a:extLst>
          </p:cNvPr>
          <p:cNvSpPr>
            <a:spLocks noGrp="1"/>
          </p:cNvSpPr>
          <p:nvPr>
            <p:ph idx="1"/>
          </p:nvPr>
        </p:nvSpPr>
        <p:spPr>
          <a:xfrm>
            <a:off x="838200" y="1502239"/>
            <a:ext cx="10515600" cy="4351338"/>
          </a:xfrm>
        </p:spPr>
        <p:txBody>
          <a:bodyPr/>
          <a:lstStyle/>
          <a:p>
            <a:r>
              <a:rPr lang="en-US" dirty="0"/>
              <a:t>Not graded</a:t>
            </a:r>
          </a:p>
          <a:p>
            <a:r>
              <a:rPr lang="en-US" dirty="0"/>
              <a:t>CLO-1</a:t>
            </a:r>
          </a:p>
          <a:p>
            <a:r>
              <a:rPr lang="en-US" dirty="0"/>
              <a:t>Discussion and feedback only</a:t>
            </a:r>
          </a:p>
        </p:txBody>
      </p:sp>
    </p:spTree>
    <p:extLst>
      <p:ext uri="{BB962C8B-B14F-4D97-AF65-F5344CB8AC3E}">
        <p14:creationId xmlns:p14="http://schemas.microsoft.com/office/powerpoint/2010/main" val="641940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55500">
              <a:schemeClr val="accent2">
                <a:lumMod val="75000"/>
              </a:schemeClr>
            </a:gs>
            <a:gs pos="37000">
              <a:srgbClr val="D6E6F5"/>
            </a:gs>
            <a:gs pos="0">
              <a:srgbClr val="7030A0"/>
            </a:gs>
            <a:gs pos="74000">
              <a:schemeClr val="accent1">
                <a:lumMod val="45000"/>
                <a:lumOff val="55000"/>
              </a:schemeClr>
            </a:gs>
            <a:gs pos="83000">
              <a:schemeClr val="accent6">
                <a:lumMod val="60000"/>
                <a:lumOff val="4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0" y="0"/>
            <a:ext cx="2495550" cy="1838325"/>
          </a:xfrm>
          <a:prstGeom prst="rect">
            <a:avLst/>
          </a:prstGeom>
        </p:spPr>
      </p:pic>
      <p:sp>
        <p:nvSpPr>
          <p:cNvPr id="2" name="Title 1"/>
          <p:cNvSpPr>
            <a:spLocks noGrp="1"/>
          </p:cNvSpPr>
          <p:nvPr>
            <p:ph type="title"/>
          </p:nvPr>
        </p:nvSpPr>
        <p:spPr>
          <a:xfrm>
            <a:off x="2800350" y="365125"/>
            <a:ext cx="8553450" cy="1196975"/>
          </a:xfrm>
        </p:spPr>
        <p:txBody>
          <a:bodyPr/>
          <a:lstStyle/>
          <a:p>
            <a:r>
              <a:rPr lang="en-US" dirty="0"/>
              <a:t>What is recycling ?</a:t>
            </a:r>
          </a:p>
        </p:txBody>
      </p:sp>
      <p:sp>
        <p:nvSpPr>
          <p:cNvPr id="3" name="Content Placeholder 2"/>
          <p:cNvSpPr>
            <a:spLocks noGrp="1"/>
          </p:cNvSpPr>
          <p:nvPr>
            <p:ph idx="1"/>
          </p:nvPr>
        </p:nvSpPr>
        <p:spPr>
          <a:xfrm>
            <a:off x="2266950" y="1349374"/>
            <a:ext cx="7524750" cy="5508625"/>
          </a:xfrm>
        </p:spPr>
        <p:txBody>
          <a:bodyPr>
            <a:normAutofit/>
          </a:bodyPr>
          <a:lstStyle/>
          <a:p>
            <a:r>
              <a:rPr lang="en-US" dirty="0"/>
              <a:t>RECYCLING- Is when you put things like </a:t>
            </a:r>
            <a:r>
              <a:rPr lang="en-US" dirty="0" err="1"/>
              <a:t>glass,plastic,paper</a:t>
            </a:r>
            <a:r>
              <a:rPr lang="en-US" dirty="0"/>
              <a:t>/cardboard into </a:t>
            </a:r>
            <a:r>
              <a:rPr lang="en-US" dirty="0" err="1"/>
              <a:t>diferent</a:t>
            </a:r>
            <a:r>
              <a:rPr lang="en-US" dirty="0"/>
              <a:t> </a:t>
            </a:r>
            <a:r>
              <a:rPr lang="en-US" dirty="0" err="1"/>
              <a:t>coloured</a:t>
            </a:r>
            <a:r>
              <a:rPr lang="en-US" dirty="0"/>
              <a:t> bins to be turned into something new </a:t>
            </a:r>
            <a:r>
              <a:rPr lang="en-US" dirty="0" err="1"/>
              <a:t>eg</a:t>
            </a:r>
            <a:r>
              <a:rPr lang="en-US" dirty="0"/>
              <a:t>. </a:t>
            </a:r>
            <a:r>
              <a:rPr lang="en-US" sz="2000" dirty="0">
                <a:latin typeface="Bauhaus 93" panose="04030905020B02020C02" pitchFamily="82" charset="0"/>
              </a:rPr>
              <a:t>Cardboard can be turned into a new cereal box. </a:t>
            </a:r>
            <a:r>
              <a:rPr lang="en-US" dirty="0"/>
              <a:t>• Up to 60% of the rubbish that ends up in the bin could be recycled, the unreleased energy in a dustbin could power a television for 5,000 </a:t>
            </a:r>
            <a:r>
              <a:rPr lang="en-US" dirty="0" err="1"/>
              <a:t>huors</a:t>
            </a:r>
            <a:r>
              <a:rPr lang="en-US" dirty="0"/>
              <a:t>. • </a:t>
            </a:r>
            <a:r>
              <a:rPr lang="en-US" sz="2400" b="1" dirty="0">
                <a:latin typeface="Bradley Hand ITC" panose="03070402050302030203" pitchFamily="66" charset="0"/>
              </a:rPr>
              <a:t>The largest lake in the UK can be filed with rubbish in only 8 months, on average 16% of the money you spend on a product pays for the packaging which ends up being rubbish anyway but it could be recycled </a:t>
            </a:r>
            <a:r>
              <a:rPr lang="en-US" dirty="0"/>
              <a:t>• Many people would recycle if it was easier because the recycling bins for glass plastic paper/cardboard can be far away.</a:t>
            </a:r>
          </a:p>
        </p:txBody>
      </p:sp>
      <p:pic>
        <p:nvPicPr>
          <p:cNvPr id="5" name="Picture 4"/>
          <p:cNvPicPr>
            <a:picLocks noChangeAspect="1"/>
          </p:cNvPicPr>
          <p:nvPr/>
        </p:nvPicPr>
        <p:blipFill>
          <a:blip r:embed="rId4"/>
          <a:stretch>
            <a:fillRect/>
          </a:stretch>
        </p:blipFill>
        <p:spPr>
          <a:xfrm>
            <a:off x="9010650" y="5076444"/>
            <a:ext cx="3181350" cy="1781556"/>
          </a:xfrm>
          <a:prstGeom prst="rect">
            <a:avLst/>
          </a:prstGeom>
        </p:spPr>
      </p:pic>
      <p:pic>
        <p:nvPicPr>
          <p:cNvPr id="6" name="Picture 5"/>
          <p:cNvPicPr>
            <a:picLocks noChangeAspect="1"/>
          </p:cNvPicPr>
          <p:nvPr/>
        </p:nvPicPr>
        <p:blipFill>
          <a:blip r:embed="rId5"/>
          <a:stretch>
            <a:fillRect/>
          </a:stretch>
        </p:blipFill>
        <p:spPr>
          <a:xfrm>
            <a:off x="10086975" y="0"/>
            <a:ext cx="2105025" cy="2171700"/>
          </a:xfrm>
          <a:prstGeom prst="rect">
            <a:avLst/>
          </a:prstGeom>
        </p:spPr>
      </p:pic>
      <p:pic>
        <p:nvPicPr>
          <p:cNvPr id="8" name="Picture 7"/>
          <p:cNvPicPr>
            <a:picLocks noChangeAspect="1"/>
          </p:cNvPicPr>
          <p:nvPr/>
        </p:nvPicPr>
        <p:blipFill>
          <a:blip r:embed="rId6"/>
          <a:stretch>
            <a:fillRect/>
          </a:stretch>
        </p:blipFill>
        <p:spPr>
          <a:xfrm>
            <a:off x="0" y="4738687"/>
            <a:ext cx="2275576" cy="2119313"/>
          </a:xfrm>
          <a:prstGeom prst="rect">
            <a:avLst/>
          </a:prstGeom>
        </p:spPr>
      </p:pic>
      <p:pic>
        <p:nvPicPr>
          <p:cNvPr id="9" name="Picture 8"/>
          <p:cNvPicPr>
            <a:picLocks noChangeAspect="1"/>
          </p:cNvPicPr>
          <p:nvPr/>
        </p:nvPicPr>
        <p:blipFill>
          <a:blip r:embed="rId7"/>
          <a:stretch>
            <a:fillRect/>
          </a:stretch>
        </p:blipFill>
        <p:spPr>
          <a:xfrm>
            <a:off x="204787" y="2224087"/>
            <a:ext cx="2028825" cy="2257425"/>
          </a:xfrm>
          <a:prstGeom prst="rect">
            <a:avLst/>
          </a:prstGeom>
        </p:spPr>
      </p:pic>
    </p:spTree>
    <p:extLst>
      <p:ext uri="{BB962C8B-B14F-4D97-AF65-F5344CB8AC3E}">
        <p14:creationId xmlns:p14="http://schemas.microsoft.com/office/powerpoint/2010/main" val="455391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TotalTime>
  <Words>1495</Words>
  <Application>Microsoft Office PowerPoint</Application>
  <PresentationFormat>Widescreen</PresentationFormat>
  <Paragraphs>172</Paragraphs>
  <Slides>15</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Algerian</vt:lpstr>
      <vt:lpstr>Arial</vt:lpstr>
      <vt:lpstr>Bauhaus 93</vt:lpstr>
      <vt:lpstr>Bradley Hand ITC</vt:lpstr>
      <vt:lpstr>Calibri</vt:lpstr>
      <vt:lpstr>Calibri Light</vt:lpstr>
      <vt:lpstr>Office Theme</vt:lpstr>
      <vt:lpstr>    Adapting Verbally and Visually Presentational Aids  Language &amp; Oral Style  Spring 2025 EE Comm. Skills (SS-2010) Week 3.1</vt:lpstr>
      <vt:lpstr>Overview</vt:lpstr>
      <vt:lpstr>Planning</vt:lpstr>
      <vt:lpstr>PowerPoint Presentation</vt:lpstr>
      <vt:lpstr>Presentational aids </vt:lpstr>
      <vt:lpstr>Types of Presentational Aids</vt:lpstr>
      <vt:lpstr>Preparation of Presentational Aids</vt:lpstr>
      <vt:lpstr>Text Guidelines</vt:lpstr>
      <vt:lpstr>Practice Oral Language and Delivery Style</vt:lpstr>
      <vt:lpstr>Speaking appropriately </vt:lpstr>
      <vt:lpstr>Speaking appropriately </vt:lpstr>
      <vt:lpstr>Speaking Clearly </vt:lpstr>
      <vt:lpstr>Adapting to Your Audience Visually</vt:lpstr>
      <vt:lpstr>In-class Activity: Identify errors on the following slide and suggest revisions</vt:lpstr>
      <vt:lpstr>What is recycling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Zahida</dc:creator>
  <cp:lastModifiedBy>Mr.Muhammad Zulfiqar Ali</cp:lastModifiedBy>
  <cp:revision>44</cp:revision>
  <dcterms:created xsi:type="dcterms:W3CDTF">2022-02-19T11:23:54Z</dcterms:created>
  <dcterms:modified xsi:type="dcterms:W3CDTF">2025-02-11T06:41:54Z</dcterms:modified>
</cp:coreProperties>
</file>