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Muhammad Zulfiqar Ali" userId="c4b4daea-c3cd-4a1b-ae38-2a74107589dc" providerId="ADAL" clId="{1E210000-0B9F-4512-AEA3-F4317EBE0069}"/>
    <pc:docChg chg="undo custSel modSld">
      <pc:chgData name="Mr.Muhammad Zulfiqar Ali" userId="c4b4daea-c3cd-4a1b-ae38-2a74107589dc" providerId="ADAL" clId="{1E210000-0B9F-4512-AEA3-F4317EBE0069}" dt="2024-02-06T07:23:52.067" v="49" actId="20577"/>
      <pc:docMkLst>
        <pc:docMk/>
      </pc:docMkLst>
      <pc:sldChg chg="modSp mod">
        <pc:chgData name="Mr.Muhammad Zulfiqar Ali" userId="c4b4daea-c3cd-4a1b-ae38-2a74107589dc" providerId="ADAL" clId="{1E210000-0B9F-4512-AEA3-F4317EBE0069}" dt="2024-02-06T06:59:01.868" v="0" actId="20577"/>
        <pc:sldMkLst>
          <pc:docMk/>
          <pc:sldMk cId="0" sldId="260"/>
        </pc:sldMkLst>
        <pc:spChg chg="mod">
          <ac:chgData name="Mr.Muhammad Zulfiqar Ali" userId="c4b4daea-c3cd-4a1b-ae38-2a74107589dc" providerId="ADAL" clId="{1E210000-0B9F-4512-AEA3-F4317EBE0069}" dt="2024-02-06T06:59:01.868" v="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1E210000-0B9F-4512-AEA3-F4317EBE0069}" dt="2024-02-06T07:19:16.773" v="39" actId="20577"/>
        <pc:sldMkLst>
          <pc:docMk/>
          <pc:sldMk cId="0" sldId="262"/>
        </pc:sldMkLst>
        <pc:spChg chg="mod">
          <ac:chgData name="Mr.Muhammad Zulfiqar Ali" userId="c4b4daea-c3cd-4a1b-ae38-2a74107589dc" providerId="ADAL" clId="{1E210000-0B9F-4512-AEA3-F4317EBE0069}" dt="2024-02-06T07:19:16.773" v="3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1E210000-0B9F-4512-AEA3-F4317EBE0069}" dt="2024-02-06T07:23:52.067" v="49" actId="20577"/>
        <pc:sldMkLst>
          <pc:docMk/>
          <pc:sldMk cId="0" sldId="264"/>
        </pc:sldMkLst>
        <pc:spChg chg="mod">
          <ac:chgData name="Mr.Muhammad Zulfiqar Ali" userId="c4b4daea-c3cd-4a1b-ae38-2a74107589dc" providerId="ADAL" clId="{1E210000-0B9F-4512-AEA3-F4317EBE0069}" dt="2024-02-06T07:23:52.067" v="49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1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7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6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4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1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1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7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2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2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915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47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4895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39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62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1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C7031-C83C-41C4-9515-17F48D5322D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CA5FD6E-77CF-47C6-AF81-95F58BB294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4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81000"/>
            <a:ext cx="6858000" cy="2387600"/>
          </a:xfrm>
        </p:spPr>
        <p:txBody>
          <a:bodyPr>
            <a:normAutofit fontScale="90000"/>
          </a:bodyPr>
          <a:lstStyle/>
          <a:p>
            <a:r>
              <a:rPr lang="en-US" sz="4800" dirty="0" smtClean="0"/>
              <a:t>Chapter 16</a:t>
            </a:r>
            <a:br>
              <a:rPr lang="en-US" sz="4800" dirty="0" smtClean="0"/>
            </a:br>
            <a:r>
              <a:rPr lang="en-US" b="1" dirty="0" smtClean="0"/>
              <a:t>Informative Speaking</a:t>
            </a:r>
            <a:br>
              <a:rPr lang="en-US" b="1" dirty="0" smtClean="0"/>
            </a:br>
            <a:r>
              <a:rPr lang="en-US" sz="2400" dirty="0" smtClean="0"/>
              <a:t>EE Spring 2025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CLO-3</a:t>
            </a:r>
          </a:p>
          <a:p>
            <a:r>
              <a:rPr lang="en-US" sz="2000" dirty="0" smtClean="0"/>
              <a:t>Wk. 10</a:t>
            </a:r>
          </a:p>
          <a:p>
            <a:r>
              <a:rPr lang="en-US" sz="2000" dirty="0" smtClean="0"/>
              <a:t>24 – 28 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Informative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7500" y="1600200"/>
            <a:ext cx="7104600" cy="3777622"/>
          </a:xfrm>
        </p:spPr>
        <p:txBody>
          <a:bodyPr/>
          <a:lstStyle/>
          <a:p>
            <a:pPr algn="just"/>
            <a:r>
              <a:rPr lang="en-US" sz="2400" dirty="0" smtClean="0"/>
              <a:t>Aimed at explaining </a:t>
            </a:r>
            <a:r>
              <a:rPr lang="en-US" sz="2400" dirty="0"/>
              <a:t>or </a:t>
            </a:r>
            <a:r>
              <a:rPr lang="en-US" sz="2400" dirty="0" smtClean="0"/>
              <a:t>describing </a:t>
            </a:r>
            <a:r>
              <a:rPr lang="en-US" sz="2400" dirty="0"/>
              <a:t>facts, truths and principles in a way that stimulates interests, facilitates understanding and </a:t>
            </a:r>
            <a:r>
              <a:rPr lang="en-US" sz="2400" dirty="0" smtClean="0"/>
              <a:t>increases </a:t>
            </a:r>
            <a:r>
              <a:rPr lang="en-US" sz="2400" dirty="0"/>
              <a:t>the likelihood of </a:t>
            </a:r>
            <a:r>
              <a:rPr lang="en-US" sz="2400" dirty="0" smtClean="0"/>
              <a:t>remembering and recalling.</a:t>
            </a:r>
            <a:endParaRPr lang="en-US" sz="2400" dirty="0"/>
          </a:p>
          <a:p>
            <a:r>
              <a:rPr lang="en-US" sz="2400" dirty="0" smtClean="0"/>
              <a:t>Designed </a:t>
            </a:r>
            <a:r>
              <a:rPr lang="en-US" sz="2400" dirty="0"/>
              <a:t>to educate audience.</a:t>
            </a:r>
          </a:p>
          <a:p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 of Effective Informative Speaking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Effective </a:t>
            </a:r>
            <a:r>
              <a:rPr lang="en-US" sz="2800" dirty="0" smtClean="0"/>
              <a:t>speeches are: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Intellectually stimulating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Relevant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Creative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Memorable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Addressing diverse </a:t>
            </a:r>
            <a:r>
              <a:rPr lang="en-US" sz="2400" dirty="0"/>
              <a:t>learning styles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Intellectually Stimulating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8458200" cy="3777622"/>
          </a:xfrm>
        </p:spPr>
        <p:txBody>
          <a:bodyPr>
            <a:noAutofit/>
          </a:bodyPr>
          <a:lstStyle/>
          <a:p>
            <a:r>
              <a:rPr lang="en-US" sz="2400" dirty="0" smtClean="0"/>
              <a:t>Information/ perspective </a:t>
            </a:r>
            <a:r>
              <a:rPr lang="en-US" sz="2400" dirty="0"/>
              <a:t>that is new to the </a:t>
            </a:r>
            <a:r>
              <a:rPr lang="en-US" sz="2400" dirty="0" smtClean="0"/>
              <a:t>audience</a:t>
            </a:r>
            <a:endParaRPr lang="en-US" sz="2400" dirty="0"/>
          </a:p>
          <a:p>
            <a:r>
              <a:rPr lang="en-US" sz="2400" dirty="0" smtClean="0"/>
              <a:t>Newness catches the audience attention </a:t>
            </a:r>
            <a:endParaRPr lang="en-US" sz="2400" dirty="0"/>
          </a:p>
          <a:p>
            <a:r>
              <a:rPr lang="en-US" sz="2400" dirty="0" smtClean="0"/>
              <a:t>Share the most updated information</a:t>
            </a:r>
            <a:endParaRPr lang="en-US" sz="2400" dirty="0"/>
          </a:p>
          <a:p>
            <a:r>
              <a:rPr lang="en-US" sz="2400" dirty="0"/>
              <a:t>Do consider the depth and breath of the </a:t>
            </a:r>
            <a:r>
              <a:rPr lang="en-US" sz="2400" dirty="0" smtClean="0"/>
              <a:t>topic/info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897368" cy="3777622"/>
          </a:xfrm>
        </p:spPr>
        <p:txBody>
          <a:bodyPr/>
          <a:lstStyle/>
          <a:p>
            <a:r>
              <a:rPr lang="en-US" sz="2400" b="1" i="1" dirty="0" smtClean="0"/>
              <a:t>Remember!! </a:t>
            </a:r>
            <a:r>
              <a:rPr lang="en-US" sz="2400" dirty="0" smtClean="0"/>
              <a:t>Your audience will not realize that the information you provide is relevant to them until you make it relate to their interests.</a:t>
            </a:r>
          </a:p>
          <a:p>
            <a:r>
              <a:rPr lang="en-US" sz="2400" dirty="0" smtClean="0"/>
              <a:t>Incorporate listener relevance links.</a:t>
            </a:r>
          </a:p>
          <a:p>
            <a:r>
              <a:rPr lang="en-US" sz="2400" dirty="0" smtClean="0"/>
              <a:t>Use authentic references.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153399" cy="377762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 </a:t>
            </a:r>
            <a:r>
              <a:rPr lang="en-US" sz="2400" dirty="0"/>
              <a:t>information in a way that yields different information or original ideas and insight.</a:t>
            </a:r>
          </a:p>
          <a:p>
            <a:r>
              <a:rPr lang="en-US" sz="2400" dirty="0"/>
              <a:t>Creativity comes from good research.</a:t>
            </a:r>
          </a:p>
          <a:p>
            <a:r>
              <a:rPr lang="en-US" sz="2400" dirty="0"/>
              <a:t>In creative process you need to think productively.</a:t>
            </a:r>
          </a:p>
          <a:p>
            <a:r>
              <a:rPr lang="en-US" sz="2400" dirty="0"/>
              <a:t>Productive thinking occurs when we contemplate something from a variety of perceptions and perspectives.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76400"/>
            <a:ext cx="7772399" cy="3777622"/>
          </a:xfrm>
        </p:spPr>
        <p:txBody>
          <a:bodyPr>
            <a:normAutofit/>
          </a:bodyPr>
          <a:lstStyle/>
          <a:p>
            <a:r>
              <a:rPr lang="en-US" sz="2400" dirty="0"/>
              <a:t>If your speech is really informative your audience will listen to you.</a:t>
            </a:r>
          </a:p>
          <a:p>
            <a:r>
              <a:rPr lang="en-US" sz="2400" dirty="0"/>
              <a:t>Make sure that your main point is stated in parallel form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Repeat the most important point several times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2080" y="685800"/>
            <a:ext cx="7162800" cy="747490"/>
          </a:xfrm>
        </p:spPr>
        <p:txBody>
          <a:bodyPr>
            <a:normAutofit/>
          </a:bodyPr>
          <a:lstStyle/>
          <a:p>
            <a:r>
              <a:rPr lang="en-US" sz="3200" dirty="0"/>
              <a:t>Address Diverse Learning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112" y="1524000"/>
            <a:ext cx="8247888" cy="3777622"/>
          </a:xfrm>
        </p:spPr>
        <p:txBody>
          <a:bodyPr>
            <a:noAutofit/>
          </a:bodyPr>
          <a:lstStyle/>
          <a:p>
            <a:r>
              <a:rPr lang="en-US" sz="2400" dirty="0"/>
              <a:t>You can teach </a:t>
            </a:r>
            <a:r>
              <a:rPr lang="en-US" sz="2400" dirty="0" smtClean="0"/>
              <a:t>through </a:t>
            </a:r>
            <a:r>
              <a:rPr lang="en-US" sz="2400" dirty="0"/>
              <a:t>different </a:t>
            </a:r>
            <a:r>
              <a:rPr lang="en-US" sz="2400" dirty="0" smtClean="0"/>
              <a:t>methodologies; </a:t>
            </a:r>
            <a:r>
              <a:rPr lang="en-US" sz="2400" dirty="0"/>
              <a:t>including appealing people through the feeling dimensions by providing concrete, vivid images, examples, stories and testimonials.</a:t>
            </a:r>
          </a:p>
          <a:p>
            <a:r>
              <a:rPr lang="en-US" sz="2400" dirty="0"/>
              <a:t>You can ask your speaker/ listener to do something.</a:t>
            </a:r>
          </a:p>
          <a:p>
            <a:r>
              <a:rPr lang="en-US" sz="2400" dirty="0"/>
              <a:t>Make the speech understandable, meaningful and memorable for all.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Informing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447800"/>
            <a:ext cx="6591985" cy="3777622"/>
          </a:xfrm>
        </p:spPr>
        <p:txBody>
          <a:bodyPr/>
          <a:lstStyle/>
          <a:p>
            <a:r>
              <a:rPr lang="en-US" sz="2800" dirty="0"/>
              <a:t>Description</a:t>
            </a:r>
          </a:p>
          <a:p>
            <a:r>
              <a:rPr lang="en-US" sz="2800" dirty="0"/>
              <a:t>Definition</a:t>
            </a:r>
          </a:p>
          <a:p>
            <a:r>
              <a:rPr lang="en-US" sz="2800" dirty="0"/>
              <a:t>Comparison and contrast </a:t>
            </a:r>
          </a:p>
          <a:p>
            <a:r>
              <a:rPr lang="en-US" sz="2800" dirty="0"/>
              <a:t>Narration</a:t>
            </a:r>
          </a:p>
          <a:p>
            <a:r>
              <a:rPr lang="en-US" sz="2800" dirty="0"/>
              <a:t>Demonstration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Informative Speech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6000" y="1981200"/>
            <a:ext cx="7467600" cy="2362200"/>
          </a:xfrm>
        </p:spPr>
        <p:txBody>
          <a:bodyPr>
            <a:normAutofit/>
          </a:bodyPr>
          <a:lstStyle/>
          <a:p>
            <a:r>
              <a:rPr lang="en-US" sz="2400" dirty="0"/>
              <a:t>Process speech framework (demonstration)</a:t>
            </a:r>
          </a:p>
          <a:p>
            <a:r>
              <a:rPr lang="en-US" sz="2400" dirty="0"/>
              <a:t>Expository speech framework (research and depth knowledge)</a:t>
            </a:r>
          </a:p>
          <a:p>
            <a:r>
              <a:rPr lang="en-US" sz="2400" dirty="0" smtClean="0"/>
              <a:t>Must Read Pages 351 – 363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7162</TotalTime>
  <Words>296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Chapter 16 Informative Speaking EE Spring 2025</vt:lpstr>
      <vt:lpstr>Informative Speech</vt:lpstr>
      <vt:lpstr>Characteristics of Effective Informative Speaking</vt:lpstr>
      <vt:lpstr>Intellectually Stimulating </vt:lpstr>
      <vt:lpstr>Relevant </vt:lpstr>
      <vt:lpstr>Creative </vt:lpstr>
      <vt:lpstr>Memorable </vt:lpstr>
      <vt:lpstr>Address Diverse Learning Styles</vt:lpstr>
      <vt:lpstr>Methods of Informing </vt:lpstr>
      <vt:lpstr>Common Informative Speech Framework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Bushra Farzana</dc:creator>
  <cp:lastModifiedBy>Ali</cp:lastModifiedBy>
  <cp:revision>99</cp:revision>
  <dcterms:created xsi:type="dcterms:W3CDTF">2013-11-17T07:20:47Z</dcterms:created>
  <dcterms:modified xsi:type="dcterms:W3CDTF">2025-04-09T12:49:40Z</dcterms:modified>
</cp:coreProperties>
</file>