
<file path=[Content_Types].xml><?xml version="1.0" encoding="utf-8"?>
<Types xmlns="http://schemas.openxmlformats.org/package/2006/content-types">
  <Default Extension="jfif" ContentType="image/jpeg"/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sldIdLst>
    <p:sldId id="256" r:id="rId2"/>
    <p:sldId id="261" r:id="rId3"/>
    <p:sldId id="294" r:id="rId4"/>
    <p:sldId id="290" r:id="rId5"/>
    <p:sldId id="268" r:id="rId6"/>
    <p:sldId id="291" r:id="rId7"/>
    <p:sldId id="292" r:id="rId8"/>
    <p:sldId id="293" r:id="rId9"/>
    <p:sldId id="295" r:id="rId10"/>
    <p:sldId id="296" r:id="rId11"/>
    <p:sldId id="297" r:id="rId12"/>
    <p:sldId id="298" r:id="rId13"/>
    <p:sldId id="257" r:id="rId14"/>
    <p:sldId id="26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73550A-78EA-46BC-97B7-A0F7DDB475AA}" v="11" dt="2024-04-07T11:35:15.3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05" autoAdjust="0"/>
    <p:restoredTop sz="94660"/>
  </p:normalViewPr>
  <p:slideViewPr>
    <p:cSldViewPr snapToGrid="0">
      <p:cViewPr varScale="1">
        <p:scale>
          <a:sx n="83" d="100"/>
          <a:sy n="83" d="100"/>
        </p:scale>
        <p:origin x="80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r.Muhammad Zulfiqar Ali" userId="c4b4daea-c3cd-4a1b-ae38-2a74107589dc" providerId="ADAL" clId="{5673550A-78EA-46BC-97B7-A0F7DDB475AA}"/>
    <pc:docChg chg="custSel modSld">
      <pc:chgData name="Mr.Muhammad Zulfiqar Ali" userId="c4b4daea-c3cd-4a1b-ae38-2a74107589dc" providerId="ADAL" clId="{5673550A-78EA-46BC-97B7-A0F7DDB475AA}" dt="2024-04-07T11:35:15.335" v="145"/>
      <pc:docMkLst>
        <pc:docMk/>
      </pc:docMkLst>
      <pc:sldChg chg="modSp mod">
        <pc:chgData name="Mr.Muhammad Zulfiqar Ali" userId="c4b4daea-c3cd-4a1b-ae38-2a74107589dc" providerId="ADAL" clId="{5673550A-78EA-46BC-97B7-A0F7DDB475AA}" dt="2024-03-28T00:10:37.048" v="118" actId="20577"/>
        <pc:sldMkLst>
          <pc:docMk/>
          <pc:sldMk cId="71137614" sldId="256"/>
        </pc:sldMkLst>
        <pc:spChg chg="mod">
          <ac:chgData name="Mr.Muhammad Zulfiqar Ali" userId="c4b4daea-c3cd-4a1b-ae38-2a74107589dc" providerId="ADAL" clId="{5673550A-78EA-46BC-97B7-A0F7DDB475AA}" dt="2024-03-25T15:54:03.878" v="66" actId="403"/>
          <ac:spMkLst>
            <pc:docMk/>
            <pc:sldMk cId="71137614" sldId="256"/>
            <ac:spMk id="2" creationId="{00000000-0000-0000-0000-000000000000}"/>
          </ac:spMkLst>
        </pc:spChg>
        <pc:spChg chg="mod">
          <ac:chgData name="Mr.Muhammad Zulfiqar Ali" userId="c4b4daea-c3cd-4a1b-ae38-2a74107589dc" providerId="ADAL" clId="{5673550A-78EA-46BC-97B7-A0F7DDB475AA}" dt="2024-03-28T00:10:37.048" v="118" actId="20577"/>
          <ac:spMkLst>
            <pc:docMk/>
            <pc:sldMk cId="71137614" sldId="256"/>
            <ac:spMk id="3" creationId="{00000000-0000-0000-0000-000000000000}"/>
          </ac:spMkLst>
        </pc:spChg>
      </pc:sldChg>
      <pc:sldChg chg="modAnim">
        <pc:chgData name="Mr.Muhammad Zulfiqar Ali" userId="c4b4daea-c3cd-4a1b-ae38-2a74107589dc" providerId="ADAL" clId="{5673550A-78EA-46BC-97B7-A0F7DDB475AA}" dt="2024-04-07T11:35:15.335" v="145"/>
        <pc:sldMkLst>
          <pc:docMk/>
          <pc:sldMk cId="4209097686" sldId="257"/>
        </pc:sldMkLst>
      </pc:sldChg>
      <pc:sldChg chg="modSp mod">
        <pc:chgData name="Mr.Muhammad Zulfiqar Ali" userId="c4b4daea-c3cd-4a1b-ae38-2a74107589dc" providerId="ADAL" clId="{5673550A-78EA-46BC-97B7-A0F7DDB475AA}" dt="2024-03-25T15:56:05.411" v="113" actId="20577"/>
        <pc:sldMkLst>
          <pc:docMk/>
          <pc:sldMk cId="2682811426" sldId="268"/>
        </pc:sldMkLst>
        <pc:spChg chg="mod">
          <ac:chgData name="Mr.Muhammad Zulfiqar Ali" userId="c4b4daea-c3cd-4a1b-ae38-2a74107589dc" providerId="ADAL" clId="{5673550A-78EA-46BC-97B7-A0F7DDB475AA}" dt="2024-03-25T15:56:05.411" v="113" actId="20577"/>
          <ac:spMkLst>
            <pc:docMk/>
            <pc:sldMk cId="2682811426" sldId="268"/>
            <ac:spMk id="2" creationId="{00000000-0000-0000-0000-000000000000}"/>
          </ac:spMkLst>
        </pc:spChg>
        <pc:spChg chg="mod">
          <ac:chgData name="Mr.Muhammad Zulfiqar Ali" userId="c4b4daea-c3cd-4a1b-ae38-2a74107589dc" providerId="ADAL" clId="{5673550A-78EA-46BC-97B7-A0F7DDB475AA}" dt="2024-03-25T15:55:51.772" v="108" actId="1036"/>
          <ac:spMkLst>
            <pc:docMk/>
            <pc:sldMk cId="2682811426" sldId="268"/>
            <ac:spMk id="3" creationId="{00000000-0000-0000-0000-000000000000}"/>
          </ac:spMkLst>
        </pc:spChg>
      </pc:sldChg>
      <pc:sldChg chg="modSp mod">
        <pc:chgData name="Mr.Muhammad Zulfiqar Ali" userId="c4b4daea-c3cd-4a1b-ae38-2a74107589dc" providerId="ADAL" clId="{5673550A-78EA-46BC-97B7-A0F7DDB475AA}" dt="2024-03-25T15:56:41.921" v="115" actId="14100"/>
        <pc:sldMkLst>
          <pc:docMk/>
          <pc:sldMk cId="3747322987" sldId="291"/>
        </pc:sldMkLst>
        <pc:spChg chg="mod">
          <ac:chgData name="Mr.Muhammad Zulfiqar Ali" userId="c4b4daea-c3cd-4a1b-ae38-2a74107589dc" providerId="ADAL" clId="{5673550A-78EA-46BC-97B7-A0F7DDB475AA}" dt="2024-03-25T15:56:41.921" v="115" actId="14100"/>
          <ac:spMkLst>
            <pc:docMk/>
            <pc:sldMk cId="3747322987" sldId="291"/>
            <ac:spMk id="3" creationId="{00000000-0000-0000-0000-000000000000}"/>
          </ac:spMkLst>
        </pc:spChg>
      </pc:sldChg>
      <pc:sldChg chg="modSp mod">
        <pc:chgData name="Mr.Muhammad Zulfiqar Ali" userId="c4b4daea-c3cd-4a1b-ae38-2a74107589dc" providerId="ADAL" clId="{5673550A-78EA-46BC-97B7-A0F7DDB475AA}" dt="2024-03-28T00:11:48.538" v="136" actId="6549"/>
        <pc:sldMkLst>
          <pc:docMk/>
          <pc:sldMk cId="2507822930" sldId="292"/>
        </pc:sldMkLst>
        <pc:spChg chg="mod">
          <ac:chgData name="Mr.Muhammad Zulfiqar Ali" userId="c4b4daea-c3cd-4a1b-ae38-2a74107589dc" providerId="ADAL" clId="{5673550A-78EA-46BC-97B7-A0F7DDB475AA}" dt="2024-03-28T00:11:48.538" v="136" actId="6549"/>
          <ac:spMkLst>
            <pc:docMk/>
            <pc:sldMk cId="2507822930" sldId="292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0C4F1B-74B0-4C1D-9D2B-093A8CAF4F28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9BC72F-C1B8-44FC-840A-863B1AF86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468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9BC72F-C1B8-44FC-840A-863B1AF8672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8605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9BC72F-C1B8-44FC-840A-863B1AF8672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9805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9BC72F-C1B8-44FC-840A-863B1AF8672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2077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9BC72F-C1B8-44FC-840A-863B1AF8672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4675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f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696" y="475488"/>
            <a:ext cx="9833685" cy="2353056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Ch. 8 Communication Skills in Interpersonal Relations</a:t>
            </a:r>
            <a:br>
              <a:rPr lang="en-US" sz="3200" b="1" dirty="0"/>
            </a:br>
            <a:r>
              <a:rPr lang="en-US" sz="2400" dirty="0"/>
              <a:t>Providing Emotional Support, Managing Privacy, Negotiating Conflict</a:t>
            </a:r>
            <a:r>
              <a:rPr lang="en-US" sz="3200" b="1" dirty="0"/>
              <a:t/>
            </a:r>
            <a:br>
              <a:rPr lang="en-US" sz="3200" b="1" dirty="0"/>
            </a:br>
            <a:r>
              <a:rPr lang="en-US" sz="3200" b="1" dirty="0"/>
              <a:t/>
            </a:r>
            <a:br>
              <a:rPr lang="en-US" sz="3200" b="1" dirty="0"/>
            </a:br>
            <a:r>
              <a:rPr lang="en-US" sz="2700" dirty="0"/>
              <a:t>CLO – 04: </a:t>
            </a:r>
            <a:br>
              <a:rPr lang="en-US" sz="2700" dirty="0"/>
            </a:br>
            <a:r>
              <a:rPr lang="en-US" sz="2700" dirty="0"/>
              <a:t>Identify workplace conflict and develop resolution strategies</a:t>
            </a:r>
            <a:endParaRPr lang="en-US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03138" y="4462447"/>
            <a:ext cx="5490024" cy="1044491"/>
          </a:xfrm>
        </p:spPr>
        <p:txBody>
          <a:bodyPr>
            <a:normAutofit/>
          </a:bodyPr>
          <a:lstStyle/>
          <a:p>
            <a:r>
              <a:rPr lang="en-US" dirty="0"/>
              <a:t>EE Communication Skills (SS-2010) Spring </a:t>
            </a:r>
            <a:r>
              <a:rPr lang="en-US" dirty="0" smtClean="0"/>
              <a:t>2025</a:t>
            </a:r>
            <a:endParaRPr lang="en-US" dirty="0"/>
          </a:p>
          <a:p>
            <a:r>
              <a:rPr lang="en-US" dirty="0"/>
              <a:t>Wk. 10.2</a:t>
            </a:r>
          </a:p>
        </p:txBody>
      </p:sp>
    </p:spTree>
    <p:extLst>
      <p:ext uri="{BB962C8B-B14F-4D97-AF65-F5344CB8AC3E}">
        <p14:creationId xmlns:p14="http://schemas.microsoft.com/office/powerpoint/2010/main" val="71137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45642" y="256032"/>
            <a:ext cx="8915399" cy="707828"/>
          </a:xfrm>
        </p:spPr>
        <p:txBody>
          <a:bodyPr>
            <a:normAutofit/>
          </a:bodyPr>
          <a:lstStyle/>
          <a:p>
            <a:r>
              <a:rPr lang="en-US" sz="3200" b="1" dirty="0"/>
              <a:t>Learning Objectives </a:t>
            </a:r>
            <a:r>
              <a:rPr lang="en-US" sz="2400" dirty="0"/>
              <a:t>(CLO - 04)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9744" y="1051638"/>
            <a:ext cx="11192256" cy="448759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/>
              <a:t>Describe Characteristics of Comforting Messages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Apply Disclosure and Privacy Strategies in Relationships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Inspect People Negotiating Needs, Wants, and Preferences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/>
              <a:t>Manage Conflict in Relationships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/>
              <a:t>Estimate Collaborative Approach to </a:t>
            </a:r>
            <a:r>
              <a:rPr lang="en-US" sz="2800" b="1" dirty="0" smtClean="0"/>
              <a:t>Conflicts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02147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09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2525" y="446310"/>
            <a:ext cx="4531775" cy="696690"/>
          </a:xfrm>
        </p:spPr>
        <p:txBody>
          <a:bodyPr/>
          <a:lstStyle/>
          <a:p>
            <a:r>
              <a:rPr lang="en-US" dirty="0"/>
              <a:t>What is Conflict?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1587500"/>
            <a:ext cx="10412412" cy="1371600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An expressed struggle between at least two interdependent parties who perceive incompatible goals, scarce resources, and interference from the other party in achieving their goals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0" y="3403600"/>
            <a:ext cx="10706099" cy="345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380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5638" y="421299"/>
            <a:ext cx="10606362" cy="542953"/>
          </a:xfrm>
        </p:spPr>
        <p:txBody>
          <a:bodyPr>
            <a:normAutofit fontScale="90000"/>
          </a:bodyPr>
          <a:lstStyle/>
          <a:p>
            <a:r>
              <a:rPr lang="en-US" dirty="0"/>
              <a:t>4. Managing Conflict in Relationships</a:t>
            </a:r>
            <a:endParaRPr lang="en-US" sz="1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2285" y="1432148"/>
            <a:ext cx="11631561" cy="4254500"/>
          </a:xfrm>
        </p:spPr>
        <p:txBody>
          <a:bodyPr>
            <a:noAutofit/>
          </a:bodyPr>
          <a:lstStyle/>
          <a:p>
            <a:r>
              <a:rPr lang="en-GB" sz="2750" dirty="0"/>
              <a:t>All relationships inevitably face/ experience conflict</a:t>
            </a:r>
          </a:p>
          <a:p>
            <a:r>
              <a:rPr lang="en-GB" sz="2750" dirty="0"/>
              <a:t>Avoiding a conflict is a good strategy, but fails often</a:t>
            </a:r>
          </a:p>
          <a:p>
            <a:r>
              <a:rPr lang="en-GB" sz="2750" dirty="0"/>
              <a:t>High performance teams view conflict as healthy and productive</a:t>
            </a:r>
          </a:p>
          <a:p>
            <a:r>
              <a:rPr lang="en-GB" sz="2750" dirty="0"/>
              <a:t>Viewing of conflicts is different in different cultures</a:t>
            </a:r>
          </a:p>
          <a:p>
            <a:r>
              <a:rPr lang="en-GB" sz="2750" dirty="0"/>
              <a:t>There are five styles to tackle/ manage conflict</a:t>
            </a:r>
          </a:p>
        </p:txBody>
      </p:sp>
    </p:spTree>
    <p:extLst>
      <p:ext uri="{BB962C8B-B14F-4D97-AF65-F5344CB8AC3E}">
        <p14:creationId xmlns:p14="http://schemas.microsoft.com/office/powerpoint/2010/main" val="2682811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5006" y="344710"/>
            <a:ext cx="8911687" cy="683990"/>
          </a:xfrm>
        </p:spPr>
        <p:txBody>
          <a:bodyPr/>
          <a:lstStyle/>
          <a:p>
            <a:r>
              <a:rPr lang="en-US" dirty="0"/>
              <a:t>Characteristics of Conflict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5239" y="1562100"/>
            <a:ext cx="11326761" cy="3777622"/>
          </a:xfrm>
        </p:spPr>
        <p:txBody>
          <a:bodyPr>
            <a:normAutofit/>
          </a:bodyPr>
          <a:lstStyle/>
          <a:p>
            <a:r>
              <a:rPr lang="en-US" sz="2800" dirty="0"/>
              <a:t>At least two people are required </a:t>
            </a:r>
            <a:r>
              <a:rPr lang="en-US" sz="2800" i="1" dirty="0"/>
              <a:t>(interpersonal)</a:t>
            </a:r>
          </a:p>
          <a:p>
            <a:r>
              <a:rPr lang="en-US" sz="2800" dirty="0"/>
              <a:t>Involves a struggle/ incompatibility/ perceived differences among goals/ values/ desires/ perceptions</a:t>
            </a:r>
          </a:p>
          <a:p>
            <a:r>
              <a:rPr lang="en-US" sz="2800" dirty="0"/>
              <a:t>An action </a:t>
            </a:r>
            <a:r>
              <a:rPr lang="en-US" sz="2800" i="1" dirty="0"/>
              <a:t>(without action, a conflict is latent)</a:t>
            </a:r>
          </a:p>
          <a:p>
            <a:r>
              <a:rPr lang="en-US" sz="2800" dirty="0"/>
              <a:t>Power/ attempts to influence </a:t>
            </a:r>
            <a:r>
              <a:rPr lang="en-US" sz="2800" i="1" dirty="0"/>
              <a:t>(otherwise, it’ll be just a disagreement)</a:t>
            </a:r>
          </a:p>
        </p:txBody>
      </p:sp>
    </p:spTree>
    <p:extLst>
      <p:ext uri="{BB962C8B-B14F-4D97-AF65-F5344CB8AC3E}">
        <p14:creationId xmlns:p14="http://schemas.microsoft.com/office/powerpoint/2010/main" val="3747322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125" y="293910"/>
            <a:ext cx="6068475" cy="607790"/>
          </a:xfrm>
        </p:spPr>
        <p:txBody>
          <a:bodyPr>
            <a:normAutofit fontScale="90000"/>
          </a:bodyPr>
          <a:lstStyle/>
          <a:p>
            <a:r>
              <a:rPr lang="en-US" dirty="0"/>
              <a:t>Views of Conflict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0500" y="1231900"/>
            <a:ext cx="10731500" cy="5626100"/>
          </a:xfrm>
        </p:spPr>
        <p:txBody>
          <a:bodyPr>
            <a:normAutofit/>
          </a:bodyPr>
          <a:lstStyle/>
          <a:p>
            <a:r>
              <a:rPr lang="en-US" sz="2400" b="1" dirty="0"/>
              <a:t>Traditional: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accent1"/>
                </a:solidFill>
              </a:rPr>
              <a:t>all conflicts are harmful – must be avoided</a:t>
            </a:r>
          </a:p>
          <a:p>
            <a:r>
              <a:rPr lang="en-US" sz="2400" b="1" dirty="0"/>
              <a:t>Human Relational: </a:t>
            </a:r>
            <a:r>
              <a:rPr lang="en-US" sz="2400" dirty="0">
                <a:solidFill>
                  <a:schemeClr val="accent1"/>
                </a:solidFill>
              </a:rPr>
              <a:t>conflict is a natural and inevitable outcome in any group</a:t>
            </a:r>
          </a:p>
          <a:p>
            <a:r>
              <a:rPr lang="en-US" sz="2400" b="1" dirty="0"/>
              <a:t>Integrationist: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accent1"/>
                </a:solidFill>
              </a:rPr>
              <a:t>conflict is a positive and an essential component for a team to perform effectively</a:t>
            </a:r>
          </a:p>
          <a:p>
            <a:r>
              <a:rPr lang="en-US" sz="2400" b="1" dirty="0"/>
              <a:t>Functionalist: </a:t>
            </a:r>
            <a:r>
              <a:rPr lang="en-US" sz="2400" dirty="0">
                <a:solidFill>
                  <a:schemeClr val="accent1"/>
                </a:solidFill>
              </a:rPr>
              <a:t>works towards the goals of an organization/ group</a:t>
            </a:r>
          </a:p>
          <a:p>
            <a:pPr lvl="1"/>
            <a:r>
              <a:rPr lang="en-US" sz="2000" dirty="0"/>
              <a:t>Constructive, increases info/ ideas, innovative, reduces stagnation</a:t>
            </a:r>
          </a:p>
          <a:p>
            <a:r>
              <a:rPr lang="en-US" sz="2400" b="1" dirty="0"/>
              <a:t>Dysfunctional: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accent1"/>
                </a:solidFill>
              </a:rPr>
              <a:t>blocks an organization to attain goals</a:t>
            </a:r>
          </a:p>
          <a:p>
            <a:pPr lvl="1"/>
            <a:r>
              <a:rPr lang="en-US" sz="2000" dirty="0"/>
              <a:t>Destructive, reduces trust, reduces info, poor decisions, stressful, low tolerance</a:t>
            </a:r>
          </a:p>
        </p:txBody>
      </p:sp>
    </p:spTree>
    <p:extLst>
      <p:ext uri="{BB962C8B-B14F-4D97-AF65-F5344CB8AC3E}">
        <p14:creationId xmlns:p14="http://schemas.microsoft.com/office/powerpoint/2010/main" val="2507822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5012" y="158178"/>
            <a:ext cx="8911687" cy="672877"/>
          </a:xfrm>
        </p:spPr>
        <p:txBody>
          <a:bodyPr/>
          <a:lstStyle/>
          <a:p>
            <a:r>
              <a:rPr lang="en-US" dirty="0"/>
              <a:t>Conflict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05012" y="999728"/>
            <a:ext cx="9956800" cy="5079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‘the opportunity to improve situations and strengthen relationships’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5012" y="1676401"/>
            <a:ext cx="10186987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544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5725" y="243110"/>
            <a:ext cx="8911687" cy="722090"/>
          </a:xfrm>
        </p:spPr>
        <p:txBody>
          <a:bodyPr/>
          <a:lstStyle/>
          <a:p>
            <a:r>
              <a:rPr lang="en-US" dirty="0"/>
              <a:t>The Five Styles of Conflict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2012" y="1219200"/>
            <a:ext cx="8915400" cy="3777622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US" sz="3600" dirty="0"/>
              <a:t> Withdraw </a:t>
            </a:r>
            <a:r>
              <a:rPr lang="en-US" sz="3600" i="1" dirty="0"/>
              <a:t>(Avoid)</a:t>
            </a:r>
          </a:p>
          <a:p>
            <a:pPr>
              <a:buFont typeface="+mj-lt"/>
              <a:buAutoNum type="arabicPeriod"/>
            </a:pPr>
            <a:r>
              <a:rPr lang="en-US" sz="3600" dirty="0"/>
              <a:t> Accommodate</a:t>
            </a:r>
          </a:p>
          <a:p>
            <a:pPr>
              <a:buFont typeface="+mj-lt"/>
              <a:buAutoNum type="arabicPeriod"/>
            </a:pPr>
            <a:r>
              <a:rPr lang="en-US" sz="3600" dirty="0"/>
              <a:t> Force </a:t>
            </a:r>
            <a:r>
              <a:rPr lang="en-US" sz="3600" i="1" dirty="0"/>
              <a:t>(Compete)</a:t>
            </a:r>
          </a:p>
          <a:p>
            <a:pPr>
              <a:buFont typeface="+mj-lt"/>
              <a:buAutoNum type="arabicPeriod"/>
            </a:pPr>
            <a:r>
              <a:rPr lang="en-US" sz="3600" dirty="0"/>
              <a:t> Compromise</a:t>
            </a:r>
          </a:p>
          <a:p>
            <a:pPr>
              <a:buFont typeface="+mj-lt"/>
              <a:buAutoNum type="arabicPeriod"/>
            </a:pPr>
            <a:r>
              <a:rPr lang="en-US" sz="3600" dirty="0"/>
              <a:t> Collaborate</a:t>
            </a:r>
          </a:p>
        </p:txBody>
      </p:sp>
    </p:spTree>
    <p:extLst>
      <p:ext uri="{BB962C8B-B14F-4D97-AF65-F5344CB8AC3E}">
        <p14:creationId xmlns:p14="http://schemas.microsoft.com/office/powerpoint/2010/main" val="539823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488963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9485" y="212630"/>
            <a:ext cx="8911687" cy="579850"/>
          </a:xfrm>
        </p:spPr>
        <p:txBody>
          <a:bodyPr>
            <a:normAutofit fontScale="90000"/>
          </a:bodyPr>
          <a:lstStyle/>
          <a:p>
            <a:r>
              <a:rPr lang="en-US" dirty="0"/>
              <a:t>Conflict Continuum – In Other Words: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9485" y="914400"/>
            <a:ext cx="8915400" cy="2362200"/>
          </a:xfrm>
        </p:spPr>
        <p:txBody>
          <a:bodyPr>
            <a:noAutofit/>
          </a:bodyPr>
          <a:lstStyle/>
          <a:p>
            <a:r>
              <a:rPr lang="en-US" sz="2800" dirty="0"/>
              <a:t>‘I win, you lose’ </a:t>
            </a:r>
            <a:r>
              <a:rPr lang="en-US" sz="2800" dirty="0">
                <a:solidFill>
                  <a:schemeClr val="accent1"/>
                </a:solidFill>
              </a:rPr>
              <a:t>(Compete)</a:t>
            </a:r>
          </a:p>
          <a:p>
            <a:r>
              <a:rPr lang="en-US" sz="2800" dirty="0"/>
              <a:t>‘I lose or give in’ </a:t>
            </a:r>
            <a:r>
              <a:rPr lang="en-US" sz="2800" dirty="0">
                <a:solidFill>
                  <a:schemeClr val="accent1"/>
                </a:solidFill>
              </a:rPr>
              <a:t>(Accommodate)</a:t>
            </a:r>
          </a:p>
          <a:p>
            <a:r>
              <a:rPr lang="en-US" sz="2800" dirty="0"/>
              <a:t>‘We both get something’ </a:t>
            </a:r>
            <a:r>
              <a:rPr lang="en-US" sz="2800" dirty="0">
                <a:solidFill>
                  <a:schemeClr val="accent1"/>
                </a:solidFill>
              </a:rPr>
              <a:t>(Compromise)</a:t>
            </a:r>
          </a:p>
          <a:p>
            <a:r>
              <a:rPr lang="en-US" sz="2800" dirty="0"/>
              <a:t>‘We both WIN’ </a:t>
            </a:r>
            <a:r>
              <a:rPr lang="en-US" sz="2800" dirty="0">
                <a:solidFill>
                  <a:schemeClr val="accent1"/>
                </a:solidFill>
              </a:rPr>
              <a:t>(Collaborate)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9280" y="3276600"/>
            <a:ext cx="10317480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80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505" y="1234440"/>
            <a:ext cx="11437611" cy="5623560"/>
          </a:xfr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710944" y="287257"/>
            <a:ext cx="9322816" cy="947183"/>
          </a:xfrm>
        </p:spPr>
        <p:txBody>
          <a:bodyPr>
            <a:normAutofit/>
          </a:bodyPr>
          <a:lstStyle/>
          <a:p>
            <a:r>
              <a:rPr lang="en-US" dirty="0"/>
              <a:t>Conflict and the Associated Behaviour</a:t>
            </a: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31746904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1824" y="241537"/>
            <a:ext cx="11034776" cy="542953"/>
          </a:xfrm>
        </p:spPr>
        <p:txBody>
          <a:bodyPr>
            <a:normAutofit/>
          </a:bodyPr>
          <a:lstStyle/>
          <a:p>
            <a:r>
              <a:rPr lang="en-US" sz="2800" dirty="0"/>
              <a:t>5. Estimate Collaborative Approach to Conflicts - Guidelines</a:t>
            </a:r>
            <a:endParaRPr lang="en-US" sz="1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1824" y="1266074"/>
            <a:ext cx="11034776" cy="5561446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b="1" dirty="0"/>
              <a:t>Identify the problem and own it as your own – seek appropriate solutions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b="1" dirty="0"/>
              <a:t>Describe the problem in terms of behaviour, consequences, and feelings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b="1" dirty="0"/>
              <a:t>Don’t evaluate the other person’s motives – refrain from blaming/ accusing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b="1" dirty="0"/>
              <a:t>Find common ground – a resolution could start off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b="1" dirty="0"/>
              <a:t>Mentally rehearse so you can state your request briefly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b="1" dirty="0"/>
              <a:t>Disengage – put a mental shield and avoid defensive response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b="1" dirty="0"/>
              <a:t>Respond empathically and with genuine interest and concern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b="1" dirty="0"/>
              <a:t>Paraphrase your understanding of the problem – ask Qs to clarify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b="1" dirty="0"/>
              <a:t>Ask the other person to suggest alternative solutions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b="1" dirty="0"/>
              <a:t>Individuals should understand their personal triggers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b="1" dirty="0"/>
              <a:t>Groups should consider the dynamics/ factors that may raise conflicts</a:t>
            </a:r>
          </a:p>
        </p:txBody>
      </p:sp>
    </p:spTree>
    <p:extLst>
      <p:ext uri="{BB962C8B-B14F-4D97-AF65-F5344CB8AC3E}">
        <p14:creationId xmlns:p14="http://schemas.microsoft.com/office/powerpoint/2010/main" val="4209097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75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75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75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5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75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75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75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75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75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5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5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5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2925" y="1406769"/>
            <a:ext cx="8915400" cy="3777622"/>
          </a:xfrm>
        </p:spPr>
        <p:txBody>
          <a:bodyPr>
            <a:normAutofit/>
          </a:bodyPr>
          <a:lstStyle/>
          <a:p>
            <a:pPr marL="457200" indent="-457200" algn="just">
              <a:buClr>
                <a:srgbClr val="A50021"/>
              </a:buClr>
              <a:buSzPct val="75000"/>
              <a:buNone/>
            </a:pPr>
            <a:r>
              <a:rPr lang="en-US" dirty="0"/>
              <a:t>1. </a:t>
            </a:r>
            <a:r>
              <a:rPr lang="en-US" dirty="0" err="1"/>
              <a:t>Bovee</a:t>
            </a:r>
            <a:r>
              <a:rPr lang="en-US" dirty="0"/>
              <a:t> &amp; Thill. (2016) </a:t>
            </a:r>
            <a:r>
              <a:rPr lang="en-US" i="1" dirty="0"/>
              <a:t>Business Communication Today 13</a:t>
            </a:r>
            <a:r>
              <a:rPr lang="en-US" i="1" baseline="30000" dirty="0"/>
              <a:t>th</a:t>
            </a:r>
            <a:r>
              <a:rPr lang="en-US" i="1" dirty="0"/>
              <a:t> Ed. </a:t>
            </a:r>
            <a:r>
              <a:rPr lang="en-US" dirty="0"/>
              <a:t>(</a:t>
            </a:r>
            <a:r>
              <a:rPr lang="en-US" sz="1600" dirty="0"/>
              <a:t>Prentice-Hall</a:t>
            </a:r>
            <a:r>
              <a:rPr lang="en-US" dirty="0"/>
              <a:t>)</a:t>
            </a:r>
          </a:p>
          <a:p>
            <a:pPr marL="457200" indent="-457200" algn="just">
              <a:buClr>
                <a:srgbClr val="A50021"/>
              </a:buClr>
              <a:buSzPct val="75000"/>
              <a:buNone/>
            </a:pPr>
            <a:r>
              <a:rPr lang="en-US" dirty="0"/>
              <a:t>2. Kathleen S. </a:t>
            </a:r>
            <a:r>
              <a:rPr lang="en-US" dirty="0" err="1"/>
              <a:t>Verderber</a:t>
            </a:r>
            <a:r>
              <a:rPr lang="en-US" dirty="0"/>
              <a:t>. </a:t>
            </a:r>
            <a:r>
              <a:rPr lang="en-US" i="1" dirty="0"/>
              <a:t>Communicate</a:t>
            </a:r>
            <a:r>
              <a:rPr lang="en-US" dirty="0"/>
              <a:t> </a:t>
            </a:r>
            <a:r>
              <a:rPr lang="en-US" i="1" dirty="0"/>
              <a:t>(13</a:t>
            </a:r>
            <a:r>
              <a:rPr lang="en-US" i="1" baseline="30000" dirty="0"/>
              <a:t>th</a:t>
            </a:r>
            <a:r>
              <a:rPr lang="en-US" i="1" dirty="0"/>
              <a:t> Ed.)</a:t>
            </a:r>
          </a:p>
        </p:txBody>
      </p:sp>
    </p:spTree>
    <p:extLst>
      <p:ext uri="{BB962C8B-B14F-4D97-AF65-F5344CB8AC3E}">
        <p14:creationId xmlns:p14="http://schemas.microsoft.com/office/powerpoint/2010/main" val="94621069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3083</TotalTime>
  <Words>513</Words>
  <Application>Microsoft Office PowerPoint</Application>
  <PresentationFormat>Widescreen</PresentationFormat>
  <Paragraphs>63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Century Gothic</vt:lpstr>
      <vt:lpstr>Wingdings 3</vt:lpstr>
      <vt:lpstr>Wisp</vt:lpstr>
      <vt:lpstr>Ch. 8 Communication Skills in Interpersonal Relations Providing Emotional Support, Managing Privacy, Negotiating Conflict  CLO – 04:  Identify workplace conflict and develop resolution strategies</vt:lpstr>
      <vt:lpstr>Learning Objectives (CLO - 04) </vt:lpstr>
      <vt:lpstr>PowerPoint Presentation</vt:lpstr>
      <vt:lpstr>What is Conflict?</vt:lpstr>
      <vt:lpstr>4. Managing Conflict in Relationships</vt:lpstr>
      <vt:lpstr>Characteristics of Conflict</vt:lpstr>
      <vt:lpstr>Views of Conflict</vt:lpstr>
      <vt:lpstr>Conflict Management</vt:lpstr>
      <vt:lpstr>The Five Styles of Conflict Management</vt:lpstr>
      <vt:lpstr>PowerPoint Presentation</vt:lpstr>
      <vt:lpstr>Conflict Continuum – In Other Words:</vt:lpstr>
      <vt:lpstr>Conflict and the Associated Behaviour</vt:lpstr>
      <vt:lpstr>5. Estimate Collaborative Approach to Conflicts - Guidelines</vt:lpstr>
      <vt:lpstr>References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Communication Skills (SS-123) </dc:title>
  <dc:creator>Microsoft account</dc:creator>
  <cp:lastModifiedBy>Ali</cp:lastModifiedBy>
  <cp:revision>474</cp:revision>
  <dcterms:created xsi:type="dcterms:W3CDTF">2021-03-06T08:10:19Z</dcterms:created>
  <dcterms:modified xsi:type="dcterms:W3CDTF">2025-04-09T12:51:22Z</dcterms:modified>
</cp:coreProperties>
</file>