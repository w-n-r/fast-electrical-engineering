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4630400" cy="8229600"/>
  <p:notesSz cx="8229600" cy="14630400"/>
  <p:embeddedFontLst>
    <p:embeddedFont>
      <p:font typeface="Raleway" panose="020B0604020202020204" charset="0"/>
      <p:regular r:id="rId12"/>
    </p:embeddedFont>
    <p:embeddedFont>
      <p:font typeface="Roboto" panose="020B0604020202020204" charset="0"/>
      <p:regular r:id="rId13"/>
    </p:embeddedFont>
    <p:embeddedFont>
      <p:font typeface="Calibri" panose="020F0502020204030204" pitchFamily="34" charset="0"/>
      <p:regular r:id="rId14"/>
      <p:bold r:id="rId15"/>
      <p:italic r:id="rId16"/>
      <p:boldItalic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2" d="100"/>
          <a:sy n="72" d="100"/>
        </p:scale>
        <p:origin x="523"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496868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6.xml"/><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12" Type="http://schemas.openxmlformats.org/officeDocument/2006/relationships/image" Target="../media/image24.pn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18.png"/><Relationship Id="rId11" Type="http://schemas.openxmlformats.org/officeDocument/2006/relationships/image" Target="../media/image23.png"/><Relationship Id="rId5" Type="http://schemas.openxmlformats.org/officeDocument/2006/relationships/image" Target="../media/image17.png"/><Relationship Id="rId10" Type="http://schemas.openxmlformats.org/officeDocument/2006/relationships/image" Target="../media/image22.png"/><Relationship Id="rId4" Type="http://schemas.openxmlformats.org/officeDocument/2006/relationships/image" Target="../media/image16.png"/><Relationship Id="rId9" Type="http://schemas.openxmlformats.org/officeDocument/2006/relationships/image" Target="../media/image21.png"/></Relationships>
</file>

<file path=ppt/slides/_rels/slide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1772960"/>
            <a:ext cx="7556421" cy="2126337"/>
          </a:xfrm>
          <a:prstGeom prst="rect">
            <a:avLst/>
          </a:prstGeom>
          <a:noFill/>
          <a:ln/>
        </p:spPr>
        <p:txBody>
          <a:bodyPr wrap="square" lIns="0" tIns="0" rIns="0" bIns="0" rtlCol="0" anchor="t"/>
          <a:lstStyle/>
          <a:p>
            <a:pPr marL="0" indent="0">
              <a:lnSpc>
                <a:spcPts val="5550"/>
              </a:lnSpc>
              <a:buNone/>
            </a:pPr>
            <a:r>
              <a:rPr lang="en-US" sz="4450" b="1" dirty="0">
                <a:solidFill>
                  <a:srgbClr val="1B1B27"/>
                </a:solidFill>
                <a:latin typeface="Times New Roman" panose="02020603050405020304" pitchFamily="18" charset="0"/>
                <a:ea typeface="Raleway" pitchFamily="34" charset="-122"/>
                <a:cs typeface="Times New Roman" panose="02020603050405020304" pitchFamily="18" charset="0"/>
              </a:rPr>
              <a:t>Industrial Automation Challenges in Electrical Engineering</a:t>
            </a:r>
            <a:endParaRPr lang="en-US" sz="4450" dirty="0">
              <a:latin typeface="Times New Roman" panose="02020603050405020304" pitchFamily="18" charset="0"/>
              <a:cs typeface="Times New Roman" panose="02020603050405020304" pitchFamily="18" charset="0"/>
            </a:endParaRPr>
          </a:p>
        </p:txBody>
      </p:sp>
      <p:sp>
        <p:nvSpPr>
          <p:cNvPr id="4" name="Text 1"/>
          <p:cNvSpPr/>
          <p:nvPr/>
        </p:nvSpPr>
        <p:spPr>
          <a:xfrm>
            <a:off x="793790" y="4239458"/>
            <a:ext cx="7556421" cy="362903"/>
          </a:xfrm>
          <a:prstGeom prst="rect">
            <a:avLst/>
          </a:prstGeom>
          <a:noFill/>
          <a:ln/>
        </p:spPr>
        <p:txBody>
          <a:bodyPr wrap="none" lIns="0" tIns="0" rIns="0" bIns="0" rtlCol="0" anchor="t"/>
          <a:lstStyle/>
          <a:p>
            <a:pPr marL="0" indent="0" algn="l">
              <a:lnSpc>
                <a:spcPts val="2850"/>
              </a:lnSpc>
              <a:buNone/>
            </a:pPr>
            <a:r>
              <a:rPr lang="en-US" sz="1750" b="1" dirty="0">
                <a:solidFill>
                  <a:srgbClr val="3C3939"/>
                </a:solidFill>
                <a:latin typeface="Times New Roman" panose="02020603050405020304" pitchFamily="18" charset="0"/>
                <a:ea typeface="Roboto" pitchFamily="34" charset="-122"/>
                <a:cs typeface="Times New Roman" panose="02020603050405020304" pitchFamily="18" charset="0"/>
              </a:rPr>
              <a:t>Presented by:</a:t>
            </a:r>
            <a:endParaRPr lang="en-US" sz="1750" dirty="0">
              <a:latin typeface="Times New Roman" panose="02020603050405020304" pitchFamily="18" charset="0"/>
              <a:cs typeface="Times New Roman" panose="02020603050405020304" pitchFamily="18" charset="0"/>
            </a:endParaRPr>
          </a:p>
        </p:txBody>
      </p:sp>
      <p:sp>
        <p:nvSpPr>
          <p:cNvPr id="5" name="Text 2"/>
          <p:cNvSpPr/>
          <p:nvPr/>
        </p:nvSpPr>
        <p:spPr>
          <a:xfrm>
            <a:off x="793790" y="4857512"/>
            <a:ext cx="7556421" cy="362903"/>
          </a:xfrm>
          <a:prstGeom prst="rect">
            <a:avLst/>
          </a:prstGeom>
          <a:noFill/>
          <a:ln/>
        </p:spPr>
        <p:txBody>
          <a:bodyPr wrap="none" lIns="0" tIns="0" rIns="0" bIns="0" rtlCol="0" anchor="t"/>
          <a:lstStyle/>
          <a:p>
            <a:pPr marL="0" indent="0" algn="l">
              <a:lnSpc>
                <a:spcPts val="2850"/>
              </a:lnSpc>
              <a:buNone/>
            </a:pPr>
            <a:r>
              <a:rPr lang="en-US" sz="1750" dirty="0">
                <a:solidFill>
                  <a:srgbClr val="3C3939"/>
                </a:solidFill>
                <a:latin typeface="Times New Roman" panose="02020603050405020304" pitchFamily="18" charset="0"/>
                <a:ea typeface="Roboto" pitchFamily="34" charset="-122"/>
                <a:cs typeface="Times New Roman" panose="02020603050405020304" pitchFamily="18" charset="0"/>
              </a:rPr>
              <a:t>Sheza Naveed, Sara Saif, Haseeb ur Rehman, and M. Taseer Razzaq.</a:t>
            </a:r>
            <a:endParaRPr lang="en-US" sz="1750" dirty="0">
              <a:latin typeface="Times New Roman" panose="02020603050405020304" pitchFamily="18" charset="0"/>
              <a:cs typeface="Times New Roman" panose="02020603050405020304" pitchFamily="18" charset="0"/>
            </a:endParaRPr>
          </a:p>
        </p:txBody>
      </p:sp>
      <p:sp>
        <p:nvSpPr>
          <p:cNvPr id="6" name="Text 3"/>
          <p:cNvSpPr/>
          <p:nvPr/>
        </p:nvSpPr>
        <p:spPr>
          <a:xfrm>
            <a:off x="793790" y="5475565"/>
            <a:ext cx="7556421" cy="362903"/>
          </a:xfrm>
          <a:prstGeom prst="rect">
            <a:avLst/>
          </a:prstGeom>
          <a:noFill/>
          <a:ln/>
        </p:spPr>
        <p:txBody>
          <a:bodyPr wrap="none" lIns="0" tIns="0" rIns="0" bIns="0" rtlCol="0" anchor="t"/>
          <a:lstStyle/>
          <a:p>
            <a:pPr marL="0" indent="0" algn="l">
              <a:lnSpc>
                <a:spcPts val="2850"/>
              </a:lnSpc>
              <a:buNone/>
            </a:pPr>
            <a:r>
              <a:rPr lang="en-US" sz="1750" dirty="0">
                <a:solidFill>
                  <a:srgbClr val="3C3939"/>
                </a:solidFill>
                <a:latin typeface="Times New Roman" panose="02020603050405020304" pitchFamily="18" charset="0"/>
                <a:ea typeface="Roboto" pitchFamily="34" charset="-122"/>
                <a:cs typeface="Times New Roman" panose="02020603050405020304" pitchFamily="18" charset="0"/>
              </a:rPr>
              <a:t>BS-EE 6C.</a:t>
            </a:r>
            <a:endParaRPr lang="en-US" sz="1750" dirty="0">
              <a:latin typeface="Times New Roman" panose="02020603050405020304" pitchFamily="18" charset="0"/>
              <a:cs typeface="Times New Roman" panose="02020603050405020304" pitchFamily="18" charset="0"/>
            </a:endParaRPr>
          </a:p>
        </p:txBody>
      </p:sp>
      <p:sp>
        <p:nvSpPr>
          <p:cNvPr id="7" name="Text 4"/>
          <p:cNvSpPr/>
          <p:nvPr/>
        </p:nvSpPr>
        <p:spPr>
          <a:xfrm>
            <a:off x="793790" y="6093619"/>
            <a:ext cx="7556421" cy="362903"/>
          </a:xfrm>
          <a:prstGeom prst="rect">
            <a:avLst/>
          </a:prstGeom>
          <a:noFill/>
          <a:ln/>
        </p:spPr>
        <p:txBody>
          <a:bodyPr wrap="none" lIns="0" tIns="0" rIns="0" bIns="0" rtlCol="0" anchor="t"/>
          <a:lstStyle/>
          <a:p>
            <a:pPr marL="0" indent="0" algn="l">
              <a:lnSpc>
                <a:spcPts val="2850"/>
              </a:lnSpc>
              <a:buNone/>
            </a:pPr>
            <a:r>
              <a:rPr lang="en-US" sz="1750" dirty="0">
                <a:solidFill>
                  <a:srgbClr val="3C3939"/>
                </a:solidFill>
                <a:latin typeface="Times New Roman" panose="02020603050405020304" pitchFamily="18" charset="0"/>
                <a:ea typeface="Roboto" pitchFamily="34" charset="-122"/>
                <a:cs typeface="Times New Roman" panose="02020603050405020304" pitchFamily="18" charset="0"/>
              </a:rPr>
              <a:t>April 21, 2025.</a:t>
            </a:r>
            <a:endParaRPr lang="en-US" sz="175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832610"/>
            <a:ext cx="5972532" cy="708779"/>
          </a:xfrm>
          <a:prstGeom prst="rect">
            <a:avLst/>
          </a:prstGeom>
          <a:noFill/>
          <a:ln/>
        </p:spPr>
        <p:txBody>
          <a:bodyPr wrap="none" lIns="0" tIns="0" rIns="0" bIns="0" rtlCol="0" anchor="t"/>
          <a:lstStyle/>
          <a:p>
            <a:pPr marL="0" indent="0" algn="l">
              <a:lnSpc>
                <a:spcPts val="5550"/>
              </a:lnSpc>
              <a:buNone/>
            </a:pPr>
            <a:r>
              <a:rPr lang="en-US" sz="4450" dirty="0">
                <a:solidFill>
                  <a:srgbClr val="1B1B27"/>
                </a:solidFill>
                <a:latin typeface="Times New Roman" panose="02020603050405020304" pitchFamily="18" charset="0"/>
                <a:ea typeface="Raleway" pitchFamily="34" charset="-122"/>
                <a:cs typeface="Times New Roman" panose="02020603050405020304" pitchFamily="18" charset="0"/>
              </a:rPr>
              <a:t>Presentation Roadmap</a:t>
            </a:r>
            <a:endParaRPr lang="en-US" sz="4450" dirty="0">
              <a:latin typeface="Times New Roman" panose="02020603050405020304" pitchFamily="18" charset="0"/>
              <a:cs typeface="Times New Roman" panose="02020603050405020304" pitchFamily="18" charset="0"/>
            </a:endParaRPr>
          </a:p>
        </p:txBody>
      </p:sp>
      <p:sp>
        <p:nvSpPr>
          <p:cNvPr id="3" name="Shape 1"/>
          <p:cNvSpPr/>
          <p:nvPr/>
        </p:nvSpPr>
        <p:spPr>
          <a:xfrm>
            <a:off x="793790" y="3136702"/>
            <a:ext cx="510302" cy="510302"/>
          </a:xfrm>
          <a:prstGeom prst="roundRect">
            <a:avLst>
              <a:gd name="adj" fmla="val 18669"/>
            </a:avLst>
          </a:prstGeom>
          <a:solidFill>
            <a:srgbClr val="E1E1EA"/>
          </a:solidFill>
          <a:ln w="7620">
            <a:solidFill>
              <a:srgbClr val="C7C7D0"/>
            </a:solidFill>
            <a:prstDash val="solid"/>
          </a:ln>
        </p:spPr>
      </p:sp>
      <p:sp>
        <p:nvSpPr>
          <p:cNvPr id="4" name="Text 2"/>
          <p:cNvSpPr/>
          <p:nvPr/>
        </p:nvSpPr>
        <p:spPr>
          <a:xfrm>
            <a:off x="878860" y="3179207"/>
            <a:ext cx="340162" cy="425291"/>
          </a:xfrm>
          <a:prstGeom prst="rect">
            <a:avLst/>
          </a:prstGeom>
          <a:noFill/>
          <a:ln/>
        </p:spPr>
        <p:txBody>
          <a:bodyPr wrap="none" lIns="0" tIns="0" rIns="0" bIns="0" rtlCol="0" anchor="t"/>
          <a:lstStyle/>
          <a:p>
            <a:pPr marL="0" indent="0" algn="ctr">
              <a:lnSpc>
                <a:spcPts val="2650"/>
              </a:lnSpc>
              <a:buNone/>
            </a:pPr>
            <a:r>
              <a:rPr lang="en-US" sz="2650" dirty="0">
                <a:solidFill>
                  <a:srgbClr val="3C3939"/>
                </a:solidFill>
                <a:latin typeface="Times New Roman" panose="02020603050405020304" pitchFamily="18" charset="0"/>
                <a:ea typeface="Raleway" pitchFamily="34" charset="-122"/>
                <a:cs typeface="Times New Roman" panose="02020603050405020304" pitchFamily="18" charset="0"/>
              </a:rPr>
              <a:t>1</a:t>
            </a:r>
            <a:endParaRPr lang="en-US" sz="2650" dirty="0">
              <a:latin typeface="Times New Roman" panose="02020603050405020304" pitchFamily="18" charset="0"/>
              <a:cs typeface="Times New Roman" panose="02020603050405020304" pitchFamily="18" charset="0"/>
            </a:endParaRPr>
          </a:p>
        </p:txBody>
      </p:sp>
      <p:sp>
        <p:nvSpPr>
          <p:cNvPr id="5" name="Text 3"/>
          <p:cNvSpPr/>
          <p:nvPr/>
        </p:nvSpPr>
        <p:spPr>
          <a:xfrm>
            <a:off x="1530906" y="3136702"/>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3C3939"/>
                </a:solidFill>
                <a:latin typeface="Times New Roman" panose="02020603050405020304" pitchFamily="18" charset="0"/>
                <a:ea typeface="Raleway" pitchFamily="34" charset="-122"/>
                <a:cs typeface="Times New Roman" panose="02020603050405020304" pitchFamily="18" charset="0"/>
              </a:rPr>
              <a:t>Introduction</a:t>
            </a:r>
            <a:endParaRPr lang="en-US" sz="2200" dirty="0">
              <a:latin typeface="Times New Roman" panose="02020603050405020304" pitchFamily="18" charset="0"/>
              <a:cs typeface="Times New Roman" panose="02020603050405020304" pitchFamily="18" charset="0"/>
            </a:endParaRPr>
          </a:p>
        </p:txBody>
      </p:sp>
      <p:sp>
        <p:nvSpPr>
          <p:cNvPr id="6" name="Shape 4"/>
          <p:cNvSpPr/>
          <p:nvPr/>
        </p:nvSpPr>
        <p:spPr>
          <a:xfrm>
            <a:off x="5216962" y="3136702"/>
            <a:ext cx="510302" cy="510302"/>
          </a:xfrm>
          <a:prstGeom prst="roundRect">
            <a:avLst>
              <a:gd name="adj" fmla="val 18669"/>
            </a:avLst>
          </a:prstGeom>
          <a:solidFill>
            <a:srgbClr val="E1E1EA"/>
          </a:solidFill>
          <a:ln w="7620">
            <a:solidFill>
              <a:srgbClr val="C7C7D0"/>
            </a:solidFill>
            <a:prstDash val="solid"/>
          </a:ln>
        </p:spPr>
      </p:sp>
      <p:sp>
        <p:nvSpPr>
          <p:cNvPr id="7" name="Text 5"/>
          <p:cNvSpPr/>
          <p:nvPr/>
        </p:nvSpPr>
        <p:spPr>
          <a:xfrm>
            <a:off x="5302032" y="3179207"/>
            <a:ext cx="340162" cy="425291"/>
          </a:xfrm>
          <a:prstGeom prst="rect">
            <a:avLst/>
          </a:prstGeom>
          <a:noFill/>
          <a:ln/>
        </p:spPr>
        <p:txBody>
          <a:bodyPr wrap="none" lIns="0" tIns="0" rIns="0" bIns="0" rtlCol="0" anchor="t"/>
          <a:lstStyle/>
          <a:p>
            <a:pPr marL="0" indent="0" algn="ctr">
              <a:lnSpc>
                <a:spcPts val="2650"/>
              </a:lnSpc>
              <a:buNone/>
            </a:pPr>
            <a:r>
              <a:rPr lang="en-US" sz="2650" dirty="0">
                <a:solidFill>
                  <a:srgbClr val="3C3939"/>
                </a:solidFill>
                <a:latin typeface="Times New Roman" panose="02020603050405020304" pitchFamily="18" charset="0"/>
                <a:ea typeface="Raleway" pitchFamily="34" charset="-122"/>
                <a:cs typeface="Times New Roman" panose="02020603050405020304" pitchFamily="18" charset="0"/>
              </a:rPr>
              <a:t>2</a:t>
            </a:r>
            <a:endParaRPr lang="en-US" sz="2650" dirty="0">
              <a:latin typeface="Times New Roman" panose="02020603050405020304" pitchFamily="18" charset="0"/>
              <a:cs typeface="Times New Roman" panose="02020603050405020304" pitchFamily="18" charset="0"/>
            </a:endParaRPr>
          </a:p>
        </p:txBody>
      </p:sp>
      <p:sp>
        <p:nvSpPr>
          <p:cNvPr id="8" name="Text 6"/>
          <p:cNvSpPr/>
          <p:nvPr/>
        </p:nvSpPr>
        <p:spPr>
          <a:xfrm>
            <a:off x="5954078" y="3136702"/>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3C3939"/>
                </a:solidFill>
                <a:latin typeface="Times New Roman" panose="02020603050405020304" pitchFamily="18" charset="0"/>
                <a:ea typeface="Raleway" pitchFamily="34" charset="-122"/>
                <a:cs typeface="Times New Roman" panose="02020603050405020304" pitchFamily="18" charset="0"/>
              </a:rPr>
              <a:t>Key Challenges</a:t>
            </a:r>
            <a:endParaRPr lang="en-US" sz="2200" dirty="0">
              <a:latin typeface="Times New Roman" panose="02020603050405020304" pitchFamily="18" charset="0"/>
              <a:cs typeface="Times New Roman" panose="02020603050405020304" pitchFamily="18" charset="0"/>
            </a:endParaRPr>
          </a:p>
        </p:txBody>
      </p:sp>
      <p:sp>
        <p:nvSpPr>
          <p:cNvPr id="9" name="Shape 7"/>
          <p:cNvSpPr/>
          <p:nvPr/>
        </p:nvSpPr>
        <p:spPr>
          <a:xfrm>
            <a:off x="9640133" y="3136702"/>
            <a:ext cx="510302" cy="510302"/>
          </a:xfrm>
          <a:prstGeom prst="roundRect">
            <a:avLst>
              <a:gd name="adj" fmla="val 18669"/>
            </a:avLst>
          </a:prstGeom>
          <a:solidFill>
            <a:srgbClr val="E1E1EA"/>
          </a:solidFill>
          <a:ln w="7620">
            <a:solidFill>
              <a:srgbClr val="C7C7D0"/>
            </a:solidFill>
            <a:prstDash val="solid"/>
          </a:ln>
        </p:spPr>
      </p:sp>
      <p:sp>
        <p:nvSpPr>
          <p:cNvPr id="10" name="Text 8"/>
          <p:cNvSpPr/>
          <p:nvPr/>
        </p:nvSpPr>
        <p:spPr>
          <a:xfrm>
            <a:off x="9725204" y="3179207"/>
            <a:ext cx="340162" cy="425291"/>
          </a:xfrm>
          <a:prstGeom prst="rect">
            <a:avLst/>
          </a:prstGeom>
          <a:noFill/>
          <a:ln/>
        </p:spPr>
        <p:txBody>
          <a:bodyPr wrap="none" lIns="0" tIns="0" rIns="0" bIns="0" rtlCol="0" anchor="t"/>
          <a:lstStyle/>
          <a:p>
            <a:pPr marL="0" indent="0" algn="ctr">
              <a:lnSpc>
                <a:spcPts val="2650"/>
              </a:lnSpc>
              <a:buNone/>
            </a:pPr>
            <a:r>
              <a:rPr lang="en-US" sz="2650" dirty="0">
                <a:solidFill>
                  <a:srgbClr val="3C3939"/>
                </a:solidFill>
                <a:latin typeface="Times New Roman" panose="02020603050405020304" pitchFamily="18" charset="0"/>
                <a:ea typeface="Raleway" pitchFamily="34" charset="-122"/>
                <a:cs typeface="Times New Roman" panose="02020603050405020304" pitchFamily="18" charset="0"/>
              </a:rPr>
              <a:t>3</a:t>
            </a:r>
            <a:endParaRPr lang="en-US" sz="2650" dirty="0">
              <a:latin typeface="Times New Roman" panose="02020603050405020304" pitchFamily="18" charset="0"/>
              <a:cs typeface="Times New Roman" panose="02020603050405020304" pitchFamily="18" charset="0"/>
            </a:endParaRPr>
          </a:p>
        </p:txBody>
      </p:sp>
      <p:sp>
        <p:nvSpPr>
          <p:cNvPr id="11" name="Text 9"/>
          <p:cNvSpPr/>
          <p:nvPr/>
        </p:nvSpPr>
        <p:spPr>
          <a:xfrm>
            <a:off x="10377249" y="3136702"/>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3C3939"/>
                </a:solidFill>
                <a:latin typeface="Times New Roman" panose="02020603050405020304" pitchFamily="18" charset="0"/>
                <a:ea typeface="Raleway" pitchFamily="34" charset="-122"/>
                <a:cs typeface="Times New Roman" panose="02020603050405020304" pitchFamily="18" charset="0"/>
              </a:rPr>
              <a:t>Technical Deep Dive</a:t>
            </a:r>
            <a:endParaRPr lang="en-US" sz="2200" dirty="0">
              <a:latin typeface="Times New Roman" panose="02020603050405020304" pitchFamily="18" charset="0"/>
              <a:cs typeface="Times New Roman" panose="02020603050405020304" pitchFamily="18" charset="0"/>
            </a:endParaRPr>
          </a:p>
        </p:txBody>
      </p:sp>
      <p:sp>
        <p:nvSpPr>
          <p:cNvPr id="12" name="Shape 10"/>
          <p:cNvSpPr/>
          <p:nvPr/>
        </p:nvSpPr>
        <p:spPr>
          <a:xfrm>
            <a:off x="793790" y="4384119"/>
            <a:ext cx="510302" cy="510302"/>
          </a:xfrm>
          <a:prstGeom prst="roundRect">
            <a:avLst>
              <a:gd name="adj" fmla="val 18669"/>
            </a:avLst>
          </a:prstGeom>
          <a:solidFill>
            <a:srgbClr val="E1E1EA"/>
          </a:solidFill>
          <a:ln w="7620">
            <a:solidFill>
              <a:srgbClr val="C7C7D0"/>
            </a:solidFill>
            <a:prstDash val="solid"/>
          </a:ln>
        </p:spPr>
      </p:sp>
      <p:sp>
        <p:nvSpPr>
          <p:cNvPr id="13" name="Text 11"/>
          <p:cNvSpPr/>
          <p:nvPr/>
        </p:nvSpPr>
        <p:spPr>
          <a:xfrm>
            <a:off x="878860" y="4426625"/>
            <a:ext cx="340162" cy="425291"/>
          </a:xfrm>
          <a:prstGeom prst="rect">
            <a:avLst/>
          </a:prstGeom>
          <a:noFill/>
          <a:ln/>
        </p:spPr>
        <p:txBody>
          <a:bodyPr wrap="none" lIns="0" tIns="0" rIns="0" bIns="0" rtlCol="0" anchor="t"/>
          <a:lstStyle/>
          <a:p>
            <a:pPr marL="0" indent="0" algn="ctr">
              <a:lnSpc>
                <a:spcPts val="2650"/>
              </a:lnSpc>
              <a:buNone/>
            </a:pPr>
            <a:r>
              <a:rPr lang="en-US" sz="2650" dirty="0">
                <a:solidFill>
                  <a:srgbClr val="3C3939"/>
                </a:solidFill>
                <a:latin typeface="Times New Roman" panose="02020603050405020304" pitchFamily="18" charset="0"/>
                <a:ea typeface="Raleway" pitchFamily="34" charset="-122"/>
                <a:cs typeface="Times New Roman" panose="02020603050405020304" pitchFamily="18" charset="0"/>
              </a:rPr>
              <a:t>4</a:t>
            </a:r>
            <a:endParaRPr lang="en-US" sz="2650" dirty="0">
              <a:latin typeface="Times New Roman" panose="02020603050405020304" pitchFamily="18" charset="0"/>
              <a:cs typeface="Times New Roman" panose="02020603050405020304" pitchFamily="18" charset="0"/>
            </a:endParaRPr>
          </a:p>
        </p:txBody>
      </p:sp>
      <p:sp>
        <p:nvSpPr>
          <p:cNvPr id="14" name="Text 12"/>
          <p:cNvSpPr/>
          <p:nvPr/>
        </p:nvSpPr>
        <p:spPr>
          <a:xfrm>
            <a:off x="1530906" y="4384119"/>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3C3939"/>
                </a:solidFill>
                <a:latin typeface="Times New Roman" panose="02020603050405020304" pitchFamily="18" charset="0"/>
                <a:ea typeface="Raleway" pitchFamily="34" charset="-122"/>
                <a:cs typeface="Times New Roman" panose="02020603050405020304" pitchFamily="18" charset="0"/>
              </a:rPr>
              <a:t>Solutions</a:t>
            </a:r>
            <a:endParaRPr lang="en-US" sz="2200" dirty="0">
              <a:latin typeface="Times New Roman" panose="02020603050405020304" pitchFamily="18" charset="0"/>
              <a:cs typeface="Times New Roman" panose="02020603050405020304" pitchFamily="18" charset="0"/>
            </a:endParaRPr>
          </a:p>
        </p:txBody>
      </p:sp>
      <p:sp>
        <p:nvSpPr>
          <p:cNvPr id="15" name="Shape 13"/>
          <p:cNvSpPr/>
          <p:nvPr/>
        </p:nvSpPr>
        <p:spPr>
          <a:xfrm>
            <a:off x="5216962" y="4384119"/>
            <a:ext cx="510302" cy="510302"/>
          </a:xfrm>
          <a:prstGeom prst="roundRect">
            <a:avLst>
              <a:gd name="adj" fmla="val 18669"/>
            </a:avLst>
          </a:prstGeom>
          <a:solidFill>
            <a:srgbClr val="E1E1EA"/>
          </a:solidFill>
          <a:ln w="7620">
            <a:solidFill>
              <a:srgbClr val="C7C7D0"/>
            </a:solidFill>
            <a:prstDash val="solid"/>
          </a:ln>
        </p:spPr>
      </p:sp>
      <p:sp>
        <p:nvSpPr>
          <p:cNvPr id="16" name="Text 14"/>
          <p:cNvSpPr/>
          <p:nvPr/>
        </p:nvSpPr>
        <p:spPr>
          <a:xfrm>
            <a:off x="5302032" y="4426625"/>
            <a:ext cx="340162" cy="425291"/>
          </a:xfrm>
          <a:prstGeom prst="rect">
            <a:avLst/>
          </a:prstGeom>
          <a:noFill/>
          <a:ln/>
        </p:spPr>
        <p:txBody>
          <a:bodyPr wrap="none" lIns="0" tIns="0" rIns="0" bIns="0" rtlCol="0" anchor="t"/>
          <a:lstStyle/>
          <a:p>
            <a:pPr marL="0" indent="0" algn="ctr">
              <a:lnSpc>
                <a:spcPts val="2650"/>
              </a:lnSpc>
              <a:buNone/>
            </a:pPr>
            <a:r>
              <a:rPr lang="en-US" sz="2650" dirty="0">
                <a:solidFill>
                  <a:srgbClr val="3C3939"/>
                </a:solidFill>
                <a:latin typeface="Times New Roman" panose="02020603050405020304" pitchFamily="18" charset="0"/>
                <a:ea typeface="Raleway" pitchFamily="34" charset="-122"/>
                <a:cs typeface="Times New Roman" panose="02020603050405020304" pitchFamily="18" charset="0"/>
              </a:rPr>
              <a:t>5</a:t>
            </a:r>
            <a:endParaRPr lang="en-US" sz="2650" dirty="0">
              <a:latin typeface="Times New Roman" panose="02020603050405020304" pitchFamily="18" charset="0"/>
              <a:cs typeface="Times New Roman" panose="02020603050405020304" pitchFamily="18" charset="0"/>
            </a:endParaRPr>
          </a:p>
        </p:txBody>
      </p:sp>
      <p:sp>
        <p:nvSpPr>
          <p:cNvPr id="17" name="Text 15"/>
          <p:cNvSpPr/>
          <p:nvPr/>
        </p:nvSpPr>
        <p:spPr>
          <a:xfrm>
            <a:off x="5954078" y="4384119"/>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3C3939"/>
                </a:solidFill>
                <a:latin typeface="Times New Roman" panose="02020603050405020304" pitchFamily="18" charset="0"/>
                <a:ea typeface="Raleway" pitchFamily="34" charset="-122"/>
                <a:cs typeface="Times New Roman" panose="02020603050405020304" pitchFamily="18" charset="0"/>
              </a:rPr>
              <a:t>Future Trends</a:t>
            </a:r>
            <a:endParaRPr lang="en-US" sz="2200" dirty="0">
              <a:latin typeface="Times New Roman" panose="02020603050405020304" pitchFamily="18" charset="0"/>
              <a:cs typeface="Times New Roman" panose="02020603050405020304" pitchFamily="18" charset="0"/>
            </a:endParaRPr>
          </a:p>
        </p:txBody>
      </p:sp>
      <p:sp>
        <p:nvSpPr>
          <p:cNvPr id="18" name="Shape 16"/>
          <p:cNvSpPr/>
          <p:nvPr/>
        </p:nvSpPr>
        <p:spPr>
          <a:xfrm>
            <a:off x="9640133" y="4384119"/>
            <a:ext cx="510302" cy="510302"/>
          </a:xfrm>
          <a:prstGeom prst="roundRect">
            <a:avLst>
              <a:gd name="adj" fmla="val 18669"/>
            </a:avLst>
          </a:prstGeom>
          <a:solidFill>
            <a:srgbClr val="E1E1EA"/>
          </a:solidFill>
          <a:ln w="7620">
            <a:solidFill>
              <a:srgbClr val="C7C7D0"/>
            </a:solidFill>
            <a:prstDash val="solid"/>
          </a:ln>
        </p:spPr>
      </p:sp>
      <p:sp>
        <p:nvSpPr>
          <p:cNvPr id="19" name="Text 17"/>
          <p:cNvSpPr/>
          <p:nvPr/>
        </p:nvSpPr>
        <p:spPr>
          <a:xfrm>
            <a:off x="9725204" y="4426625"/>
            <a:ext cx="340162" cy="425291"/>
          </a:xfrm>
          <a:prstGeom prst="rect">
            <a:avLst/>
          </a:prstGeom>
          <a:noFill/>
          <a:ln/>
        </p:spPr>
        <p:txBody>
          <a:bodyPr wrap="none" lIns="0" tIns="0" rIns="0" bIns="0" rtlCol="0" anchor="t"/>
          <a:lstStyle/>
          <a:p>
            <a:pPr marL="0" indent="0" algn="ctr">
              <a:lnSpc>
                <a:spcPts val="2650"/>
              </a:lnSpc>
              <a:buNone/>
            </a:pPr>
            <a:r>
              <a:rPr lang="en-US" sz="2650" dirty="0">
                <a:solidFill>
                  <a:srgbClr val="3C3939"/>
                </a:solidFill>
                <a:latin typeface="Times New Roman" panose="02020603050405020304" pitchFamily="18" charset="0"/>
                <a:ea typeface="Raleway" pitchFamily="34" charset="-122"/>
                <a:cs typeface="Times New Roman" panose="02020603050405020304" pitchFamily="18" charset="0"/>
              </a:rPr>
              <a:t>6</a:t>
            </a:r>
            <a:endParaRPr lang="en-US" sz="2650" dirty="0">
              <a:latin typeface="Times New Roman" panose="02020603050405020304" pitchFamily="18" charset="0"/>
              <a:cs typeface="Times New Roman" panose="02020603050405020304" pitchFamily="18" charset="0"/>
            </a:endParaRPr>
          </a:p>
        </p:txBody>
      </p:sp>
      <p:sp>
        <p:nvSpPr>
          <p:cNvPr id="20" name="Text 18"/>
          <p:cNvSpPr/>
          <p:nvPr/>
        </p:nvSpPr>
        <p:spPr>
          <a:xfrm>
            <a:off x="10377249" y="4384119"/>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3C3939"/>
                </a:solidFill>
                <a:latin typeface="Times New Roman" panose="02020603050405020304" pitchFamily="18" charset="0"/>
                <a:ea typeface="Raleway" pitchFamily="34" charset="-122"/>
                <a:cs typeface="Times New Roman" panose="02020603050405020304" pitchFamily="18" charset="0"/>
              </a:rPr>
              <a:t>Conclusion</a:t>
            </a:r>
            <a:endParaRPr lang="en-US" sz="2200" dirty="0">
              <a:latin typeface="Times New Roman" panose="02020603050405020304" pitchFamily="18" charset="0"/>
              <a:cs typeface="Times New Roman" panose="02020603050405020304" pitchFamily="18" charset="0"/>
            </a:endParaRPr>
          </a:p>
        </p:txBody>
      </p:sp>
      <p:sp>
        <p:nvSpPr>
          <p:cNvPr id="21" name="Shape 19"/>
          <p:cNvSpPr/>
          <p:nvPr/>
        </p:nvSpPr>
        <p:spPr>
          <a:xfrm>
            <a:off x="793790" y="5631537"/>
            <a:ext cx="510302" cy="510302"/>
          </a:xfrm>
          <a:prstGeom prst="roundRect">
            <a:avLst>
              <a:gd name="adj" fmla="val 18669"/>
            </a:avLst>
          </a:prstGeom>
          <a:solidFill>
            <a:srgbClr val="E1E1EA"/>
          </a:solidFill>
          <a:ln w="7620">
            <a:solidFill>
              <a:srgbClr val="C7C7D0"/>
            </a:solidFill>
            <a:prstDash val="solid"/>
          </a:ln>
        </p:spPr>
      </p:sp>
      <p:sp>
        <p:nvSpPr>
          <p:cNvPr id="22" name="Text 20"/>
          <p:cNvSpPr/>
          <p:nvPr/>
        </p:nvSpPr>
        <p:spPr>
          <a:xfrm>
            <a:off x="878860" y="5674042"/>
            <a:ext cx="340162" cy="425291"/>
          </a:xfrm>
          <a:prstGeom prst="rect">
            <a:avLst/>
          </a:prstGeom>
          <a:noFill/>
          <a:ln/>
        </p:spPr>
        <p:txBody>
          <a:bodyPr wrap="none" lIns="0" tIns="0" rIns="0" bIns="0" rtlCol="0" anchor="t"/>
          <a:lstStyle/>
          <a:p>
            <a:pPr marL="0" indent="0" algn="ctr">
              <a:lnSpc>
                <a:spcPts val="2650"/>
              </a:lnSpc>
              <a:buNone/>
            </a:pPr>
            <a:r>
              <a:rPr lang="en-US" sz="2650" dirty="0">
                <a:solidFill>
                  <a:srgbClr val="3C3939"/>
                </a:solidFill>
                <a:latin typeface="Times New Roman" panose="02020603050405020304" pitchFamily="18" charset="0"/>
                <a:ea typeface="Raleway" pitchFamily="34" charset="-122"/>
                <a:cs typeface="Times New Roman" panose="02020603050405020304" pitchFamily="18" charset="0"/>
              </a:rPr>
              <a:t>7</a:t>
            </a:r>
            <a:endParaRPr lang="en-US" sz="2650" dirty="0">
              <a:latin typeface="Times New Roman" panose="02020603050405020304" pitchFamily="18" charset="0"/>
              <a:cs typeface="Times New Roman" panose="02020603050405020304" pitchFamily="18" charset="0"/>
            </a:endParaRPr>
          </a:p>
        </p:txBody>
      </p:sp>
      <p:sp>
        <p:nvSpPr>
          <p:cNvPr id="23" name="Text 21"/>
          <p:cNvSpPr/>
          <p:nvPr/>
        </p:nvSpPr>
        <p:spPr>
          <a:xfrm>
            <a:off x="1530906" y="5631537"/>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3C3939"/>
                </a:solidFill>
                <a:latin typeface="Times New Roman" panose="02020603050405020304" pitchFamily="18" charset="0"/>
                <a:ea typeface="Raleway" pitchFamily="34" charset="-122"/>
                <a:cs typeface="Times New Roman" panose="02020603050405020304" pitchFamily="18" charset="0"/>
              </a:rPr>
              <a:t>Q&amp;A</a:t>
            </a:r>
            <a:endParaRPr lang="en-US" sz="2200" dirty="0">
              <a:latin typeface="Times New Roman" panose="02020603050405020304" pitchFamily="18" charset="0"/>
              <a:cs typeface="Times New Roman" panose="02020603050405020304" pitchFamily="18" charset="0"/>
            </a:endParaRPr>
          </a:p>
        </p:txBody>
      </p:sp>
      <p:sp>
        <p:nvSpPr>
          <p:cNvPr id="24" name="Rectangle 23"/>
          <p:cNvSpPr/>
          <p:nvPr/>
        </p:nvSpPr>
        <p:spPr>
          <a:xfrm>
            <a:off x="12890020" y="7783033"/>
            <a:ext cx="1644688" cy="35087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1892022"/>
            <a:ext cx="8456536" cy="1417558"/>
          </a:xfrm>
          <a:prstGeom prst="rect">
            <a:avLst/>
          </a:prstGeom>
          <a:noFill/>
          <a:ln/>
        </p:spPr>
        <p:txBody>
          <a:bodyPr wrap="square" lIns="0" tIns="0" rIns="0" bIns="0" rtlCol="0" anchor="t"/>
          <a:lstStyle/>
          <a:p>
            <a:pPr marL="0" indent="0">
              <a:lnSpc>
                <a:spcPts val="5550"/>
              </a:lnSpc>
              <a:buNone/>
            </a:pPr>
            <a:r>
              <a:rPr lang="en-US" sz="4450" dirty="0">
                <a:solidFill>
                  <a:srgbClr val="1B1B27"/>
                </a:solidFill>
                <a:latin typeface="Times New Roman" panose="02020603050405020304" pitchFamily="18" charset="0"/>
                <a:ea typeface="Raleway" pitchFamily="34" charset="-122"/>
                <a:cs typeface="Times New Roman" panose="02020603050405020304" pitchFamily="18" charset="0"/>
              </a:rPr>
              <a:t>Introduction to </a:t>
            </a:r>
            <a:r>
              <a:rPr lang="en-US" sz="4450" dirty="0" smtClean="0">
                <a:solidFill>
                  <a:srgbClr val="1B1B27"/>
                </a:solidFill>
                <a:latin typeface="Times New Roman" panose="02020603050405020304" pitchFamily="18" charset="0"/>
                <a:ea typeface="Raleway" pitchFamily="34" charset="-122"/>
                <a:cs typeface="Times New Roman" panose="02020603050405020304" pitchFamily="18" charset="0"/>
              </a:rPr>
              <a:t>Industrial Automation</a:t>
            </a:r>
            <a:endParaRPr lang="en-US" sz="4450" dirty="0">
              <a:latin typeface="Times New Roman" panose="02020603050405020304" pitchFamily="18" charset="0"/>
              <a:cs typeface="Times New Roman" panose="02020603050405020304" pitchFamily="18" charset="0"/>
            </a:endParaRPr>
          </a:p>
        </p:txBody>
      </p:sp>
      <p:sp>
        <p:nvSpPr>
          <p:cNvPr id="4" name="Text 1"/>
          <p:cNvSpPr/>
          <p:nvPr/>
        </p:nvSpPr>
        <p:spPr>
          <a:xfrm>
            <a:off x="6280190" y="3649742"/>
            <a:ext cx="7556421" cy="725805"/>
          </a:xfrm>
          <a:prstGeom prst="rect">
            <a:avLst/>
          </a:prstGeom>
          <a:noFill/>
          <a:ln/>
        </p:spPr>
        <p:txBody>
          <a:bodyPr wrap="square" lIns="0" tIns="0" rIns="0" bIns="0" rtlCol="0" anchor="t"/>
          <a:lstStyle/>
          <a:p>
            <a:pPr marL="0" indent="0" algn="l">
              <a:lnSpc>
                <a:spcPts val="2850"/>
              </a:lnSpc>
              <a:buNone/>
            </a:pPr>
            <a:r>
              <a:rPr lang="en-US" sz="1750" dirty="0">
                <a:solidFill>
                  <a:srgbClr val="3C3939"/>
                </a:solidFill>
                <a:latin typeface="Times New Roman" panose="02020603050405020304" pitchFamily="18" charset="0"/>
                <a:ea typeface="Roboto" pitchFamily="34" charset="-122"/>
                <a:cs typeface="Times New Roman" panose="02020603050405020304" pitchFamily="18" charset="0"/>
              </a:rPr>
              <a:t>Automation uses control systems to minimize human intervention. It enhances the efficiency of machines.</a:t>
            </a:r>
            <a:endParaRPr lang="en-US" sz="1750" dirty="0">
              <a:latin typeface="Times New Roman" panose="02020603050405020304" pitchFamily="18" charset="0"/>
              <a:cs typeface="Times New Roman" panose="02020603050405020304" pitchFamily="18" charset="0"/>
            </a:endParaRPr>
          </a:p>
        </p:txBody>
      </p:sp>
      <p:sp>
        <p:nvSpPr>
          <p:cNvPr id="5" name="Text 2"/>
          <p:cNvSpPr/>
          <p:nvPr/>
        </p:nvSpPr>
        <p:spPr>
          <a:xfrm>
            <a:off x="6280190" y="4630698"/>
            <a:ext cx="7556421" cy="725805"/>
          </a:xfrm>
          <a:prstGeom prst="rect">
            <a:avLst/>
          </a:prstGeom>
          <a:noFill/>
          <a:ln/>
        </p:spPr>
        <p:txBody>
          <a:bodyPr wrap="square" lIns="0" tIns="0" rIns="0" bIns="0" rtlCol="0" anchor="t"/>
          <a:lstStyle/>
          <a:p>
            <a:pPr marL="0" indent="0" algn="l">
              <a:lnSpc>
                <a:spcPts val="2850"/>
              </a:lnSpc>
              <a:buNone/>
            </a:pPr>
            <a:r>
              <a:rPr lang="en-US" sz="1750" dirty="0">
                <a:solidFill>
                  <a:srgbClr val="3C3939"/>
                </a:solidFill>
                <a:latin typeface="Times New Roman" panose="02020603050405020304" pitchFamily="18" charset="0"/>
                <a:ea typeface="Roboto" pitchFamily="34" charset="-122"/>
                <a:cs typeface="Times New Roman" panose="02020603050405020304" pitchFamily="18" charset="0"/>
              </a:rPr>
              <a:t>The Pakistan industrial automation market is worth ~PKR 56 billion. It shows a strong annual growth of 10-12%.</a:t>
            </a:r>
            <a:endParaRPr lang="en-US" sz="1750" dirty="0">
              <a:latin typeface="Times New Roman" panose="02020603050405020304" pitchFamily="18" charset="0"/>
              <a:cs typeface="Times New Roman" panose="02020603050405020304" pitchFamily="18" charset="0"/>
            </a:endParaRPr>
          </a:p>
        </p:txBody>
      </p:sp>
      <p:sp>
        <p:nvSpPr>
          <p:cNvPr id="6" name="Text 3"/>
          <p:cNvSpPr/>
          <p:nvPr/>
        </p:nvSpPr>
        <p:spPr>
          <a:xfrm>
            <a:off x="6290823" y="5611654"/>
            <a:ext cx="7556421" cy="725805"/>
          </a:xfrm>
          <a:prstGeom prst="rect">
            <a:avLst/>
          </a:prstGeom>
          <a:noFill/>
          <a:ln/>
        </p:spPr>
        <p:txBody>
          <a:bodyPr wrap="square" lIns="0" tIns="0" rIns="0" bIns="0" rtlCol="0" anchor="t"/>
          <a:lstStyle/>
          <a:p>
            <a:pPr marL="0" indent="0" algn="l">
              <a:lnSpc>
                <a:spcPts val="2850"/>
              </a:lnSpc>
              <a:buNone/>
            </a:pPr>
            <a:r>
              <a:rPr lang="en-US" sz="1750" dirty="0" smtClean="0">
                <a:solidFill>
                  <a:srgbClr val="3C3939"/>
                </a:solidFill>
                <a:latin typeface="Times New Roman" panose="02020603050405020304" pitchFamily="18" charset="0"/>
                <a:ea typeface="Roboto" pitchFamily="34" charset="-122"/>
                <a:cs typeface="Times New Roman" panose="02020603050405020304" pitchFamily="18" charset="0"/>
              </a:rPr>
              <a:t>Automation in Electrical </a:t>
            </a:r>
            <a:r>
              <a:rPr lang="en-US" sz="1750" smtClean="0">
                <a:solidFill>
                  <a:srgbClr val="3C3939"/>
                </a:solidFill>
                <a:latin typeface="Times New Roman" panose="02020603050405020304" pitchFamily="18" charset="0"/>
                <a:ea typeface="Roboto" pitchFamily="34" charset="-122"/>
                <a:cs typeface="Times New Roman" panose="02020603050405020304" pitchFamily="18" charset="0"/>
              </a:rPr>
              <a:t>Engineering Domain  </a:t>
            </a:r>
            <a:r>
              <a:rPr lang="en-US" sz="1750" dirty="0" smtClean="0">
                <a:solidFill>
                  <a:srgbClr val="3C3939"/>
                </a:solidFill>
                <a:latin typeface="Times New Roman" panose="02020603050405020304" pitchFamily="18" charset="0"/>
                <a:ea typeface="Roboto" pitchFamily="34" charset="-122"/>
                <a:cs typeface="Times New Roman" panose="02020603050405020304" pitchFamily="18" charset="0"/>
              </a:rPr>
              <a:t>plays </a:t>
            </a:r>
            <a:r>
              <a:rPr lang="en-US" sz="1750" dirty="0">
                <a:solidFill>
                  <a:srgbClr val="3C3939"/>
                </a:solidFill>
                <a:latin typeface="Times New Roman" panose="02020603050405020304" pitchFamily="18" charset="0"/>
                <a:ea typeface="Roboto" pitchFamily="34" charset="-122"/>
                <a:cs typeface="Times New Roman" panose="02020603050405020304" pitchFamily="18" charset="0"/>
              </a:rPr>
              <a:t>a critical role in power, control, and </a:t>
            </a:r>
            <a:r>
              <a:rPr lang="en-US" sz="1750">
                <a:solidFill>
                  <a:srgbClr val="3C3939"/>
                </a:solidFill>
                <a:latin typeface="Times New Roman" panose="02020603050405020304" pitchFamily="18" charset="0"/>
                <a:ea typeface="Roboto" pitchFamily="34" charset="-122"/>
                <a:cs typeface="Times New Roman" panose="02020603050405020304" pitchFamily="18" charset="0"/>
              </a:rPr>
              <a:t>instrumentation</a:t>
            </a:r>
            <a:r>
              <a:rPr lang="en-US" sz="1750" smtClean="0">
                <a:solidFill>
                  <a:srgbClr val="3C3939"/>
                </a:solidFill>
                <a:latin typeface="Times New Roman" panose="02020603050405020304" pitchFamily="18" charset="0"/>
                <a:ea typeface="Roboto" pitchFamily="34" charset="-122"/>
                <a:cs typeface="Times New Roman" panose="02020603050405020304" pitchFamily="18" charset="0"/>
              </a:rPr>
              <a:t>.</a:t>
            </a:r>
          </a:p>
          <a:p>
            <a:pPr marL="0" indent="0" algn="l">
              <a:lnSpc>
                <a:spcPts val="2850"/>
              </a:lnSpc>
              <a:buNone/>
            </a:pPr>
            <a:endParaRPr lang="en-US" sz="1750" dirty="0">
              <a:latin typeface="Times New Roman" panose="02020603050405020304" pitchFamily="18" charset="0"/>
              <a:cs typeface="Times New Roman" panose="02020603050405020304" pitchFamily="18" charset="0"/>
            </a:endParaRPr>
          </a:p>
        </p:txBody>
      </p:sp>
      <p:sp>
        <p:nvSpPr>
          <p:cNvPr id="7" name="Rectangle 6"/>
          <p:cNvSpPr/>
          <p:nvPr/>
        </p:nvSpPr>
        <p:spPr>
          <a:xfrm>
            <a:off x="12897293" y="7793665"/>
            <a:ext cx="1616149" cy="31897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811899"/>
          </a:xfrm>
          <a:prstGeom prst="rect">
            <a:avLst/>
          </a:prstGeom>
        </p:spPr>
      </p:pic>
      <p:sp>
        <p:nvSpPr>
          <p:cNvPr id="3" name="Text 0"/>
          <p:cNvSpPr/>
          <p:nvPr/>
        </p:nvSpPr>
        <p:spPr>
          <a:xfrm>
            <a:off x="787241" y="3430429"/>
            <a:ext cx="10427375" cy="702826"/>
          </a:xfrm>
          <a:prstGeom prst="rect">
            <a:avLst/>
          </a:prstGeom>
          <a:noFill/>
          <a:ln/>
        </p:spPr>
        <p:txBody>
          <a:bodyPr wrap="none" lIns="0" tIns="0" rIns="0" bIns="0" rtlCol="0" anchor="t"/>
          <a:lstStyle/>
          <a:p>
            <a:pPr marL="0" indent="0" algn="l">
              <a:lnSpc>
                <a:spcPts val="5500"/>
              </a:lnSpc>
              <a:buNone/>
            </a:pPr>
            <a:r>
              <a:rPr lang="en-US" sz="4400" b="1" dirty="0">
                <a:solidFill>
                  <a:srgbClr val="1B1B27"/>
                </a:solidFill>
                <a:latin typeface="Times New Roman" panose="02020603050405020304" pitchFamily="18" charset="0"/>
                <a:ea typeface="Raleway" pitchFamily="34" charset="-122"/>
                <a:cs typeface="Times New Roman" panose="02020603050405020304" pitchFamily="18" charset="0"/>
              </a:rPr>
              <a:t>Key Challenges in Electrical Engineering</a:t>
            </a:r>
            <a:endParaRPr lang="en-US" sz="4400" b="1" dirty="0">
              <a:latin typeface="Times New Roman" panose="02020603050405020304" pitchFamily="18" charset="0"/>
              <a:cs typeface="Times New Roman" panose="02020603050405020304" pitchFamily="18" charset="0"/>
            </a:endParaRPr>
          </a:p>
        </p:txBody>
      </p:sp>
      <p:sp>
        <p:nvSpPr>
          <p:cNvPr id="4" name="Shape 1"/>
          <p:cNvSpPr/>
          <p:nvPr/>
        </p:nvSpPr>
        <p:spPr>
          <a:xfrm>
            <a:off x="787241" y="4723686"/>
            <a:ext cx="506135" cy="506135"/>
          </a:xfrm>
          <a:prstGeom prst="roundRect">
            <a:avLst>
              <a:gd name="adj" fmla="val 18667"/>
            </a:avLst>
          </a:prstGeom>
          <a:solidFill>
            <a:srgbClr val="E1E1EA"/>
          </a:solidFill>
          <a:ln w="7620">
            <a:solidFill>
              <a:srgbClr val="C7C7D0"/>
            </a:solidFill>
            <a:prstDash val="solid"/>
          </a:ln>
        </p:spPr>
      </p:sp>
      <p:pic>
        <p:nvPicPr>
          <p:cNvPr id="5" name="Image 1" descr="preencoded.png"/>
          <p:cNvPicPr>
            <a:picLocks noChangeAspect="1"/>
          </p:cNvPicPr>
          <p:nvPr/>
        </p:nvPicPr>
        <p:blipFill>
          <a:blip r:embed="rId4"/>
          <a:stretch>
            <a:fillRect/>
          </a:stretch>
        </p:blipFill>
        <p:spPr>
          <a:xfrm>
            <a:off x="871538" y="4765834"/>
            <a:ext cx="337423" cy="421719"/>
          </a:xfrm>
          <a:prstGeom prst="rect">
            <a:avLst/>
          </a:prstGeom>
        </p:spPr>
      </p:pic>
      <p:sp>
        <p:nvSpPr>
          <p:cNvPr id="6" name="Text 2"/>
          <p:cNvSpPr/>
          <p:nvPr/>
        </p:nvSpPr>
        <p:spPr>
          <a:xfrm>
            <a:off x="1518285" y="4723686"/>
            <a:ext cx="2925842" cy="351472"/>
          </a:xfrm>
          <a:prstGeom prst="rect">
            <a:avLst/>
          </a:prstGeom>
          <a:noFill/>
          <a:ln/>
        </p:spPr>
        <p:txBody>
          <a:bodyPr wrap="none" lIns="0" tIns="0" rIns="0" bIns="0" rtlCol="0" anchor="t"/>
          <a:lstStyle/>
          <a:p>
            <a:pPr marL="0" indent="0" algn="l">
              <a:lnSpc>
                <a:spcPts val="2750"/>
              </a:lnSpc>
              <a:buNone/>
            </a:pPr>
            <a:r>
              <a:rPr lang="en-US" sz="2200" b="1" dirty="0">
                <a:solidFill>
                  <a:srgbClr val="3C3939"/>
                </a:solidFill>
                <a:latin typeface="Times New Roman" panose="02020603050405020304" pitchFamily="18" charset="0"/>
                <a:ea typeface="Raleway" pitchFamily="34" charset="-122"/>
                <a:cs typeface="Times New Roman" panose="02020603050405020304" pitchFamily="18" charset="0"/>
              </a:rPr>
              <a:t>High Investment Costs</a:t>
            </a:r>
            <a:endParaRPr lang="en-US" sz="2200" b="1" dirty="0">
              <a:latin typeface="Times New Roman" panose="02020603050405020304" pitchFamily="18" charset="0"/>
              <a:cs typeface="Times New Roman" panose="02020603050405020304" pitchFamily="18" charset="0"/>
            </a:endParaRPr>
          </a:p>
        </p:txBody>
      </p:sp>
      <p:sp>
        <p:nvSpPr>
          <p:cNvPr id="7" name="Text 3"/>
          <p:cNvSpPr/>
          <p:nvPr/>
        </p:nvSpPr>
        <p:spPr>
          <a:xfrm>
            <a:off x="1518285" y="5210056"/>
            <a:ext cx="5684520" cy="719614"/>
          </a:xfrm>
          <a:prstGeom prst="rect">
            <a:avLst/>
          </a:prstGeom>
          <a:noFill/>
          <a:ln/>
        </p:spPr>
        <p:txBody>
          <a:bodyPr wrap="square" lIns="0" tIns="0" rIns="0" bIns="0" rtlCol="0" anchor="t"/>
          <a:lstStyle/>
          <a:p>
            <a:pPr marL="0" indent="0" algn="l">
              <a:lnSpc>
                <a:spcPts val="2800"/>
              </a:lnSpc>
              <a:buNone/>
            </a:pPr>
            <a:r>
              <a:rPr lang="en-US" sz="1750" dirty="0">
                <a:solidFill>
                  <a:srgbClr val="3C3939"/>
                </a:solidFill>
                <a:latin typeface="Times New Roman" panose="02020603050405020304" pitchFamily="18" charset="0"/>
                <a:ea typeface="Roboto" pitchFamily="34" charset="-122"/>
                <a:cs typeface="Times New Roman" panose="02020603050405020304" pitchFamily="18" charset="0"/>
              </a:rPr>
              <a:t>High costs deter automation upgrades, with PKR 50-100M price tags.</a:t>
            </a:r>
            <a:endParaRPr lang="en-US" sz="1750" dirty="0">
              <a:latin typeface="Times New Roman" panose="02020603050405020304" pitchFamily="18" charset="0"/>
              <a:cs typeface="Times New Roman" panose="02020603050405020304" pitchFamily="18" charset="0"/>
            </a:endParaRPr>
          </a:p>
        </p:txBody>
      </p:sp>
      <p:sp>
        <p:nvSpPr>
          <p:cNvPr id="8" name="Shape 4"/>
          <p:cNvSpPr/>
          <p:nvPr/>
        </p:nvSpPr>
        <p:spPr>
          <a:xfrm>
            <a:off x="7427714" y="4723686"/>
            <a:ext cx="506135" cy="506135"/>
          </a:xfrm>
          <a:prstGeom prst="roundRect">
            <a:avLst>
              <a:gd name="adj" fmla="val 18667"/>
            </a:avLst>
          </a:prstGeom>
          <a:solidFill>
            <a:srgbClr val="E1E1EA"/>
          </a:solidFill>
          <a:ln w="7620">
            <a:solidFill>
              <a:srgbClr val="C7C7D0"/>
            </a:solidFill>
            <a:prstDash val="solid"/>
          </a:ln>
        </p:spPr>
      </p:sp>
      <p:pic>
        <p:nvPicPr>
          <p:cNvPr id="9" name="Image 2" descr="preencoded.png"/>
          <p:cNvPicPr>
            <a:picLocks noChangeAspect="1"/>
          </p:cNvPicPr>
          <p:nvPr/>
        </p:nvPicPr>
        <p:blipFill>
          <a:blip r:embed="rId5"/>
          <a:stretch>
            <a:fillRect/>
          </a:stretch>
        </p:blipFill>
        <p:spPr>
          <a:xfrm>
            <a:off x="7512010" y="4765834"/>
            <a:ext cx="337423" cy="421719"/>
          </a:xfrm>
          <a:prstGeom prst="rect">
            <a:avLst/>
          </a:prstGeom>
        </p:spPr>
      </p:pic>
      <p:sp>
        <p:nvSpPr>
          <p:cNvPr id="10" name="Text 5"/>
          <p:cNvSpPr/>
          <p:nvPr/>
        </p:nvSpPr>
        <p:spPr>
          <a:xfrm>
            <a:off x="8158758" y="4723686"/>
            <a:ext cx="2811899" cy="351472"/>
          </a:xfrm>
          <a:prstGeom prst="rect">
            <a:avLst/>
          </a:prstGeom>
          <a:noFill/>
          <a:ln/>
        </p:spPr>
        <p:txBody>
          <a:bodyPr wrap="none" lIns="0" tIns="0" rIns="0" bIns="0" rtlCol="0" anchor="t"/>
          <a:lstStyle/>
          <a:p>
            <a:pPr marL="0" indent="0" algn="l">
              <a:lnSpc>
                <a:spcPts val="2750"/>
              </a:lnSpc>
              <a:buNone/>
            </a:pPr>
            <a:r>
              <a:rPr lang="en-US" sz="2200" b="1" dirty="0">
                <a:solidFill>
                  <a:srgbClr val="3C3939"/>
                </a:solidFill>
                <a:latin typeface="Times New Roman" panose="02020603050405020304" pitchFamily="18" charset="0"/>
                <a:ea typeface="Raleway" pitchFamily="34" charset="-122"/>
                <a:cs typeface="Times New Roman" panose="02020603050405020304" pitchFamily="18" charset="0"/>
              </a:rPr>
              <a:t>Energy Efficiency</a:t>
            </a:r>
            <a:endParaRPr lang="en-US" sz="2200" b="1" dirty="0">
              <a:latin typeface="Times New Roman" panose="02020603050405020304" pitchFamily="18" charset="0"/>
              <a:cs typeface="Times New Roman" panose="02020603050405020304" pitchFamily="18" charset="0"/>
            </a:endParaRPr>
          </a:p>
        </p:txBody>
      </p:sp>
      <p:sp>
        <p:nvSpPr>
          <p:cNvPr id="11" name="Text 6"/>
          <p:cNvSpPr/>
          <p:nvPr/>
        </p:nvSpPr>
        <p:spPr>
          <a:xfrm>
            <a:off x="8158758" y="5210056"/>
            <a:ext cx="5684520" cy="719614"/>
          </a:xfrm>
          <a:prstGeom prst="rect">
            <a:avLst/>
          </a:prstGeom>
          <a:noFill/>
          <a:ln/>
        </p:spPr>
        <p:txBody>
          <a:bodyPr wrap="square" lIns="0" tIns="0" rIns="0" bIns="0" rtlCol="0" anchor="t"/>
          <a:lstStyle/>
          <a:p>
            <a:pPr marL="0" indent="0" algn="l">
              <a:lnSpc>
                <a:spcPts val="2800"/>
              </a:lnSpc>
              <a:buNone/>
            </a:pPr>
            <a:r>
              <a:rPr lang="en-US" sz="1750" dirty="0">
                <a:solidFill>
                  <a:srgbClr val="3C3939"/>
                </a:solidFill>
                <a:latin typeface="Times New Roman" panose="02020603050405020304" pitchFamily="18" charset="0"/>
                <a:ea typeface="Roboto" pitchFamily="34" charset="-122"/>
                <a:cs typeface="Times New Roman" panose="02020603050405020304" pitchFamily="18" charset="0"/>
              </a:rPr>
              <a:t>Outdated systems waste 20-30% of electricity. Textile mills lose PKR 15-20M/year.</a:t>
            </a:r>
            <a:endParaRPr lang="en-US" sz="1750" dirty="0">
              <a:latin typeface="Times New Roman" panose="02020603050405020304" pitchFamily="18" charset="0"/>
              <a:cs typeface="Times New Roman" panose="02020603050405020304" pitchFamily="18" charset="0"/>
            </a:endParaRPr>
          </a:p>
        </p:txBody>
      </p:sp>
      <p:sp>
        <p:nvSpPr>
          <p:cNvPr id="12" name="Shape 7"/>
          <p:cNvSpPr/>
          <p:nvPr/>
        </p:nvSpPr>
        <p:spPr>
          <a:xfrm>
            <a:off x="787241" y="6407587"/>
            <a:ext cx="506135" cy="506135"/>
          </a:xfrm>
          <a:prstGeom prst="roundRect">
            <a:avLst>
              <a:gd name="adj" fmla="val 18667"/>
            </a:avLst>
          </a:prstGeom>
          <a:solidFill>
            <a:srgbClr val="E1E1EA"/>
          </a:solidFill>
          <a:ln w="7620">
            <a:solidFill>
              <a:srgbClr val="C7C7D0"/>
            </a:solidFill>
            <a:prstDash val="solid"/>
          </a:ln>
        </p:spPr>
      </p:sp>
      <p:pic>
        <p:nvPicPr>
          <p:cNvPr id="13" name="Image 3" descr="preencoded.png"/>
          <p:cNvPicPr>
            <a:picLocks noChangeAspect="1"/>
          </p:cNvPicPr>
          <p:nvPr/>
        </p:nvPicPr>
        <p:blipFill>
          <a:blip r:embed="rId6"/>
          <a:stretch>
            <a:fillRect/>
          </a:stretch>
        </p:blipFill>
        <p:spPr>
          <a:xfrm>
            <a:off x="871538" y="6449735"/>
            <a:ext cx="337423" cy="421719"/>
          </a:xfrm>
          <a:prstGeom prst="rect">
            <a:avLst/>
          </a:prstGeom>
        </p:spPr>
      </p:pic>
      <p:sp>
        <p:nvSpPr>
          <p:cNvPr id="14" name="Text 8"/>
          <p:cNvSpPr/>
          <p:nvPr/>
        </p:nvSpPr>
        <p:spPr>
          <a:xfrm>
            <a:off x="1518285" y="6407587"/>
            <a:ext cx="2811899" cy="351472"/>
          </a:xfrm>
          <a:prstGeom prst="rect">
            <a:avLst/>
          </a:prstGeom>
          <a:noFill/>
          <a:ln/>
        </p:spPr>
        <p:txBody>
          <a:bodyPr wrap="none" lIns="0" tIns="0" rIns="0" bIns="0" rtlCol="0" anchor="t"/>
          <a:lstStyle/>
          <a:p>
            <a:pPr marL="0" indent="0" algn="l">
              <a:lnSpc>
                <a:spcPts val="2750"/>
              </a:lnSpc>
              <a:buNone/>
            </a:pPr>
            <a:r>
              <a:rPr lang="en-US" sz="2200" b="1" dirty="0">
                <a:solidFill>
                  <a:srgbClr val="3C3939"/>
                </a:solidFill>
                <a:latin typeface="Times New Roman" panose="02020603050405020304" pitchFamily="18" charset="0"/>
                <a:ea typeface="Raleway" pitchFamily="34" charset="-122"/>
                <a:cs typeface="Times New Roman" panose="02020603050405020304" pitchFamily="18" charset="0"/>
              </a:rPr>
              <a:t>Regulatory Hurdles</a:t>
            </a:r>
            <a:endParaRPr lang="en-US" sz="2200" b="1" dirty="0">
              <a:latin typeface="Times New Roman" panose="02020603050405020304" pitchFamily="18" charset="0"/>
              <a:cs typeface="Times New Roman" panose="02020603050405020304" pitchFamily="18" charset="0"/>
            </a:endParaRPr>
          </a:p>
        </p:txBody>
      </p:sp>
      <p:sp>
        <p:nvSpPr>
          <p:cNvPr id="15" name="Text 9"/>
          <p:cNvSpPr/>
          <p:nvPr/>
        </p:nvSpPr>
        <p:spPr>
          <a:xfrm>
            <a:off x="1528918" y="6904590"/>
            <a:ext cx="5684520" cy="719614"/>
          </a:xfrm>
          <a:prstGeom prst="rect">
            <a:avLst/>
          </a:prstGeom>
          <a:noFill/>
          <a:ln/>
        </p:spPr>
        <p:txBody>
          <a:bodyPr wrap="square" lIns="0" tIns="0" rIns="0" bIns="0" rtlCol="0" anchor="t"/>
          <a:lstStyle/>
          <a:p>
            <a:pPr marL="0" indent="0" algn="l">
              <a:lnSpc>
                <a:spcPts val="2800"/>
              </a:lnSpc>
              <a:buNone/>
            </a:pPr>
            <a:r>
              <a:rPr lang="en-US" sz="1750" dirty="0">
                <a:solidFill>
                  <a:srgbClr val="3C3939"/>
                </a:solidFill>
                <a:latin typeface="Times New Roman" panose="02020603050405020304" pitchFamily="18" charset="0"/>
                <a:ea typeface="Roboto" pitchFamily="34" charset="-122"/>
                <a:cs typeface="Times New Roman" panose="02020603050405020304" pitchFamily="18" charset="0"/>
              </a:rPr>
              <a:t>Outdated regulations force the use of inefficient systems.</a:t>
            </a:r>
            <a:endParaRPr lang="en-US" sz="1750" dirty="0">
              <a:latin typeface="Times New Roman" panose="02020603050405020304" pitchFamily="18" charset="0"/>
              <a:cs typeface="Times New Roman" panose="02020603050405020304" pitchFamily="18" charset="0"/>
            </a:endParaRPr>
          </a:p>
        </p:txBody>
      </p:sp>
      <p:sp>
        <p:nvSpPr>
          <p:cNvPr id="16" name="Shape 10"/>
          <p:cNvSpPr/>
          <p:nvPr/>
        </p:nvSpPr>
        <p:spPr>
          <a:xfrm>
            <a:off x="7427714" y="6407587"/>
            <a:ext cx="506135" cy="506135"/>
          </a:xfrm>
          <a:prstGeom prst="roundRect">
            <a:avLst>
              <a:gd name="adj" fmla="val 18667"/>
            </a:avLst>
          </a:prstGeom>
          <a:solidFill>
            <a:srgbClr val="E1E1EA"/>
          </a:solidFill>
          <a:ln w="7620">
            <a:solidFill>
              <a:srgbClr val="C7C7D0"/>
            </a:solidFill>
            <a:prstDash val="solid"/>
          </a:ln>
        </p:spPr>
      </p:sp>
      <p:pic>
        <p:nvPicPr>
          <p:cNvPr id="17" name="Image 4" descr="preencoded.png"/>
          <p:cNvPicPr>
            <a:picLocks noChangeAspect="1"/>
          </p:cNvPicPr>
          <p:nvPr/>
        </p:nvPicPr>
        <p:blipFill>
          <a:blip r:embed="rId7"/>
          <a:stretch>
            <a:fillRect/>
          </a:stretch>
        </p:blipFill>
        <p:spPr>
          <a:xfrm>
            <a:off x="7512010" y="6449735"/>
            <a:ext cx="337423" cy="421719"/>
          </a:xfrm>
          <a:prstGeom prst="rect">
            <a:avLst/>
          </a:prstGeom>
        </p:spPr>
      </p:pic>
      <p:sp>
        <p:nvSpPr>
          <p:cNvPr id="18" name="Text 11"/>
          <p:cNvSpPr/>
          <p:nvPr/>
        </p:nvSpPr>
        <p:spPr>
          <a:xfrm>
            <a:off x="8158758" y="6407587"/>
            <a:ext cx="2811899" cy="351472"/>
          </a:xfrm>
          <a:prstGeom prst="rect">
            <a:avLst/>
          </a:prstGeom>
          <a:noFill/>
          <a:ln/>
        </p:spPr>
        <p:txBody>
          <a:bodyPr wrap="none" lIns="0" tIns="0" rIns="0" bIns="0" rtlCol="0" anchor="t"/>
          <a:lstStyle/>
          <a:p>
            <a:pPr marL="0" indent="0" algn="l">
              <a:lnSpc>
                <a:spcPts val="2750"/>
              </a:lnSpc>
              <a:buNone/>
            </a:pPr>
            <a:r>
              <a:rPr lang="en-US" sz="2200" b="1" dirty="0">
                <a:solidFill>
                  <a:srgbClr val="3C3939"/>
                </a:solidFill>
                <a:latin typeface="Times New Roman" panose="02020603050405020304" pitchFamily="18" charset="0"/>
                <a:ea typeface="Raleway" pitchFamily="34" charset="-122"/>
                <a:cs typeface="Times New Roman" panose="02020603050405020304" pitchFamily="18" charset="0"/>
              </a:rPr>
              <a:t>Skills Gap</a:t>
            </a:r>
            <a:endParaRPr lang="en-US" sz="2200" b="1" dirty="0">
              <a:latin typeface="Times New Roman" panose="02020603050405020304" pitchFamily="18" charset="0"/>
              <a:cs typeface="Times New Roman" panose="02020603050405020304" pitchFamily="18" charset="0"/>
            </a:endParaRPr>
          </a:p>
        </p:txBody>
      </p:sp>
      <p:sp>
        <p:nvSpPr>
          <p:cNvPr id="19" name="Text 12"/>
          <p:cNvSpPr/>
          <p:nvPr/>
        </p:nvSpPr>
        <p:spPr>
          <a:xfrm>
            <a:off x="8158758" y="6893957"/>
            <a:ext cx="5684520" cy="719614"/>
          </a:xfrm>
          <a:prstGeom prst="rect">
            <a:avLst/>
          </a:prstGeom>
          <a:noFill/>
          <a:ln/>
        </p:spPr>
        <p:txBody>
          <a:bodyPr wrap="square" lIns="0" tIns="0" rIns="0" bIns="0" rtlCol="0" anchor="t"/>
          <a:lstStyle/>
          <a:p>
            <a:pPr marL="0" indent="0" algn="l">
              <a:lnSpc>
                <a:spcPts val="2800"/>
              </a:lnSpc>
              <a:buNone/>
            </a:pPr>
            <a:r>
              <a:rPr lang="en-US" sz="1750" dirty="0">
                <a:solidFill>
                  <a:srgbClr val="3C3939"/>
                </a:solidFill>
                <a:latin typeface="Times New Roman" panose="02020603050405020304" pitchFamily="18" charset="0"/>
                <a:ea typeface="Roboto" pitchFamily="34" charset="-122"/>
                <a:cs typeface="Times New Roman" panose="02020603050405020304" pitchFamily="18" charset="0"/>
              </a:rPr>
              <a:t>Lack of trained personnel. Only 12 universities offer automation engineering.</a:t>
            </a:r>
            <a:endParaRPr lang="en-US" sz="1750" dirty="0">
              <a:latin typeface="Times New Roman" panose="02020603050405020304" pitchFamily="18" charset="0"/>
              <a:cs typeface="Times New Roman" panose="02020603050405020304" pitchFamily="18" charset="0"/>
            </a:endParaRPr>
          </a:p>
        </p:txBody>
      </p:sp>
      <p:sp>
        <p:nvSpPr>
          <p:cNvPr id="20" name="Rectangle 19"/>
          <p:cNvSpPr/>
          <p:nvPr/>
        </p:nvSpPr>
        <p:spPr>
          <a:xfrm>
            <a:off x="12790967" y="7783033"/>
            <a:ext cx="1839433" cy="35087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1060133"/>
            <a:ext cx="7556421" cy="1417558"/>
          </a:xfrm>
          <a:prstGeom prst="rect">
            <a:avLst/>
          </a:prstGeom>
          <a:noFill/>
          <a:ln/>
        </p:spPr>
        <p:txBody>
          <a:bodyPr wrap="square" lIns="0" tIns="0" rIns="0" bIns="0" rtlCol="0" anchor="t"/>
          <a:lstStyle/>
          <a:p>
            <a:pPr marL="0" indent="0" algn="l">
              <a:lnSpc>
                <a:spcPts val="5550"/>
              </a:lnSpc>
              <a:buNone/>
            </a:pPr>
            <a:r>
              <a:rPr lang="en-US" sz="4450" b="1" dirty="0">
                <a:solidFill>
                  <a:srgbClr val="1B1B27"/>
                </a:solidFill>
                <a:latin typeface="Times New Roman" panose="02020603050405020304" pitchFamily="18" charset="0"/>
                <a:ea typeface="Raleway" pitchFamily="34" charset="-122"/>
                <a:cs typeface="Times New Roman" panose="02020603050405020304" pitchFamily="18" charset="0"/>
              </a:rPr>
              <a:t>Technical Deep Dive: Investment &amp; Efficiency</a:t>
            </a:r>
            <a:endParaRPr lang="en-US" sz="4450" b="1" dirty="0">
              <a:latin typeface="Times New Roman" panose="02020603050405020304" pitchFamily="18" charset="0"/>
              <a:cs typeface="Times New Roman" panose="02020603050405020304" pitchFamily="18" charset="0"/>
            </a:endParaRPr>
          </a:p>
        </p:txBody>
      </p:sp>
      <p:pic>
        <p:nvPicPr>
          <p:cNvPr id="4" name="Image 1" descr="preencoded.png"/>
          <p:cNvPicPr>
            <a:picLocks noChangeAspect="1"/>
          </p:cNvPicPr>
          <p:nvPr/>
        </p:nvPicPr>
        <p:blipFill>
          <a:blip r:embed="rId4"/>
          <a:stretch>
            <a:fillRect/>
          </a:stretch>
        </p:blipFill>
        <p:spPr>
          <a:xfrm>
            <a:off x="793790" y="3073003"/>
            <a:ext cx="566976" cy="566976"/>
          </a:xfrm>
          <a:prstGeom prst="rect">
            <a:avLst/>
          </a:prstGeom>
        </p:spPr>
      </p:pic>
      <p:sp>
        <p:nvSpPr>
          <p:cNvPr id="5" name="Text 1"/>
          <p:cNvSpPr/>
          <p:nvPr/>
        </p:nvSpPr>
        <p:spPr>
          <a:xfrm>
            <a:off x="793790" y="3866793"/>
            <a:ext cx="3021687" cy="354330"/>
          </a:xfrm>
          <a:prstGeom prst="rect">
            <a:avLst/>
          </a:prstGeom>
          <a:noFill/>
          <a:ln/>
        </p:spPr>
        <p:txBody>
          <a:bodyPr wrap="none" lIns="0" tIns="0" rIns="0" bIns="0" rtlCol="0" anchor="t"/>
          <a:lstStyle/>
          <a:p>
            <a:pPr marL="0" indent="0" algn="l">
              <a:lnSpc>
                <a:spcPts val="2750"/>
              </a:lnSpc>
              <a:buNone/>
            </a:pPr>
            <a:r>
              <a:rPr lang="en-US" sz="2200" dirty="0">
                <a:solidFill>
                  <a:srgbClr val="3C3939"/>
                </a:solidFill>
                <a:latin typeface="Times New Roman" panose="02020603050405020304" pitchFamily="18" charset="0"/>
                <a:ea typeface="Raleway" pitchFamily="34" charset="-122"/>
                <a:cs typeface="Times New Roman" panose="02020603050405020304" pitchFamily="18" charset="0"/>
              </a:rPr>
              <a:t> </a:t>
            </a:r>
            <a:r>
              <a:rPr lang="en-US" sz="2200" b="1" dirty="0">
                <a:solidFill>
                  <a:srgbClr val="3C3939"/>
                </a:solidFill>
                <a:latin typeface="Times New Roman" panose="02020603050405020304" pitchFamily="18" charset="0"/>
                <a:ea typeface="Raleway" pitchFamily="34" charset="-122"/>
                <a:cs typeface="Times New Roman" panose="02020603050405020304" pitchFamily="18" charset="0"/>
              </a:rPr>
              <a:t>High Investment Costs</a:t>
            </a:r>
            <a:endParaRPr lang="en-US" sz="2200" b="1" dirty="0">
              <a:latin typeface="Times New Roman" panose="02020603050405020304" pitchFamily="18" charset="0"/>
              <a:cs typeface="Times New Roman" panose="02020603050405020304" pitchFamily="18" charset="0"/>
            </a:endParaRPr>
          </a:p>
        </p:txBody>
      </p:sp>
      <p:sp>
        <p:nvSpPr>
          <p:cNvPr id="6" name="Text 2"/>
          <p:cNvSpPr/>
          <p:nvPr/>
        </p:nvSpPr>
        <p:spPr>
          <a:xfrm>
            <a:off x="793790" y="4447937"/>
            <a:ext cx="3501509"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3C3939"/>
                </a:solidFill>
                <a:latin typeface="Times New Roman" panose="02020603050405020304" pitchFamily="18" charset="0"/>
                <a:ea typeface="Roboto" pitchFamily="34" charset="-122"/>
                <a:cs typeface="Times New Roman" panose="02020603050405020304" pitchFamily="18" charset="0"/>
              </a:rPr>
              <a:t>Upfront capital can be a barrier.</a:t>
            </a:r>
            <a:endParaRPr lang="en-US" sz="1750" dirty="0">
              <a:latin typeface="Times New Roman" panose="02020603050405020304" pitchFamily="18" charset="0"/>
              <a:cs typeface="Times New Roman" panose="02020603050405020304" pitchFamily="18" charset="0"/>
            </a:endParaRPr>
          </a:p>
        </p:txBody>
      </p:sp>
      <p:sp>
        <p:nvSpPr>
          <p:cNvPr id="7" name="Text 3"/>
          <p:cNvSpPr/>
          <p:nvPr/>
        </p:nvSpPr>
        <p:spPr>
          <a:xfrm>
            <a:off x="793790" y="5253038"/>
            <a:ext cx="3501509"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3C3939"/>
                </a:solidFill>
                <a:latin typeface="Times New Roman" panose="02020603050405020304" pitchFamily="18" charset="0"/>
                <a:ea typeface="Roboto" pitchFamily="34" charset="-122"/>
                <a:cs typeface="Times New Roman" panose="02020603050405020304" pitchFamily="18" charset="0"/>
              </a:rPr>
              <a:t>Requires maintenance and may suffer downtime.</a:t>
            </a:r>
            <a:endParaRPr lang="en-US" sz="1750" dirty="0">
              <a:latin typeface="Times New Roman" panose="02020603050405020304" pitchFamily="18" charset="0"/>
              <a:cs typeface="Times New Roman" panose="02020603050405020304" pitchFamily="18" charset="0"/>
            </a:endParaRPr>
          </a:p>
        </p:txBody>
      </p:sp>
      <p:sp>
        <p:nvSpPr>
          <p:cNvPr id="8" name="Text 4"/>
          <p:cNvSpPr/>
          <p:nvPr/>
        </p:nvSpPr>
        <p:spPr>
          <a:xfrm>
            <a:off x="793790" y="6233993"/>
            <a:ext cx="2835235" cy="708660"/>
          </a:xfrm>
          <a:prstGeom prst="rect">
            <a:avLst/>
          </a:prstGeom>
          <a:noFill/>
          <a:ln/>
        </p:spPr>
        <p:txBody>
          <a:bodyPr wrap="square" lIns="0" tIns="0" rIns="0" bIns="0" rtlCol="0" anchor="t"/>
          <a:lstStyle/>
          <a:p>
            <a:pPr marL="0" indent="0" algn="l">
              <a:lnSpc>
                <a:spcPts val="2750"/>
              </a:lnSpc>
              <a:buNone/>
            </a:pPr>
            <a:r>
              <a:rPr lang="en-US" sz="2200" dirty="0">
                <a:solidFill>
                  <a:srgbClr val="1B1B27"/>
                </a:solidFill>
                <a:latin typeface="Times New Roman" panose="02020603050405020304" pitchFamily="18" charset="0"/>
                <a:ea typeface="Raleway" pitchFamily="34" charset="-122"/>
                <a:cs typeface="Times New Roman" panose="02020603050405020304" pitchFamily="18" charset="0"/>
              </a:rPr>
              <a:t>
</a:t>
            </a:r>
            <a:endParaRPr lang="en-US" sz="2200" dirty="0">
              <a:latin typeface="Times New Roman" panose="02020603050405020304" pitchFamily="18" charset="0"/>
              <a:cs typeface="Times New Roman" panose="02020603050405020304" pitchFamily="18" charset="0"/>
            </a:endParaRPr>
          </a:p>
        </p:txBody>
      </p:sp>
      <p:pic>
        <p:nvPicPr>
          <p:cNvPr id="9" name="Image 2" descr="preencoded.png"/>
          <p:cNvPicPr>
            <a:picLocks noChangeAspect="1"/>
          </p:cNvPicPr>
          <p:nvPr/>
        </p:nvPicPr>
        <p:blipFill>
          <a:blip r:embed="rId5"/>
          <a:stretch>
            <a:fillRect/>
          </a:stretch>
        </p:blipFill>
        <p:spPr>
          <a:xfrm>
            <a:off x="4856321" y="3073003"/>
            <a:ext cx="566976" cy="566976"/>
          </a:xfrm>
          <a:prstGeom prst="rect">
            <a:avLst/>
          </a:prstGeom>
        </p:spPr>
      </p:pic>
      <p:sp>
        <p:nvSpPr>
          <p:cNvPr id="10" name="Text 5"/>
          <p:cNvSpPr/>
          <p:nvPr/>
        </p:nvSpPr>
        <p:spPr>
          <a:xfrm>
            <a:off x="4856321" y="3866793"/>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3C3939"/>
                </a:solidFill>
                <a:latin typeface="Times New Roman" panose="02020603050405020304" pitchFamily="18" charset="0"/>
                <a:ea typeface="Raleway" pitchFamily="34" charset="-122"/>
                <a:cs typeface="Times New Roman" panose="02020603050405020304" pitchFamily="18" charset="0"/>
              </a:rPr>
              <a:t> </a:t>
            </a:r>
            <a:r>
              <a:rPr lang="en-US" sz="2200" b="1" dirty="0">
                <a:solidFill>
                  <a:srgbClr val="3C3939"/>
                </a:solidFill>
                <a:latin typeface="Times New Roman" panose="02020603050405020304" pitchFamily="18" charset="0"/>
                <a:ea typeface="Raleway" pitchFamily="34" charset="-122"/>
                <a:cs typeface="Times New Roman" panose="02020603050405020304" pitchFamily="18" charset="0"/>
              </a:rPr>
              <a:t>Energy Efficiency</a:t>
            </a:r>
            <a:endParaRPr lang="en-US" sz="2200" b="1" dirty="0">
              <a:latin typeface="Times New Roman" panose="02020603050405020304" pitchFamily="18" charset="0"/>
              <a:cs typeface="Times New Roman" panose="02020603050405020304" pitchFamily="18" charset="0"/>
            </a:endParaRPr>
          </a:p>
        </p:txBody>
      </p:sp>
      <p:sp>
        <p:nvSpPr>
          <p:cNvPr id="11" name="Text 6"/>
          <p:cNvSpPr/>
          <p:nvPr/>
        </p:nvSpPr>
        <p:spPr>
          <a:xfrm>
            <a:off x="4856321" y="4447937"/>
            <a:ext cx="3501509"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3C3939"/>
                </a:solidFill>
                <a:latin typeface="Times New Roman" panose="02020603050405020304" pitchFamily="18" charset="0"/>
                <a:ea typeface="Roboto" pitchFamily="34" charset="-122"/>
                <a:cs typeface="Times New Roman" panose="02020603050405020304" pitchFamily="18" charset="0"/>
              </a:rPr>
              <a:t>Automation can lead to higher consumption.</a:t>
            </a:r>
            <a:endParaRPr lang="en-US" sz="1750" dirty="0">
              <a:latin typeface="Times New Roman" panose="02020603050405020304" pitchFamily="18" charset="0"/>
              <a:cs typeface="Times New Roman" panose="02020603050405020304" pitchFamily="18" charset="0"/>
            </a:endParaRPr>
          </a:p>
        </p:txBody>
      </p:sp>
      <p:sp>
        <p:nvSpPr>
          <p:cNvPr id="12" name="Text 7"/>
          <p:cNvSpPr/>
          <p:nvPr/>
        </p:nvSpPr>
        <p:spPr>
          <a:xfrm>
            <a:off x="4856321" y="5253038"/>
            <a:ext cx="3501509"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3C3939"/>
                </a:solidFill>
                <a:latin typeface="Times New Roman" panose="02020603050405020304" pitchFamily="18" charset="0"/>
                <a:ea typeface="Roboto" pitchFamily="34" charset="-122"/>
                <a:cs typeface="Times New Roman" panose="02020603050405020304" pitchFamily="18" charset="0"/>
              </a:rPr>
              <a:t>Equipment may consume energy even when idle</a:t>
            </a:r>
            <a:endParaRPr lang="en-US" sz="175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1651159"/>
            <a:ext cx="7556421" cy="1417558"/>
          </a:xfrm>
          <a:prstGeom prst="rect">
            <a:avLst/>
          </a:prstGeom>
          <a:noFill/>
          <a:ln/>
        </p:spPr>
        <p:txBody>
          <a:bodyPr wrap="square" lIns="0" tIns="0" rIns="0" bIns="0" rtlCol="0" anchor="t"/>
          <a:lstStyle/>
          <a:p>
            <a:pPr marL="0" indent="0" algn="l">
              <a:lnSpc>
                <a:spcPts val="5550"/>
              </a:lnSpc>
              <a:buNone/>
            </a:pPr>
            <a:r>
              <a:rPr lang="en-US" sz="4450" b="1" dirty="0">
                <a:solidFill>
                  <a:srgbClr val="1B1B27"/>
                </a:solidFill>
                <a:latin typeface="Times New Roman" panose="02020603050405020304" pitchFamily="18" charset="0"/>
                <a:ea typeface="Raleway" pitchFamily="34" charset="-122"/>
                <a:cs typeface="Times New Roman" panose="02020603050405020304" pitchFamily="18" charset="0"/>
              </a:rPr>
              <a:t>Technical Deep Dive: Regulations &amp; Skills</a:t>
            </a:r>
            <a:endParaRPr lang="en-US" sz="4450" b="1" dirty="0">
              <a:latin typeface="Times New Roman" panose="02020603050405020304" pitchFamily="18" charset="0"/>
              <a:cs typeface="Times New Roman" panose="02020603050405020304" pitchFamily="18" charset="0"/>
            </a:endParaRPr>
          </a:p>
        </p:txBody>
      </p:sp>
      <p:pic>
        <p:nvPicPr>
          <p:cNvPr id="4" name="Image 1" descr="preencoded.png"/>
          <p:cNvPicPr>
            <a:picLocks noChangeAspect="1"/>
          </p:cNvPicPr>
          <p:nvPr/>
        </p:nvPicPr>
        <p:blipFill>
          <a:blip r:embed="rId4"/>
          <a:stretch>
            <a:fillRect/>
          </a:stretch>
        </p:blipFill>
        <p:spPr>
          <a:xfrm>
            <a:off x="6280190" y="3408878"/>
            <a:ext cx="566976" cy="566976"/>
          </a:xfrm>
          <a:prstGeom prst="rect">
            <a:avLst/>
          </a:prstGeom>
        </p:spPr>
      </p:pic>
      <p:sp>
        <p:nvSpPr>
          <p:cNvPr id="5" name="Text 1"/>
          <p:cNvSpPr/>
          <p:nvPr/>
        </p:nvSpPr>
        <p:spPr>
          <a:xfrm>
            <a:off x="6280190" y="4202668"/>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3C3939"/>
                </a:solidFill>
                <a:latin typeface="Times New Roman" panose="02020603050405020304" pitchFamily="18" charset="0"/>
                <a:ea typeface="Raleway" pitchFamily="34" charset="-122"/>
                <a:cs typeface="Times New Roman" panose="02020603050405020304" pitchFamily="18" charset="0"/>
              </a:rPr>
              <a:t>Regulatory Hurdles</a:t>
            </a:r>
            <a:endParaRPr lang="en-US" sz="2200" b="1" dirty="0">
              <a:latin typeface="Times New Roman" panose="02020603050405020304" pitchFamily="18" charset="0"/>
              <a:cs typeface="Times New Roman" panose="02020603050405020304" pitchFamily="18" charset="0"/>
            </a:endParaRPr>
          </a:p>
        </p:txBody>
      </p:sp>
      <p:sp>
        <p:nvSpPr>
          <p:cNvPr id="6" name="Text 2"/>
          <p:cNvSpPr/>
          <p:nvPr/>
        </p:nvSpPr>
        <p:spPr>
          <a:xfrm>
            <a:off x="6280190" y="4693087"/>
            <a:ext cx="3608070"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3C3939"/>
                </a:solidFill>
                <a:latin typeface="Times New Roman" panose="02020603050405020304" pitchFamily="18" charset="0"/>
                <a:ea typeface="Roboto" pitchFamily="34" charset="-122"/>
                <a:cs typeface="Times New Roman" panose="02020603050405020304" pitchFamily="18" charset="0"/>
              </a:rPr>
              <a:t>Must comply with strict safety regulations.</a:t>
            </a:r>
            <a:endParaRPr lang="en-US" sz="1750" dirty="0">
              <a:latin typeface="Times New Roman" panose="02020603050405020304" pitchFamily="18" charset="0"/>
              <a:cs typeface="Times New Roman" panose="02020603050405020304" pitchFamily="18" charset="0"/>
            </a:endParaRPr>
          </a:p>
        </p:txBody>
      </p:sp>
      <p:sp>
        <p:nvSpPr>
          <p:cNvPr id="7" name="Text 3"/>
          <p:cNvSpPr/>
          <p:nvPr/>
        </p:nvSpPr>
        <p:spPr>
          <a:xfrm>
            <a:off x="6280190" y="5498187"/>
            <a:ext cx="3608070"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3C3939"/>
                </a:solidFill>
                <a:latin typeface="Times New Roman" panose="02020603050405020304" pitchFamily="18" charset="0"/>
                <a:ea typeface="Roboto" pitchFamily="34" charset="-122"/>
                <a:cs typeface="Times New Roman" panose="02020603050405020304" pitchFamily="18" charset="0"/>
              </a:rPr>
              <a:t>Adhere to environmental rules on emissions.</a:t>
            </a:r>
            <a:endParaRPr lang="en-US" sz="1750" dirty="0">
              <a:latin typeface="Times New Roman" panose="02020603050405020304" pitchFamily="18" charset="0"/>
              <a:cs typeface="Times New Roman" panose="02020603050405020304" pitchFamily="18" charset="0"/>
            </a:endParaRPr>
          </a:p>
        </p:txBody>
      </p:sp>
      <p:pic>
        <p:nvPicPr>
          <p:cNvPr id="8" name="Image 2" descr="preencoded.png"/>
          <p:cNvPicPr>
            <a:picLocks noChangeAspect="1"/>
          </p:cNvPicPr>
          <p:nvPr/>
        </p:nvPicPr>
        <p:blipFill>
          <a:blip r:embed="rId5"/>
          <a:stretch>
            <a:fillRect/>
          </a:stretch>
        </p:blipFill>
        <p:spPr>
          <a:xfrm>
            <a:off x="10228421" y="3408878"/>
            <a:ext cx="566976" cy="566976"/>
          </a:xfrm>
          <a:prstGeom prst="rect">
            <a:avLst/>
          </a:prstGeom>
        </p:spPr>
      </p:pic>
      <p:sp>
        <p:nvSpPr>
          <p:cNvPr id="9" name="Text 4"/>
          <p:cNvSpPr/>
          <p:nvPr/>
        </p:nvSpPr>
        <p:spPr>
          <a:xfrm>
            <a:off x="10228421" y="4202668"/>
            <a:ext cx="3608189" cy="708660"/>
          </a:xfrm>
          <a:prstGeom prst="rect">
            <a:avLst/>
          </a:prstGeom>
          <a:noFill/>
          <a:ln/>
        </p:spPr>
        <p:txBody>
          <a:bodyPr wrap="square" lIns="0" tIns="0" rIns="0" bIns="0" rtlCol="0" anchor="t"/>
          <a:lstStyle/>
          <a:p>
            <a:pPr marL="0" indent="0" algn="l">
              <a:lnSpc>
                <a:spcPts val="2750"/>
              </a:lnSpc>
              <a:buNone/>
            </a:pPr>
            <a:r>
              <a:rPr lang="en-US" sz="2200" b="1" dirty="0">
                <a:solidFill>
                  <a:srgbClr val="3C3939"/>
                </a:solidFill>
                <a:latin typeface="Times New Roman" panose="02020603050405020304" pitchFamily="18" charset="0"/>
                <a:ea typeface="Raleway" pitchFamily="34" charset="-122"/>
                <a:cs typeface="Times New Roman" panose="02020603050405020304" pitchFamily="18" charset="0"/>
              </a:rPr>
              <a:t>Aging Infrastructure &amp; Skills Gap</a:t>
            </a:r>
            <a:endParaRPr lang="en-US" sz="2200" b="1" dirty="0">
              <a:latin typeface="Times New Roman" panose="02020603050405020304" pitchFamily="18" charset="0"/>
              <a:cs typeface="Times New Roman" panose="02020603050405020304" pitchFamily="18" charset="0"/>
            </a:endParaRPr>
          </a:p>
        </p:txBody>
      </p:sp>
      <p:sp>
        <p:nvSpPr>
          <p:cNvPr id="10" name="Text 5"/>
          <p:cNvSpPr/>
          <p:nvPr/>
        </p:nvSpPr>
        <p:spPr>
          <a:xfrm>
            <a:off x="10228421" y="5047417"/>
            <a:ext cx="3608189"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3C3939"/>
                </a:solidFill>
                <a:latin typeface="Times New Roman" panose="02020603050405020304" pitchFamily="18" charset="0"/>
                <a:ea typeface="Roboto" pitchFamily="34" charset="-122"/>
                <a:cs typeface="Times New Roman" panose="02020603050405020304" pitchFamily="18" charset="0"/>
              </a:rPr>
              <a:t>Workers lack the skills to operate systems.</a:t>
            </a:r>
            <a:endParaRPr lang="en-US" sz="1750" dirty="0">
              <a:latin typeface="Times New Roman" panose="02020603050405020304" pitchFamily="18" charset="0"/>
              <a:cs typeface="Times New Roman" panose="02020603050405020304" pitchFamily="18" charset="0"/>
            </a:endParaRPr>
          </a:p>
        </p:txBody>
      </p:sp>
      <p:sp>
        <p:nvSpPr>
          <p:cNvPr id="11" name="Text 6"/>
          <p:cNvSpPr/>
          <p:nvPr/>
        </p:nvSpPr>
        <p:spPr>
          <a:xfrm>
            <a:off x="10228421" y="5852517"/>
            <a:ext cx="3608189"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3C3939"/>
                </a:solidFill>
                <a:latin typeface="Times New Roman" panose="02020603050405020304" pitchFamily="18" charset="0"/>
                <a:ea typeface="Roboto" pitchFamily="34" charset="-122"/>
                <a:cs typeface="Times New Roman" panose="02020603050405020304" pitchFamily="18" charset="0"/>
              </a:rPr>
              <a:t>Shifts traditional roles to higher-skill positions.</a:t>
            </a:r>
            <a:endParaRPr lang="en-US" sz="1750" dirty="0">
              <a:latin typeface="Times New Roman" panose="02020603050405020304" pitchFamily="18" charset="0"/>
              <a:cs typeface="Times New Roman" panose="02020603050405020304" pitchFamily="18" charset="0"/>
            </a:endParaRPr>
          </a:p>
        </p:txBody>
      </p:sp>
      <p:sp>
        <p:nvSpPr>
          <p:cNvPr id="12" name="Rectangle 11"/>
          <p:cNvSpPr/>
          <p:nvPr/>
        </p:nvSpPr>
        <p:spPr>
          <a:xfrm>
            <a:off x="12890020" y="7783033"/>
            <a:ext cx="1644688" cy="35087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85000"/>
            </a:srgbClr>
          </a:solidFill>
          <a:ln/>
        </p:spPr>
      </p:sp>
      <p:sp>
        <p:nvSpPr>
          <p:cNvPr id="4" name="Text 1"/>
          <p:cNvSpPr/>
          <p:nvPr/>
        </p:nvSpPr>
        <p:spPr>
          <a:xfrm>
            <a:off x="793790" y="1307783"/>
            <a:ext cx="7359372" cy="708779"/>
          </a:xfrm>
          <a:prstGeom prst="rect">
            <a:avLst/>
          </a:prstGeom>
          <a:noFill/>
          <a:ln/>
        </p:spPr>
        <p:txBody>
          <a:bodyPr wrap="none" lIns="0" tIns="0" rIns="0" bIns="0" rtlCol="0" anchor="t"/>
          <a:lstStyle/>
          <a:p>
            <a:pPr marL="0" indent="0" algn="l">
              <a:lnSpc>
                <a:spcPts val="5550"/>
              </a:lnSpc>
              <a:buNone/>
            </a:pPr>
            <a:r>
              <a:rPr lang="en-US" sz="4450" b="1" dirty="0">
                <a:solidFill>
                  <a:srgbClr val="1B1B27"/>
                </a:solidFill>
                <a:latin typeface="Times New Roman" panose="02020603050405020304" pitchFamily="18" charset="0"/>
                <a:ea typeface="Raleway" pitchFamily="34" charset="-122"/>
                <a:cs typeface="Times New Roman" panose="02020603050405020304" pitchFamily="18" charset="0"/>
              </a:rPr>
              <a:t>Solutions: Costs &amp; Efficiency</a:t>
            </a:r>
            <a:endParaRPr lang="en-US" sz="4450" b="1" dirty="0">
              <a:latin typeface="Times New Roman" panose="02020603050405020304" pitchFamily="18" charset="0"/>
              <a:cs typeface="Times New Roman" panose="02020603050405020304" pitchFamily="18" charset="0"/>
            </a:endParaRPr>
          </a:p>
        </p:txBody>
      </p:sp>
      <p:sp>
        <p:nvSpPr>
          <p:cNvPr id="5" name="Text 2"/>
          <p:cNvSpPr/>
          <p:nvPr/>
        </p:nvSpPr>
        <p:spPr>
          <a:xfrm>
            <a:off x="1970603" y="2826901"/>
            <a:ext cx="2835235" cy="354330"/>
          </a:xfrm>
          <a:prstGeom prst="rect">
            <a:avLst/>
          </a:prstGeom>
          <a:noFill/>
          <a:ln/>
        </p:spPr>
        <p:txBody>
          <a:bodyPr wrap="none" lIns="0" tIns="0" rIns="0" bIns="0" rtlCol="0" anchor="t"/>
          <a:lstStyle/>
          <a:p>
            <a:pPr marL="0" indent="0" algn="r">
              <a:lnSpc>
                <a:spcPts val="2750"/>
              </a:lnSpc>
              <a:buNone/>
            </a:pPr>
            <a:r>
              <a:rPr lang="en-US" sz="2200" dirty="0">
                <a:solidFill>
                  <a:srgbClr val="3C3939"/>
                </a:solidFill>
                <a:latin typeface="Times New Roman" panose="02020603050405020304" pitchFamily="18" charset="0"/>
                <a:ea typeface="Raleway" pitchFamily="34" charset="-122"/>
                <a:cs typeface="Times New Roman" panose="02020603050405020304" pitchFamily="18" charset="0"/>
              </a:rPr>
              <a:t>Local Manufacturing</a:t>
            </a:r>
            <a:endParaRPr lang="en-US" sz="2200" dirty="0">
              <a:latin typeface="Times New Roman" panose="02020603050405020304" pitchFamily="18" charset="0"/>
              <a:cs typeface="Times New Roman" panose="02020603050405020304" pitchFamily="18" charset="0"/>
            </a:endParaRPr>
          </a:p>
        </p:txBody>
      </p:sp>
      <p:pic>
        <p:nvPicPr>
          <p:cNvPr id="6" name="Image 1" descr="preencoded.png"/>
          <p:cNvPicPr>
            <a:picLocks noChangeAspect="1"/>
          </p:cNvPicPr>
          <p:nvPr/>
        </p:nvPicPr>
        <p:blipFill>
          <a:blip r:embed="rId4"/>
          <a:stretch>
            <a:fillRect/>
          </a:stretch>
        </p:blipFill>
        <p:spPr>
          <a:xfrm>
            <a:off x="5032653" y="2356723"/>
            <a:ext cx="4564975" cy="4564975"/>
          </a:xfrm>
          <a:prstGeom prst="rect">
            <a:avLst/>
          </a:prstGeom>
        </p:spPr>
      </p:pic>
      <p:sp>
        <p:nvSpPr>
          <p:cNvPr id="7" name="Text 3"/>
          <p:cNvSpPr/>
          <p:nvPr/>
        </p:nvSpPr>
        <p:spPr>
          <a:xfrm>
            <a:off x="6346508" y="3043357"/>
            <a:ext cx="339328" cy="424220"/>
          </a:xfrm>
          <a:prstGeom prst="rect">
            <a:avLst/>
          </a:prstGeom>
          <a:noFill/>
          <a:ln/>
        </p:spPr>
        <p:txBody>
          <a:bodyPr wrap="none" lIns="0" tIns="0" rIns="0" bIns="0" rtlCol="0" anchor="t"/>
          <a:lstStyle/>
          <a:p>
            <a:pPr marL="0" indent="0" algn="l">
              <a:lnSpc>
                <a:spcPts val="4250"/>
              </a:lnSpc>
              <a:buNone/>
            </a:pPr>
            <a:r>
              <a:rPr lang="en-US" sz="2650" dirty="0">
                <a:solidFill>
                  <a:srgbClr val="3C3939"/>
                </a:solidFill>
                <a:latin typeface="Times New Roman" panose="02020603050405020304" pitchFamily="18" charset="0"/>
                <a:ea typeface="Raleway" pitchFamily="34" charset="-122"/>
                <a:cs typeface="Times New Roman" panose="02020603050405020304" pitchFamily="18" charset="0"/>
              </a:rPr>
              <a:t>1</a:t>
            </a:r>
            <a:endParaRPr lang="en-US" sz="2650" dirty="0">
              <a:latin typeface="Times New Roman" panose="02020603050405020304" pitchFamily="18" charset="0"/>
              <a:cs typeface="Times New Roman" panose="02020603050405020304" pitchFamily="18" charset="0"/>
            </a:endParaRPr>
          </a:p>
        </p:txBody>
      </p:sp>
      <p:sp>
        <p:nvSpPr>
          <p:cNvPr id="8" name="Text 4"/>
          <p:cNvSpPr/>
          <p:nvPr/>
        </p:nvSpPr>
        <p:spPr>
          <a:xfrm>
            <a:off x="9824442" y="2826901"/>
            <a:ext cx="3598783" cy="354330"/>
          </a:xfrm>
          <a:prstGeom prst="rect">
            <a:avLst/>
          </a:prstGeom>
          <a:noFill/>
          <a:ln/>
        </p:spPr>
        <p:txBody>
          <a:bodyPr wrap="none" lIns="0" tIns="0" rIns="0" bIns="0" rtlCol="0" anchor="t"/>
          <a:lstStyle/>
          <a:p>
            <a:pPr marL="0" indent="0" algn="l">
              <a:lnSpc>
                <a:spcPts val="2750"/>
              </a:lnSpc>
              <a:buNone/>
            </a:pPr>
            <a:r>
              <a:rPr lang="en-US" sz="2200" dirty="0">
                <a:solidFill>
                  <a:srgbClr val="3C3939"/>
                </a:solidFill>
                <a:latin typeface="Times New Roman" panose="02020603050405020304" pitchFamily="18" charset="0"/>
                <a:ea typeface="Raleway" pitchFamily="34" charset="-122"/>
                <a:cs typeface="Times New Roman" panose="02020603050405020304" pitchFamily="18" charset="0"/>
              </a:rPr>
              <a:t>Renewable Energy Sources</a:t>
            </a:r>
            <a:endParaRPr lang="en-US" sz="2200" dirty="0">
              <a:latin typeface="Times New Roman" panose="02020603050405020304" pitchFamily="18" charset="0"/>
              <a:cs typeface="Times New Roman" panose="02020603050405020304" pitchFamily="18" charset="0"/>
            </a:endParaRPr>
          </a:p>
        </p:txBody>
      </p:sp>
      <p:pic>
        <p:nvPicPr>
          <p:cNvPr id="9" name="Image 2" descr="preencoded.png"/>
          <p:cNvPicPr>
            <a:picLocks noChangeAspect="1"/>
          </p:cNvPicPr>
          <p:nvPr/>
        </p:nvPicPr>
        <p:blipFill>
          <a:blip r:embed="rId5"/>
          <a:stretch>
            <a:fillRect/>
          </a:stretch>
        </p:blipFill>
        <p:spPr>
          <a:xfrm>
            <a:off x="5032653" y="2356723"/>
            <a:ext cx="4564975" cy="4564975"/>
          </a:xfrm>
          <a:prstGeom prst="rect">
            <a:avLst/>
          </a:prstGeom>
        </p:spPr>
      </p:pic>
      <p:pic>
        <p:nvPicPr>
          <p:cNvPr id="10" name="Image 3" descr="preencoded.png"/>
          <p:cNvPicPr>
            <a:picLocks noChangeAspect="1"/>
          </p:cNvPicPr>
          <p:nvPr/>
        </p:nvPicPr>
        <p:blipFill>
          <a:blip r:embed="rId6"/>
          <a:stretch>
            <a:fillRect/>
          </a:stretch>
        </p:blipFill>
        <p:spPr>
          <a:xfrm>
            <a:off x="7944326" y="3043357"/>
            <a:ext cx="339328" cy="424220"/>
          </a:xfrm>
          <a:prstGeom prst="rect">
            <a:avLst/>
          </a:prstGeom>
        </p:spPr>
      </p:pic>
      <p:sp>
        <p:nvSpPr>
          <p:cNvPr id="11" name="Text 5"/>
          <p:cNvSpPr/>
          <p:nvPr/>
        </p:nvSpPr>
        <p:spPr>
          <a:xfrm>
            <a:off x="10051256" y="4461986"/>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3C3939"/>
                </a:solidFill>
                <a:latin typeface="Times New Roman" panose="02020603050405020304" pitchFamily="18" charset="0"/>
                <a:ea typeface="Raleway" pitchFamily="34" charset="-122"/>
                <a:cs typeface="Times New Roman" panose="02020603050405020304" pitchFamily="18" charset="0"/>
              </a:rPr>
              <a:t>Financing Models</a:t>
            </a:r>
            <a:endParaRPr lang="en-US" sz="2200" dirty="0">
              <a:latin typeface="Times New Roman" panose="02020603050405020304" pitchFamily="18" charset="0"/>
              <a:cs typeface="Times New Roman" panose="02020603050405020304" pitchFamily="18" charset="0"/>
            </a:endParaRPr>
          </a:p>
        </p:txBody>
      </p:sp>
      <p:pic>
        <p:nvPicPr>
          <p:cNvPr id="12" name="Image 4" descr="preencoded.png"/>
          <p:cNvPicPr>
            <a:picLocks noChangeAspect="1"/>
          </p:cNvPicPr>
          <p:nvPr/>
        </p:nvPicPr>
        <p:blipFill>
          <a:blip r:embed="rId7"/>
          <a:stretch>
            <a:fillRect/>
          </a:stretch>
        </p:blipFill>
        <p:spPr>
          <a:xfrm>
            <a:off x="5032653" y="2356723"/>
            <a:ext cx="4564975" cy="4564975"/>
          </a:xfrm>
          <a:prstGeom prst="rect">
            <a:avLst/>
          </a:prstGeom>
        </p:spPr>
      </p:pic>
      <p:sp>
        <p:nvSpPr>
          <p:cNvPr id="13" name="Text 6"/>
          <p:cNvSpPr/>
          <p:nvPr/>
        </p:nvSpPr>
        <p:spPr>
          <a:xfrm>
            <a:off x="8743117" y="4426982"/>
            <a:ext cx="339328" cy="424220"/>
          </a:xfrm>
          <a:prstGeom prst="rect">
            <a:avLst/>
          </a:prstGeom>
          <a:noFill/>
          <a:ln/>
        </p:spPr>
        <p:txBody>
          <a:bodyPr wrap="none" lIns="0" tIns="0" rIns="0" bIns="0" rtlCol="0" anchor="t"/>
          <a:lstStyle/>
          <a:p>
            <a:pPr marL="0" indent="0" algn="l">
              <a:lnSpc>
                <a:spcPts val="4250"/>
              </a:lnSpc>
              <a:buNone/>
            </a:pPr>
            <a:r>
              <a:rPr lang="en-US" sz="2650" dirty="0">
                <a:solidFill>
                  <a:srgbClr val="3C3939"/>
                </a:solidFill>
                <a:latin typeface="Times New Roman" panose="02020603050405020304" pitchFamily="18" charset="0"/>
                <a:ea typeface="Raleway" pitchFamily="34" charset="-122"/>
                <a:cs typeface="Times New Roman" panose="02020603050405020304" pitchFamily="18" charset="0"/>
              </a:rPr>
              <a:t>3</a:t>
            </a:r>
            <a:endParaRPr lang="en-US" sz="2650" dirty="0">
              <a:latin typeface="Times New Roman" panose="02020603050405020304" pitchFamily="18" charset="0"/>
              <a:cs typeface="Times New Roman" panose="02020603050405020304" pitchFamily="18" charset="0"/>
            </a:endParaRPr>
          </a:p>
        </p:txBody>
      </p:sp>
      <p:sp>
        <p:nvSpPr>
          <p:cNvPr id="14" name="Text 7"/>
          <p:cNvSpPr/>
          <p:nvPr/>
        </p:nvSpPr>
        <p:spPr>
          <a:xfrm>
            <a:off x="9824442" y="6097072"/>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3C3939"/>
                </a:solidFill>
                <a:latin typeface="Times New Roman" panose="02020603050405020304" pitchFamily="18" charset="0"/>
                <a:ea typeface="Raleway" pitchFamily="34" charset="-122"/>
                <a:cs typeface="Times New Roman" panose="02020603050405020304" pitchFamily="18" charset="0"/>
              </a:rPr>
              <a:t>Smart Motor Systems</a:t>
            </a:r>
            <a:endParaRPr lang="en-US" sz="2200" dirty="0">
              <a:latin typeface="Times New Roman" panose="02020603050405020304" pitchFamily="18" charset="0"/>
              <a:cs typeface="Times New Roman" panose="02020603050405020304" pitchFamily="18" charset="0"/>
            </a:endParaRPr>
          </a:p>
        </p:txBody>
      </p:sp>
      <p:pic>
        <p:nvPicPr>
          <p:cNvPr id="15" name="Image 5" descr="preencoded.png"/>
          <p:cNvPicPr>
            <a:picLocks noChangeAspect="1"/>
          </p:cNvPicPr>
          <p:nvPr/>
        </p:nvPicPr>
        <p:blipFill>
          <a:blip r:embed="rId8"/>
          <a:stretch>
            <a:fillRect/>
          </a:stretch>
        </p:blipFill>
        <p:spPr>
          <a:xfrm>
            <a:off x="5032653" y="2356723"/>
            <a:ext cx="4564975" cy="4564975"/>
          </a:xfrm>
          <a:prstGeom prst="rect">
            <a:avLst/>
          </a:prstGeom>
        </p:spPr>
      </p:pic>
      <p:pic>
        <p:nvPicPr>
          <p:cNvPr id="16" name="Image 6" descr="preencoded.png"/>
          <p:cNvPicPr>
            <a:picLocks noChangeAspect="1"/>
          </p:cNvPicPr>
          <p:nvPr/>
        </p:nvPicPr>
        <p:blipFill>
          <a:blip r:embed="rId9"/>
          <a:stretch>
            <a:fillRect/>
          </a:stretch>
        </p:blipFill>
        <p:spPr>
          <a:xfrm>
            <a:off x="7944326" y="5810607"/>
            <a:ext cx="339328" cy="424220"/>
          </a:xfrm>
          <a:prstGeom prst="rect">
            <a:avLst/>
          </a:prstGeom>
        </p:spPr>
      </p:pic>
      <p:sp>
        <p:nvSpPr>
          <p:cNvPr id="17" name="Text 8"/>
          <p:cNvSpPr/>
          <p:nvPr/>
        </p:nvSpPr>
        <p:spPr>
          <a:xfrm>
            <a:off x="1970603" y="6097072"/>
            <a:ext cx="2835235" cy="354330"/>
          </a:xfrm>
          <a:prstGeom prst="rect">
            <a:avLst/>
          </a:prstGeom>
          <a:noFill/>
          <a:ln/>
        </p:spPr>
        <p:txBody>
          <a:bodyPr wrap="none" lIns="0" tIns="0" rIns="0" bIns="0" rtlCol="0" anchor="t"/>
          <a:lstStyle/>
          <a:p>
            <a:pPr marL="0" indent="0" algn="r">
              <a:lnSpc>
                <a:spcPts val="2750"/>
              </a:lnSpc>
              <a:buNone/>
            </a:pPr>
            <a:r>
              <a:rPr lang="en-US" sz="2200" dirty="0">
                <a:solidFill>
                  <a:srgbClr val="3C3939"/>
                </a:solidFill>
                <a:latin typeface="Times New Roman" panose="02020603050405020304" pitchFamily="18" charset="0"/>
                <a:ea typeface="Raleway" pitchFamily="34" charset="-122"/>
                <a:cs typeface="Times New Roman" panose="02020603050405020304" pitchFamily="18" charset="0"/>
              </a:rPr>
              <a:t>Waste Heat Recovery</a:t>
            </a:r>
            <a:endParaRPr lang="en-US" sz="2200" dirty="0">
              <a:latin typeface="Times New Roman" panose="02020603050405020304" pitchFamily="18" charset="0"/>
              <a:cs typeface="Times New Roman" panose="02020603050405020304" pitchFamily="18" charset="0"/>
            </a:endParaRPr>
          </a:p>
        </p:txBody>
      </p:sp>
      <p:pic>
        <p:nvPicPr>
          <p:cNvPr id="18" name="Image 7" descr="preencoded.png"/>
          <p:cNvPicPr>
            <a:picLocks noChangeAspect="1"/>
          </p:cNvPicPr>
          <p:nvPr/>
        </p:nvPicPr>
        <p:blipFill>
          <a:blip r:embed="rId10"/>
          <a:stretch>
            <a:fillRect/>
          </a:stretch>
        </p:blipFill>
        <p:spPr>
          <a:xfrm>
            <a:off x="5032653" y="2356723"/>
            <a:ext cx="4564975" cy="4564975"/>
          </a:xfrm>
          <a:prstGeom prst="rect">
            <a:avLst/>
          </a:prstGeom>
        </p:spPr>
      </p:pic>
      <p:pic>
        <p:nvPicPr>
          <p:cNvPr id="19" name="Image 8" descr="preencoded.png"/>
          <p:cNvPicPr>
            <a:picLocks noChangeAspect="1"/>
          </p:cNvPicPr>
          <p:nvPr/>
        </p:nvPicPr>
        <p:blipFill>
          <a:blip r:embed="rId11"/>
          <a:stretch>
            <a:fillRect/>
          </a:stretch>
        </p:blipFill>
        <p:spPr>
          <a:xfrm>
            <a:off x="6346508" y="5810607"/>
            <a:ext cx="339328" cy="424220"/>
          </a:xfrm>
          <a:prstGeom prst="rect">
            <a:avLst/>
          </a:prstGeom>
        </p:spPr>
      </p:pic>
      <p:sp>
        <p:nvSpPr>
          <p:cNvPr id="20" name="Text 9"/>
          <p:cNvSpPr/>
          <p:nvPr/>
        </p:nvSpPr>
        <p:spPr>
          <a:xfrm>
            <a:off x="1743789" y="4461986"/>
            <a:ext cx="2835235" cy="354330"/>
          </a:xfrm>
          <a:prstGeom prst="rect">
            <a:avLst/>
          </a:prstGeom>
          <a:noFill/>
          <a:ln/>
        </p:spPr>
        <p:txBody>
          <a:bodyPr wrap="none" lIns="0" tIns="0" rIns="0" bIns="0" rtlCol="0" anchor="t"/>
          <a:lstStyle/>
          <a:p>
            <a:pPr marL="0" indent="0" algn="r">
              <a:lnSpc>
                <a:spcPts val="2750"/>
              </a:lnSpc>
              <a:buNone/>
            </a:pPr>
            <a:r>
              <a:rPr lang="en-US" sz="2200" dirty="0">
                <a:solidFill>
                  <a:srgbClr val="3C3939"/>
                </a:solidFill>
                <a:latin typeface="Times New Roman" panose="02020603050405020304" pitchFamily="18" charset="0"/>
                <a:ea typeface="Raleway" pitchFamily="34" charset="-122"/>
                <a:cs typeface="Times New Roman" panose="02020603050405020304" pitchFamily="18" charset="0"/>
              </a:rPr>
              <a:t>Hybrid Solar Systems</a:t>
            </a:r>
            <a:endParaRPr lang="en-US" sz="2200" dirty="0">
              <a:latin typeface="Times New Roman" panose="02020603050405020304" pitchFamily="18" charset="0"/>
              <a:cs typeface="Times New Roman" panose="02020603050405020304" pitchFamily="18" charset="0"/>
            </a:endParaRPr>
          </a:p>
        </p:txBody>
      </p:sp>
      <p:pic>
        <p:nvPicPr>
          <p:cNvPr id="21" name="Image 9" descr="preencoded.png"/>
          <p:cNvPicPr>
            <a:picLocks noChangeAspect="1"/>
          </p:cNvPicPr>
          <p:nvPr/>
        </p:nvPicPr>
        <p:blipFill>
          <a:blip r:embed="rId12"/>
          <a:stretch>
            <a:fillRect/>
          </a:stretch>
        </p:blipFill>
        <p:spPr>
          <a:xfrm>
            <a:off x="5032653" y="2356723"/>
            <a:ext cx="4564975" cy="4564975"/>
          </a:xfrm>
          <a:prstGeom prst="rect">
            <a:avLst/>
          </a:prstGeom>
        </p:spPr>
      </p:pic>
      <p:sp>
        <p:nvSpPr>
          <p:cNvPr id="22" name="Text 10"/>
          <p:cNvSpPr/>
          <p:nvPr/>
        </p:nvSpPr>
        <p:spPr>
          <a:xfrm>
            <a:off x="5547717" y="4426982"/>
            <a:ext cx="339328" cy="424220"/>
          </a:xfrm>
          <a:prstGeom prst="rect">
            <a:avLst/>
          </a:prstGeom>
          <a:noFill/>
          <a:ln/>
        </p:spPr>
        <p:txBody>
          <a:bodyPr wrap="none" lIns="0" tIns="0" rIns="0" bIns="0" rtlCol="0" anchor="t"/>
          <a:lstStyle/>
          <a:p>
            <a:pPr marL="0" indent="0" algn="l">
              <a:lnSpc>
                <a:spcPts val="4250"/>
              </a:lnSpc>
              <a:buNone/>
            </a:pPr>
            <a:r>
              <a:rPr lang="en-US" sz="2650" dirty="0">
                <a:solidFill>
                  <a:srgbClr val="3C3939"/>
                </a:solidFill>
                <a:latin typeface="Times New Roman" panose="02020603050405020304" pitchFamily="18" charset="0"/>
                <a:ea typeface="Raleway" pitchFamily="34" charset="-122"/>
                <a:cs typeface="Times New Roman" panose="02020603050405020304" pitchFamily="18" charset="0"/>
              </a:rPr>
              <a:t>6</a:t>
            </a:r>
            <a:endParaRPr lang="en-US" sz="265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85000"/>
            </a:srgbClr>
          </a:solidFill>
          <a:ln/>
        </p:spPr>
      </p:sp>
      <p:sp>
        <p:nvSpPr>
          <p:cNvPr id="4" name="Text 1"/>
          <p:cNvSpPr/>
          <p:nvPr/>
        </p:nvSpPr>
        <p:spPr>
          <a:xfrm>
            <a:off x="793790" y="2653665"/>
            <a:ext cx="7794308" cy="708779"/>
          </a:xfrm>
          <a:prstGeom prst="rect">
            <a:avLst/>
          </a:prstGeom>
          <a:noFill/>
          <a:ln/>
        </p:spPr>
        <p:txBody>
          <a:bodyPr wrap="none" lIns="0" tIns="0" rIns="0" bIns="0" rtlCol="0" anchor="t"/>
          <a:lstStyle/>
          <a:p>
            <a:pPr marL="0" indent="0" algn="l">
              <a:lnSpc>
                <a:spcPts val="5550"/>
              </a:lnSpc>
              <a:buNone/>
            </a:pPr>
            <a:r>
              <a:rPr lang="en-US" sz="4450" dirty="0">
                <a:solidFill>
                  <a:srgbClr val="1B1B27"/>
                </a:solidFill>
                <a:latin typeface="Times New Roman" panose="02020603050405020304" pitchFamily="18" charset="0"/>
                <a:ea typeface="Raleway" pitchFamily="34" charset="-122"/>
                <a:cs typeface="Times New Roman" panose="02020603050405020304" pitchFamily="18" charset="0"/>
              </a:rPr>
              <a:t>Solutions: Regulations &amp; Skills</a:t>
            </a:r>
            <a:endParaRPr lang="en-US" sz="4450" dirty="0">
              <a:latin typeface="Times New Roman" panose="02020603050405020304" pitchFamily="18" charset="0"/>
              <a:cs typeface="Times New Roman" panose="02020603050405020304" pitchFamily="18" charset="0"/>
            </a:endParaRPr>
          </a:p>
        </p:txBody>
      </p:sp>
      <p:sp>
        <p:nvSpPr>
          <p:cNvPr id="5" name="Shape 2"/>
          <p:cNvSpPr/>
          <p:nvPr/>
        </p:nvSpPr>
        <p:spPr>
          <a:xfrm>
            <a:off x="793790" y="3702606"/>
            <a:ext cx="6408063" cy="823198"/>
          </a:xfrm>
          <a:prstGeom prst="roundRect">
            <a:avLst>
              <a:gd name="adj" fmla="val 11573"/>
            </a:avLst>
          </a:prstGeom>
          <a:solidFill>
            <a:srgbClr val="E1E1EA"/>
          </a:solidFill>
          <a:ln w="7620">
            <a:solidFill>
              <a:srgbClr val="C7C7D0"/>
            </a:solidFill>
            <a:prstDash val="solid"/>
          </a:ln>
        </p:spPr>
      </p:sp>
      <p:sp>
        <p:nvSpPr>
          <p:cNvPr id="6" name="Text 3"/>
          <p:cNvSpPr/>
          <p:nvPr/>
        </p:nvSpPr>
        <p:spPr>
          <a:xfrm>
            <a:off x="1028224" y="3937040"/>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3C3939"/>
                </a:solidFill>
                <a:latin typeface="Times New Roman" panose="02020603050405020304" pitchFamily="18" charset="0"/>
                <a:ea typeface="Raleway" pitchFamily="34" charset="-122"/>
                <a:cs typeface="Times New Roman" panose="02020603050405020304" pitchFamily="18" charset="0"/>
              </a:rPr>
              <a:t>Cyber-Security</a:t>
            </a:r>
            <a:endParaRPr lang="en-US" sz="2200" dirty="0">
              <a:latin typeface="Times New Roman" panose="02020603050405020304" pitchFamily="18" charset="0"/>
              <a:cs typeface="Times New Roman" panose="02020603050405020304" pitchFamily="18" charset="0"/>
            </a:endParaRPr>
          </a:p>
        </p:txBody>
      </p:sp>
      <p:sp>
        <p:nvSpPr>
          <p:cNvPr id="7" name="Shape 4"/>
          <p:cNvSpPr/>
          <p:nvPr/>
        </p:nvSpPr>
        <p:spPr>
          <a:xfrm>
            <a:off x="7428667" y="3702606"/>
            <a:ext cx="6408063" cy="823198"/>
          </a:xfrm>
          <a:prstGeom prst="roundRect">
            <a:avLst>
              <a:gd name="adj" fmla="val 11573"/>
            </a:avLst>
          </a:prstGeom>
          <a:solidFill>
            <a:srgbClr val="E1E1EA"/>
          </a:solidFill>
          <a:ln w="7620">
            <a:solidFill>
              <a:srgbClr val="C7C7D0"/>
            </a:solidFill>
            <a:prstDash val="solid"/>
          </a:ln>
        </p:spPr>
      </p:sp>
      <p:sp>
        <p:nvSpPr>
          <p:cNvPr id="8" name="Text 5"/>
          <p:cNvSpPr/>
          <p:nvPr/>
        </p:nvSpPr>
        <p:spPr>
          <a:xfrm>
            <a:off x="7663101" y="3937040"/>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3C3939"/>
                </a:solidFill>
                <a:latin typeface="Times New Roman" panose="02020603050405020304" pitchFamily="18" charset="0"/>
                <a:ea typeface="Raleway" pitchFamily="34" charset="-122"/>
                <a:cs typeface="Times New Roman" panose="02020603050405020304" pitchFamily="18" charset="0"/>
              </a:rPr>
              <a:t>Safety Parameters</a:t>
            </a:r>
            <a:endParaRPr lang="en-US" sz="2200" dirty="0">
              <a:latin typeface="Times New Roman" panose="02020603050405020304" pitchFamily="18" charset="0"/>
              <a:cs typeface="Times New Roman" panose="02020603050405020304" pitchFamily="18" charset="0"/>
            </a:endParaRPr>
          </a:p>
        </p:txBody>
      </p:sp>
      <p:sp>
        <p:nvSpPr>
          <p:cNvPr id="9" name="Shape 6"/>
          <p:cNvSpPr/>
          <p:nvPr/>
        </p:nvSpPr>
        <p:spPr>
          <a:xfrm>
            <a:off x="793790" y="4752618"/>
            <a:ext cx="6408063" cy="823198"/>
          </a:xfrm>
          <a:prstGeom prst="roundRect">
            <a:avLst>
              <a:gd name="adj" fmla="val 11573"/>
            </a:avLst>
          </a:prstGeom>
          <a:solidFill>
            <a:srgbClr val="E1E1EA"/>
          </a:solidFill>
          <a:ln w="7620">
            <a:solidFill>
              <a:srgbClr val="C7C7D0"/>
            </a:solidFill>
            <a:prstDash val="solid"/>
          </a:ln>
        </p:spPr>
      </p:sp>
      <p:sp>
        <p:nvSpPr>
          <p:cNvPr id="10" name="Text 7"/>
          <p:cNvSpPr/>
          <p:nvPr/>
        </p:nvSpPr>
        <p:spPr>
          <a:xfrm>
            <a:off x="1028224" y="4987052"/>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3C3939"/>
                </a:solidFill>
                <a:latin typeface="Times New Roman" panose="02020603050405020304" pitchFamily="18" charset="0"/>
                <a:ea typeface="Raleway" pitchFamily="34" charset="-122"/>
                <a:cs typeface="Times New Roman" panose="02020603050405020304" pitchFamily="18" charset="0"/>
              </a:rPr>
              <a:t>Upskilling Programs</a:t>
            </a:r>
            <a:endParaRPr lang="en-US" sz="2200" dirty="0">
              <a:latin typeface="Times New Roman" panose="02020603050405020304" pitchFamily="18" charset="0"/>
              <a:cs typeface="Times New Roman" panose="02020603050405020304" pitchFamily="18" charset="0"/>
            </a:endParaRPr>
          </a:p>
        </p:txBody>
      </p:sp>
      <p:sp>
        <p:nvSpPr>
          <p:cNvPr id="11" name="Shape 8"/>
          <p:cNvSpPr/>
          <p:nvPr/>
        </p:nvSpPr>
        <p:spPr>
          <a:xfrm>
            <a:off x="7428667" y="4752618"/>
            <a:ext cx="6408063" cy="823198"/>
          </a:xfrm>
          <a:prstGeom prst="roundRect">
            <a:avLst>
              <a:gd name="adj" fmla="val 11573"/>
            </a:avLst>
          </a:prstGeom>
          <a:solidFill>
            <a:srgbClr val="E1E1EA"/>
          </a:solidFill>
          <a:ln w="7620">
            <a:solidFill>
              <a:srgbClr val="C7C7D0"/>
            </a:solidFill>
            <a:prstDash val="solid"/>
          </a:ln>
        </p:spPr>
      </p:sp>
      <p:sp>
        <p:nvSpPr>
          <p:cNvPr id="12" name="Text 9"/>
          <p:cNvSpPr/>
          <p:nvPr/>
        </p:nvSpPr>
        <p:spPr>
          <a:xfrm>
            <a:off x="7663101" y="4987052"/>
            <a:ext cx="3135868" cy="354330"/>
          </a:xfrm>
          <a:prstGeom prst="rect">
            <a:avLst/>
          </a:prstGeom>
          <a:noFill/>
          <a:ln/>
        </p:spPr>
        <p:txBody>
          <a:bodyPr wrap="none" lIns="0" tIns="0" rIns="0" bIns="0" rtlCol="0" anchor="t"/>
          <a:lstStyle/>
          <a:p>
            <a:pPr marL="0" indent="0" algn="l">
              <a:lnSpc>
                <a:spcPts val="2750"/>
              </a:lnSpc>
              <a:buNone/>
            </a:pPr>
            <a:r>
              <a:rPr lang="en-US" sz="2200" dirty="0">
                <a:solidFill>
                  <a:srgbClr val="3C3939"/>
                </a:solidFill>
                <a:latin typeface="Times New Roman" panose="02020603050405020304" pitchFamily="18" charset="0"/>
                <a:ea typeface="Raleway" pitchFamily="34" charset="-122"/>
                <a:cs typeface="Times New Roman" panose="02020603050405020304" pitchFamily="18" charset="0"/>
              </a:rPr>
              <a:t>Management Strategies</a:t>
            </a:r>
            <a:endParaRPr lang="en-US" sz="22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2427922"/>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1B1B27"/>
                </a:solidFill>
                <a:latin typeface="Times New Roman" panose="02020603050405020304" pitchFamily="18" charset="0"/>
                <a:ea typeface="Raleway" pitchFamily="34" charset="-122"/>
                <a:cs typeface="Times New Roman" panose="02020603050405020304" pitchFamily="18" charset="0"/>
              </a:rPr>
              <a:t>Conclusion</a:t>
            </a:r>
            <a:endParaRPr lang="en-US" sz="4450" dirty="0">
              <a:latin typeface="Times New Roman" panose="02020603050405020304" pitchFamily="18" charset="0"/>
              <a:cs typeface="Times New Roman" panose="02020603050405020304" pitchFamily="18" charset="0"/>
            </a:endParaRPr>
          </a:p>
        </p:txBody>
      </p:sp>
      <p:sp>
        <p:nvSpPr>
          <p:cNvPr id="4" name="Text 1"/>
          <p:cNvSpPr/>
          <p:nvPr/>
        </p:nvSpPr>
        <p:spPr>
          <a:xfrm>
            <a:off x="6280190" y="3476863"/>
            <a:ext cx="7556421" cy="1088708"/>
          </a:xfrm>
          <a:prstGeom prst="rect">
            <a:avLst/>
          </a:prstGeom>
          <a:noFill/>
          <a:ln/>
        </p:spPr>
        <p:txBody>
          <a:bodyPr wrap="square" lIns="0" tIns="0" rIns="0" bIns="0" rtlCol="0" anchor="t"/>
          <a:lstStyle/>
          <a:p>
            <a:pPr marL="0" indent="0" algn="l">
              <a:lnSpc>
                <a:spcPts val="2850"/>
              </a:lnSpc>
              <a:buNone/>
            </a:pPr>
            <a:r>
              <a:rPr lang="en-US" sz="1750" dirty="0">
                <a:solidFill>
                  <a:srgbClr val="3C3939"/>
                </a:solidFill>
                <a:latin typeface="Times New Roman" panose="02020603050405020304" pitchFamily="18" charset="0"/>
                <a:ea typeface="Roboto" pitchFamily="34" charset="-122"/>
                <a:cs typeface="Times New Roman" panose="02020603050405020304" pitchFamily="18" charset="0"/>
              </a:rPr>
              <a:t>Pakistan needs automation but faces blocks. High costs, old machines, and slow approvals hinder progress. Fixing these problems with local tech and training will boost growth. Upgrade now—or get left behind.</a:t>
            </a:r>
            <a:endParaRPr lang="en-US" sz="1750" dirty="0">
              <a:latin typeface="Times New Roman" panose="02020603050405020304" pitchFamily="18" charset="0"/>
              <a:cs typeface="Times New Roman" panose="02020603050405020304" pitchFamily="18" charset="0"/>
            </a:endParaRPr>
          </a:p>
        </p:txBody>
      </p:sp>
      <p:sp>
        <p:nvSpPr>
          <p:cNvPr id="5" name="Text 2"/>
          <p:cNvSpPr/>
          <p:nvPr/>
        </p:nvSpPr>
        <p:spPr>
          <a:xfrm>
            <a:off x="6280190" y="4820722"/>
            <a:ext cx="7556421" cy="362903"/>
          </a:xfrm>
          <a:prstGeom prst="rect">
            <a:avLst/>
          </a:prstGeom>
          <a:noFill/>
          <a:ln/>
        </p:spPr>
        <p:txBody>
          <a:bodyPr wrap="none" lIns="0" tIns="0" rIns="0" bIns="0" rtlCol="0" anchor="t"/>
          <a:lstStyle/>
          <a:p>
            <a:pPr marL="0" indent="0" algn="l">
              <a:lnSpc>
                <a:spcPts val="2850"/>
              </a:lnSpc>
              <a:buNone/>
            </a:pPr>
            <a:r>
              <a:rPr lang="en-US" sz="1750" dirty="0">
                <a:solidFill>
                  <a:srgbClr val="3C3939"/>
                </a:solidFill>
                <a:latin typeface="Times New Roman" panose="02020603050405020304" pitchFamily="18" charset="0"/>
                <a:ea typeface="Roboto" pitchFamily="34" charset="-122"/>
                <a:cs typeface="Times New Roman" panose="02020603050405020304" pitchFamily="18" charset="0"/>
              </a:rPr>
              <a:t>Questions?</a:t>
            </a:r>
            <a:endParaRPr lang="en-US" sz="1750" dirty="0">
              <a:latin typeface="Times New Roman" panose="02020603050405020304" pitchFamily="18" charset="0"/>
              <a:cs typeface="Times New Roman" panose="02020603050405020304" pitchFamily="18" charset="0"/>
            </a:endParaRPr>
          </a:p>
        </p:txBody>
      </p:sp>
      <p:sp>
        <p:nvSpPr>
          <p:cNvPr id="6" name="Text 3"/>
          <p:cNvSpPr/>
          <p:nvPr/>
        </p:nvSpPr>
        <p:spPr>
          <a:xfrm>
            <a:off x="6280190" y="5438775"/>
            <a:ext cx="7556421" cy="362903"/>
          </a:xfrm>
          <a:prstGeom prst="rect">
            <a:avLst/>
          </a:prstGeom>
          <a:noFill/>
          <a:ln/>
        </p:spPr>
        <p:txBody>
          <a:bodyPr wrap="none" lIns="0" tIns="0" rIns="0" bIns="0" rtlCol="0" anchor="t"/>
          <a:lstStyle/>
          <a:p>
            <a:pPr marL="0" indent="0" algn="ctr">
              <a:lnSpc>
                <a:spcPts val="2850"/>
              </a:lnSpc>
              <a:buNone/>
            </a:pPr>
            <a:r>
              <a:rPr lang="en-US" sz="3200" b="1" dirty="0">
                <a:solidFill>
                  <a:srgbClr val="3C3939"/>
                </a:solidFill>
                <a:latin typeface="Times New Roman" panose="02020603050405020304" pitchFamily="18" charset="0"/>
                <a:ea typeface="Roboto" pitchFamily="34" charset="-122"/>
                <a:cs typeface="Times New Roman" panose="02020603050405020304" pitchFamily="18" charset="0"/>
              </a:rPr>
              <a:t>Thank you for your attention!</a:t>
            </a:r>
            <a:r>
              <a:rPr lang="en-US" sz="1750" dirty="0">
                <a:solidFill>
                  <a:srgbClr val="3C3939"/>
                </a:solidFill>
                <a:latin typeface="Times New Roman" panose="02020603050405020304" pitchFamily="18" charset="0"/>
                <a:ea typeface="Roboto" pitchFamily="34" charset="-122"/>
                <a:cs typeface="Times New Roman" panose="02020603050405020304" pitchFamily="18" charset="0"/>
              </a:rPr>
              <a:t> </a:t>
            </a:r>
            <a:endParaRPr lang="en-US" sz="1750" dirty="0">
              <a:latin typeface="Times New Roman" panose="02020603050405020304" pitchFamily="18" charset="0"/>
              <a:cs typeface="Times New Roman" panose="02020603050405020304" pitchFamily="18" charset="0"/>
            </a:endParaRPr>
          </a:p>
        </p:txBody>
      </p:sp>
      <p:sp>
        <p:nvSpPr>
          <p:cNvPr id="7" name="Rectangle 6"/>
          <p:cNvSpPr/>
          <p:nvPr/>
        </p:nvSpPr>
        <p:spPr>
          <a:xfrm>
            <a:off x="12890020" y="7783033"/>
            <a:ext cx="1644688" cy="35087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491</TotalTime>
  <Words>348</Words>
  <Application>Microsoft Office PowerPoint</Application>
  <PresentationFormat>Custom</PresentationFormat>
  <Paragraphs>76</Paragraphs>
  <Slides>9</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Raleway</vt:lpstr>
      <vt:lpstr>Roboto</vt:lpstr>
      <vt:lpstr>Arial</vt:lpstr>
      <vt:lpstr>Times New Roman</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Haseeb Goraya</cp:lastModifiedBy>
  <cp:revision>7</cp:revision>
  <dcterms:created xsi:type="dcterms:W3CDTF">2025-04-16T16:03:14Z</dcterms:created>
  <dcterms:modified xsi:type="dcterms:W3CDTF">2025-04-22T16:47:08Z</dcterms:modified>
</cp:coreProperties>
</file>