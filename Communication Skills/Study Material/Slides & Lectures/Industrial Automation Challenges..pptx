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Roboto" panose="020B0604020202020204" charset="0"/>
      <p:regular r:id="rId12"/>
    </p:embeddedFont>
    <p:embeddedFont>
      <p:font typeface="Raleway" panose="020B0604020202020204" charset="0"/>
      <p:regular r:id="rId13"/>
    </p:embeddedFont>
    <p:embeddedFont>
      <p:font typeface="Calibri" panose="020F050202020403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68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72960"/>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Industrial </a:t>
            </a:r>
            <a:r>
              <a:rPr lang="en-US" sz="4450" b="1" dirty="0" smtClean="0">
                <a:solidFill>
                  <a:srgbClr val="1B1B27"/>
                </a:solidFill>
                <a:latin typeface="Times New Roman" panose="02020603050405020304" pitchFamily="18" charset="0"/>
                <a:ea typeface="Raleway" pitchFamily="34" charset="-122"/>
                <a:cs typeface="Times New Roman" panose="02020603050405020304" pitchFamily="18" charset="0"/>
              </a:rPr>
              <a:t>Automation  Challenges </a:t>
            </a: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in Electrical Engineering</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4239458"/>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3C3939"/>
                </a:solidFill>
                <a:latin typeface="Times New Roman" panose="02020603050405020304" pitchFamily="18" charset="0"/>
                <a:ea typeface="Roboto" pitchFamily="34" charset="-122"/>
                <a:cs typeface="Times New Roman" panose="02020603050405020304" pitchFamily="18" charset="0"/>
              </a:rPr>
              <a:t>Presented by:</a:t>
            </a:r>
            <a:endParaRPr lang="en-US" sz="1750" dirty="0">
              <a:latin typeface="Times New Roman" panose="02020603050405020304" pitchFamily="18" charset="0"/>
              <a:cs typeface="Times New Roman" panose="02020603050405020304" pitchFamily="18" charset="0"/>
            </a:endParaRPr>
          </a:p>
        </p:txBody>
      </p:sp>
      <p:sp>
        <p:nvSpPr>
          <p:cNvPr id="5" name="Text 2"/>
          <p:cNvSpPr/>
          <p:nvPr/>
        </p:nvSpPr>
        <p:spPr>
          <a:xfrm>
            <a:off x="793790" y="4643358"/>
            <a:ext cx="7556421" cy="362903"/>
          </a:xfrm>
          <a:prstGeom prst="rect">
            <a:avLst/>
          </a:prstGeom>
          <a:noFill/>
          <a:ln/>
        </p:spPr>
        <p:txBody>
          <a:bodyPr wrap="none" lIns="0" tIns="0" rIns="0" bIns="0" rtlCol="0" anchor="t"/>
          <a:lstStyle/>
          <a:p>
            <a:pPr marL="0" indent="0" algn="l">
              <a:lnSpc>
                <a:spcPts val="2850"/>
              </a:lnSpc>
              <a:buNone/>
            </a:pPr>
            <a:r>
              <a:rPr lang="en-US" sz="1750" dirty="0" err="1">
                <a:solidFill>
                  <a:srgbClr val="3C3939"/>
                </a:solidFill>
                <a:latin typeface="Times New Roman" panose="02020603050405020304" pitchFamily="18" charset="0"/>
                <a:ea typeface="Roboto" pitchFamily="34" charset="-122"/>
                <a:cs typeface="Times New Roman" panose="02020603050405020304" pitchFamily="18" charset="0"/>
              </a:rPr>
              <a:t>Sheza</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 </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Naveed	</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		22L-7651</a:t>
            </a:r>
            <a:endPar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endParaRPr>
          </a:p>
          <a:p>
            <a:pPr marL="0" indent="0" algn="l">
              <a:lnSpc>
                <a:spcPts val="2850"/>
              </a:lnSpc>
              <a:buNone/>
            </a:pP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Sara </a:t>
            </a:r>
            <a:r>
              <a:rPr lang="en-US" sz="1750" dirty="0" err="1" smtClean="0">
                <a:solidFill>
                  <a:srgbClr val="3C3939"/>
                </a:solidFill>
                <a:latin typeface="Times New Roman" panose="02020603050405020304" pitchFamily="18" charset="0"/>
                <a:ea typeface="Roboto" pitchFamily="34" charset="-122"/>
                <a:cs typeface="Times New Roman" panose="02020603050405020304" pitchFamily="18" charset="0"/>
              </a:rPr>
              <a:t>Saif</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 			</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	22L-7734 </a:t>
            </a:r>
            <a:endPar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endParaRPr>
          </a:p>
          <a:p>
            <a:pPr marL="0" indent="0" algn="l">
              <a:lnSpc>
                <a:spcPts val="2850"/>
              </a:lnSpc>
              <a:buNone/>
            </a:pP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Haseeb </a:t>
            </a:r>
            <a:r>
              <a:rPr lang="en-US" sz="1750" dirty="0" err="1" smtClean="0">
                <a:solidFill>
                  <a:srgbClr val="3C3939"/>
                </a:solidFill>
                <a:latin typeface="Times New Roman" panose="02020603050405020304" pitchFamily="18" charset="0"/>
                <a:ea typeface="Roboto" pitchFamily="34" charset="-122"/>
                <a:cs typeface="Times New Roman" panose="02020603050405020304" pitchFamily="18" charset="0"/>
              </a:rPr>
              <a:t>ur</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 </a:t>
            </a:r>
            <a:r>
              <a:rPr lang="en-US" sz="1750" dirty="0" err="1" smtClean="0">
                <a:solidFill>
                  <a:srgbClr val="3C3939"/>
                </a:solidFill>
                <a:latin typeface="Times New Roman" panose="02020603050405020304" pitchFamily="18" charset="0"/>
                <a:ea typeface="Roboto" pitchFamily="34" charset="-122"/>
                <a:cs typeface="Times New Roman" panose="02020603050405020304" pitchFamily="18" charset="0"/>
              </a:rPr>
              <a:t>Rehman</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		22L-6234 </a:t>
            </a:r>
            <a:endParaRPr lang="en-US" sz="1750" dirty="0">
              <a:solidFill>
                <a:srgbClr val="3C3939"/>
              </a:solidFill>
              <a:latin typeface="Times New Roman" panose="02020603050405020304" pitchFamily="18" charset="0"/>
              <a:ea typeface="Roboto" pitchFamily="34" charset="-122"/>
              <a:cs typeface="Times New Roman" panose="02020603050405020304" pitchFamily="18" charset="0"/>
            </a:endParaRPr>
          </a:p>
          <a:p>
            <a:pPr marL="0" indent="0" algn="l">
              <a:lnSpc>
                <a:spcPts val="2850"/>
              </a:lnSpc>
              <a:buNone/>
            </a:pP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M</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 </a:t>
            </a:r>
            <a:r>
              <a:rPr lang="en-US" sz="1750" dirty="0" err="1">
                <a:solidFill>
                  <a:srgbClr val="3C3939"/>
                </a:solidFill>
                <a:latin typeface="Times New Roman" panose="02020603050405020304" pitchFamily="18" charset="0"/>
                <a:ea typeface="Roboto" pitchFamily="34" charset="-122"/>
                <a:cs typeface="Times New Roman" panose="02020603050405020304" pitchFamily="18" charset="0"/>
              </a:rPr>
              <a:t>Taseer</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 </a:t>
            </a:r>
            <a:r>
              <a:rPr lang="en-US" sz="1750" dirty="0" err="1" smtClean="0">
                <a:solidFill>
                  <a:srgbClr val="3C3939"/>
                </a:solidFill>
                <a:latin typeface="Times New Roman" panose="02020603050405020304" pitchFamily="18" charset="0"/>
                <a:ea typeface="Roboto" pitchFamily="34" charset="-122"/>
                <a:cs typeface="Times New Roman" panose="02020603050405020304" pitchFamily="18" charset="0"/>
              </a:rPr>
              <a:t>Razzaq</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		22L-7618</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793790" y="6456521"/>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BS-EE 6C.</a:t>
            </a:r>
            <a:endParaRPr lang="en-US" sz="1750" dirty="0">
              <a:latin typeface="Times New Roman" panose="02020603050405020304" pitchFamily="18" charset="0"/>
              <a:cs typeface="Times New Roman" panose="02020603050405020304" pitchFamily="18" charset="0"/>
            </a:endParaRPr>
          </a:p>
        </p:txBody>
      </p:sp>
      <p:sp>
        <p:nvSpPr>
          <p:cNvPr id="7" name="Text 4"/>
          <p:cNvSpPr/>
          <p:nvPr/>
        </p:nvSpPr>
        <p:spPr>
          <a:xfrm>
            <a:off x="793790" y="6819424"/>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April 21, 2025.</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32610"/>
            <a:ext cx="5972532"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Presentation Roadmap</a:t>
            </a:r>
            <a:endParaRPr lang="en-US" sz="4450" dirty="0">
              <a:latin typeface="Times New Roman" panose="02020603050405020304" pitchFamily="18" charset="0"/>
              <a:cs typeface="Times New Roman" panose="02020603050405020304" pitchFamily="18" charset="0"/>
            </a:endParaRPr>
          </a:p>
        </p:txBody>
      </p:sp>
      <p:sp>
        <p:nvSpPr>
          <p:cNvPr id="3" name="Shape 1"/>
          <p:cNvSpPr/>
          <p:nvPr/>
        </p:nvSpPr>
        <p:spPr>
          <a:xfrm>
            <a:off x="793790" y="3136702"/>
            <a:ext cx="510302" cy="510302"/>
          </a:xfrm>
          <a:prstGeom prst="roundRect">
            <a:avLst>
              <a:gd name="adj" fmla="val 18669"/>
            </a:avLst>
          </a:prstGeom>
          <a:solidFill>
            <a:srgbClr val="E1E1EA"/>
          </a:solidFill>
          <a:ln w="7620">
            <a:solidFill>
              <a:srgbClr val="C7C7D0"/>
            </a:solidFill>
            <a:prstDash val="solid"/>
          </a:ln>
        </p:spPr>
      </p:sp>
      <p:sp>
        <p:nvSpPr>
          <p:cNvPr id="4" name="Text 2"/>
          <p:cNvSpPr/>
          <p:nvPr/>
        </p:nvSpPr>
        <p:spPr>
          <a:xfrm>
            <a:off x="878860" y="317920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1</a:t>
            </a:r>
            <a:endParaRPr lang="en-US" sz="2650" dirty="0">
              <a:latin typeface="Times New Roman" panose="02020603050405020304" pitchFamily="18" charset="0"/>
              <a:cs typeface="Times New Roman" panose="02020603050405020304" pitchFamily="18" charset="0"/>
            </a:endParaRPr>
          </a:p>
        </p:txBody>
      </p:sp>
      <p:sp>
        <p:nvSpPr>
          <p:cNvPr id="5" name="Text 3"/>
          <p:cNvSpPr/>
          <p:nvPr/>
        </p:nvSpPr>
        <p:spPr>
          <a:xfrm>
            <a:off x="1530906" y="3136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Introduction</a:t>
            </a:r>
            <a:endParaRPr lang="en-US" sz="2200" dirty="0">
              <a:latin typeface="Times New Roman" panose="02020603050405020304" pitchFamily="18" charset="0"/>
              <a:cs typeface="Times New Roman" panose="02020603050405020304" pitchFamily="18" charset="0"/>
            </a:endParaRPr>
          </a:p>
        </p:txBody>
      </p:sp>
      <p:sp>
        <p:nvSpPr>
          <p:cNvPr id="6" name="Shape 4"/>
          <p:cNvSpPr/>
          <p:nvPr/>
        </p:nvSpPr>
        <p:spPr>
          <a:xfrm>
            <a:off x="5216962" y="3136702"/>
            <a:ext cx="510302" cy="510302"/>
          </a:xfrm>
          <a:prstGeom prst="roundRect">
            <a:avLst>
              <a:gd name="adj" fmla="val 18669"/>
            </a:avLst>
          </a:prstGeom>
          <a:solidFill>
            <a:srgbClr val="E1E1EA"/>
          </a:solidFill>
          <a:ln w="7620">
            <a:solidFill>
              <a:srgbClr val="C7C7D0"/>
            </a:solidFill>
            <a:prstDash val="solid"/>
          </a:ln>
        </p:spPr>
      </p:sp>
      <p:sp>
        <p:nvSpPr>
          <p:cNvPr id="7" name="Text 5"/>
          <p:cNvSpPr/>
          <p:nvPr/>
        </p:nvSpPr>
        <p:spPr>
          <a:xfrm>
            <a:off x="5302032" y="317920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2</a:t>
            </a:r>
            <a:endParaRPr lang="en-US" sz="2650" dirty="0">
              <a:latin typeface="Times New Roman" panose="02020603050405020304" pitchFamily="18" charset="0"/>
              <a:cs typeface="Times New Roman" panose="02020603050405020304" pitchFamily="18" charset="0"/>
            </a:endParaRPr>
          </a:p>
        </p:txBody>
      </p:sp>
      <p:sp>
        <p:nvSpPr>
          <p:cNvPr id="8" name="Text 6"/>
          <p:cNvSpPr/>
          <p:nvPr/>
        </p:nvSpPr>
        <p:spPr>
          <a:xfrm>
            <a:off x="5954078" y="3136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Key Challenges</a:t>
            </a:r>
            <a:endParaRPr lang="en-US" sz="2200" dirty="0">
              <a:latin typeface="Times New Roman" panose="02020603050405020304" pitchFamily="18" charset="0"/>
              <a:cs typeface="Times New Roman" panose="02020603050405020304" pitchFamily="18" charset="0"/>
            </a:endParaRPr>
          </a:p>
        </p:txBody>
      </p:sp>
      <p:sp>
        <p:nvSpPr>
          <p:cNvPr id="9" name="Shape 7"/>
          <p:cNvSpPr/>
          <p:nvPr/>
        </p:nvSpPr>
        <p:spPr>
          <a:xfrm>
            <a:off x="9640133" y="3136702"/>
            <a:ext cx="510302" cy="510302"/>
          </a:xfrm>
          <a:prstGeom prst="roundRect">
            <a:avLst>
              <a:gd name="adj" fmla="val 18669"/>
            </a:avLst>
          </a:prstGeom>
          <a:solidFill>
            <a:srgbClr val="E1E1EA"/>
          </a:solidFill>
          <a:ln w="7620">
            <a:solidFill>
              <a:srgbClr val="C7C7D0"/>
            </a:solidFill>
            <a:prstDash val="solid"/>
          </a:ln>
        </p:spPr>
      </p:sp>
      <p:sp>
        <p:nvSpPr>
          <p:cNvPr id="10" name="Text 8"/>
          <p:cNvSpPr/>
          <p:nvPr/>
        </p:nvSpPr>
        <p:spPr>
          <a:xfrm>
            <a:off x="9725204" y="317920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3</a:t>
            </a:r>
            <a:endParaRPr lang="en-US" sz="2650" dirty="0">
              <a:latin typeface="Times New Roman" panose="02020603050405020304" pitchFamily="18" charset="0"/>
              <a:cs typeface="Times New Roman" panose="02020603050405020304" pitchFamily="18" charset="0"/>
            </a:endParaRPr>
          </a:p>
        </p:txBody>
      </p:sp>
      <p:sp>
        <p:nvSpPr>
          <p:cNvPr id="11" name="Text 9"/>
          <p:cNvSpPr/>
          <p:nvPr/>
        </p:nvSpPr>
        <p:spPr>
          <a:xfrm>
            <a:off x="10377249" y="3136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Technical Deep Dive</a:t>
            </a:r>
            <a:endParaRPr lang="en-US" sz="2200" dirty="0">
              <a:latin typeface="Times New Roman" panose="02020603050405020304" pitchFamily="18" charset="0"/>
              <a:cs typeface="Times New Roman" panose="02020603050405020304" pitchFamily="18" charset="0"/>
            </a:endParaRPr>
          </a:p>
        </p:txBody>
      </p:sp>
      <p:sp>
        <p:nvSpPr>
          <p:cNvPr id="12" name="Shape 10"/>
          <p:cNvSpPr/>
          <p:nvPr/>
        </p:nvSpPr>
        <p:spPr>
          <a:xfrm>
            <a:off x="793790" y="4384119"/>
            <a:ext cx="510302" cy="510302"/>
          </a:xfrm>
          <a:prstGeom prst="roundRect">
            <a:avLst>
              <a:gd name="adj" fmla="val 18669"/>
            </a:avLst>
          </a:prstGeom>
          <a:solidFill>
            <a:srgbClr val="E1E1EA"/>
          </a:solidFill>
          <a:ln w="7620">
            <a:solidFill>
              <a:srgbClr val="C7C7D0"/>
            </a:solidFill>
            <a:prstDash val="solid"/>
          </a:ln>
        </p:spPr>
      </p:sp>
      <p:sp>
        <p:nvSpPr>
          <p:cNvPr id="13" name="Text 11"/>
          <p:cNvSpPr/>
          <p:nvPr/>
        </p:nvSpPr>
        <p:spPr>
          <a:xfrm>
            <a:off x="878860" y="44266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4</a:t>
            </a:r>
            <a:endParaRPr lang="en-US" sz="2650" dirty="0">
              <a:latin typeface="Times New Roman" panose="02020603050405020304" pitchFamily="18" charset="0"/>
              <a:cs typeface="Times New Roman" panose="02020603050405020304" pitchFamily="18" charset="0"/>
            </a:endParaRPr>
          </a:p>
        </p:txBody>
      </p:sp>
      <p:sp>
        <p:nvSpPr>
          <p:cNvPr id="14" name="Text 12"/>
          <p:cNvSpPr/>
          <p:nvPr/>
        </p:nvSpPr>
        <p:spPr>
          <a:xfrm>
            <a:off x="1530906" y="43841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Solutions</a:t>
            </a:r>
            <a:endParaRPr lang="en-US" sz="2200" dirty="0">
              <a:latin typeface="Times New Roman" panose="02020603050405020304" pitchFamily="18" charset="0"/>
              <a:cs typeface="Times New Roman" panose="02020603050405020304" pitchFamily="18" charset="0"/>
            </a:endParaRPr>
          </a:p>
        </p:txBody>
      </p:sp>
      <p:sp>
        <p:nvSpPr>
          <p:cNvPr id="15" name="Shape 13"/>
          <p:cNvSpPr/>
          <p:nvPr/>
        </p:nvSpPr>
        <p:spPr>
          <a:xfrm>
            <a:off x="5216962" y="4384119"/>
            <a:ext cx="510302" cy="510302"/>
          </a:xfrm>
          <a:prstGeom prst="roundRect">
            <a:avLst>
              <a:gd name="adj" fmla="val 18669"/>
            </a:avLst>
          </a:prstGeom>
          <a:solidFill>
            <a:srgbClr val="E1E1EA"/>
          </a:solidFill>
          <a:ln w="7620">
            <a:solidFill>
              <a:srgbClr val="C7C7D0"/>
            </a:solidFill>
            <a:prstDash val="solid"/>
          </a:ln>
        </p:spPr>
      </p:sp>
      <p:sp>
        <p:nvSpPr>
          <p:cNvPr id="16" name="Text 14"/>
          <p:cNvSpPr/>
          <p:nvPr/>
        </p:nvSpPr>
        <p:spPr>
          <a:xfrm>
            <a:off x="5302032" y="44266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5</a:t>
            </a:r>
            <a:endParaRPr lang="en-US" sz="2650" dirty="0">
              <a:latin typeface="Times New Roman" panose="02020603050405020304" pitchFamily="18" charset="0"/>
              <a:cs typeface="Times New Roman" panose="02020603050405020304" pitchFamily="18" charset="0"/>
            </a:endParaRPr>
          </a:p>
        </p:txBody>
      </p:sp>
      <p:sp>
        <p:nvSpPr>
          <p:cNvPr id="17" name="Text 15"/>
          <p:cNvSpPr/>
          <p:nvPr/>
        </p:nvSpPr>
        <p:spPr>
          <a:xfrm>
            <a:off x="5954078" y="43841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Future Trends</a:t>
            </a:r>
            <a:endParaRPr lang="en-US" sz="2200" dirty="0">
              <a:latin typeface="Times New Roman" panose="02020603050405020304" pitchFamily="18" charset="0"/>
              <a:cs typeface="Times New Roman" panose="02020603050405020304" pitchFamily="18" charset="0"/>
            </a:endParaRPr>
          </a:p>
        </p:txBody>
      </p:sp>
      <p:sp>
        <p:nvSpPr>
          <p:cNvPr id="18" name="Shape 16"/>
          <p:cNvSpPr/>
          <p:nvPr/>
        </p:nvSpPr>
        <p:spPr>
          <a:xfrm>
            <a:off x="9640133" y="4384119"/>
            <a:ext cx="510302" cy="510302"/>
          </a:xfrm>
          <a:prstGeom prst="roundRect">
            <a:avLst>
              <a:gd name="adj" fmla="val 18669"/>
            </a:avLst>
          </a:prstGeom>
          <a:solidFill>
            <a:srgbClr val="E1E1EA"/>
          </a:solidFill>
          <a:ln w="7620">
            <a:solidFill>
              <a:srgbClr val="C7C7D0"/>
            </a:solidFill>
            <a:prstDash val="solid"/>
          </a:ln>
        </p:spPr>
      </p:sp>
      <p:sp>
        <p:nvSpPr>
          <p:cNvPr id="19" name="Text 17"/>
          <p:cNvSpPr/>
          <p:nvPr/>
        </p:nvSpPr>
        <p:spPr>
          <a:xfrm>
            <a:off x="9725204" y="44266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6</a:t>
            </a:r>
            <a:endParaRPr lang="en-US" sz="2650" dirty="0">
              <a:latin typeface="Times New Roman" panose="02020603050405020304" pitchFamily="18" charset="0"/>
              <a:cs typeface="Times New Roman" panose="02020603050405020304" pitchFamily="18" charset="0"/>
            </a:endParaRPr>
          </a:p>
        </p:txBody>
      </p:sp>
      <p:sp>
        <p:nvSpPr>
          <p:cNvPr id="20" name="Text 18"/>
          <p:cNvSpPr/>
          <p:nvPr/>
        </p:nvSpPr>
        <p:spPr>
          <a:xfrm>
            <a:off x="10377249" y="43841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p:txBody>
      </p:sp>
      <p:sp>
        <p:nvSpPr>
          <p:cNvPr id="21" name="Shape 19"/>
          <p:cNvSpPr/>
          <p:nvPr/>
        </p:nvSpPr>
        <p:spPr>
          <a:xfrm>
            <a:off x="793790" y="5631537"/>
            <a:ext cx="510302" cy="510302"/>
          </a:xfrm>
          <a:prstGeom prst="roundRect">
            <a:avLst>
              <a:gd name="adj" fmla="val 18669"/>
            </a:avLst>
          </a:prstGeom>
          <a:solidFill>
            <a:srgbClr val="E1E1EA"/>
          </a:solidFill>
          <a:ln w="7620">
            <a:solidFill>
              <a:srgbClr val="C7C7D0"/>
            </a:solidFill>
            <a:prstDash val="solid"/>
          </a:ln>
        </p:spPr>
      </p:sp>
      <p:sp>
        <p:nvSpPr>
          <p:cNvPr id="22" name="Text 20"/>
          <p:cNvSpPr/>
          <p:nvPr/>
        </p:nvSpPr>
        <p:spPr>
          <a:xfrm>
            <a:off x="878860" y="567404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7</a:t>
            </a:r>
            <a:endParaRPr lang="en-US" sz="2650" dirty="0">
              <a:latin typeface="Times New Roman" panose="02020603050405020304" pitchFamily="18" charset="0"/>
              <a:cs typeface="Times New Roman" panose="02020603050405020304" pitchFamily="18" charset="0"/>
            </a:endParaRPr>
          </a:p>
        </p:txBody>
      </p:sp>
      <p:sp>
        <p:nvSpPr>
          <p:cNvPr id="23" name="Text 21"/>
          <p:cNvSpPr/>
          <p:nvPr/>
        </p:nvSpPr>
        <p:spPr>
          <a:xfrm>
            <a:off x="1530906" y="56315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Q&amp;A</a:t>
            </a:r>
            <a:endParaRPr lang="en-US" sz="2200" dirty="0">
              <a:latin typeface="Times New Roman" panose="02020603050405020304" pitchFamily="18" charset="0"/>
              <a:cs typeface="Times New Roman" panose="02020603050405020304" pitchFamily="18" charset="0"/>
            </a:endParaRPr>
          </a:p>
        </p:txBody>
      </p:sp>
      <p:sp>
        <p:nvSpPr>
          <p:cNvPr id="24" name="Rectangle 23"/>
          <p:cNvSpPr/>
          <p:nvPr/>
        </p:nvSpPr>
        <p:spPr>
          <a:xfrm>
            <a:off x="12890020" y="7783033"/>
            <a:ext cx="1644688"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92022"/>
            <a:ext cx="8456536" cy="1417558"/>
          </a:xfrm>
          <a:prstGeom prst="rect">
            <a:avLst/>
          </a:prstGeom>
          <a:noFill/>
          <a:ln/>
        </p:spPr>
        <p:txBody>
          <a:bodyPr wrap="square" lIns="0" tIns="0" rIns="0" bIns="0" rtlCol="0" anchor="t"/>
          <a:lstStyle/>
          <a:p>
            <a:pPr marL="0" indent="0">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Introduction to </a:t>
            </a:r>
            <a:r>
              <a:rPr lang="en-US" sz="4450" dirty="0" smtClean="0">
                <a:solidFill>
                  <a:srgbClr val="1B1B27"/>
                </a:solidFill>
                <a:latin typeface="Times New Roman" panose="02020603050405020304" pitchFamily="18" charset="0"/>
                <a:ea typeface="Raleway" pitchFamily="34" charset="-122"/>
                <a:cs typeface="Times New Roman" panose="02020603050405020304" pitchFamily="18" charset="0"/>
              </a:rPr>
              <a:t>Industrial Automation</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6280190" y="364974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Automation uses control systems to minimize human intervention. It enhances the efficiency of machines.</a:t>
            </a:r>
            <a:endParaRPr lang="en-US" sz="1750" dirty="0">
              <a:latin typeface="Times New Roman" panose="02020603050405020304" pitchFamily="18" charset="0"/>
              <a:cs typeface="Times New Roman" panose="02020603050405020304" pitchFamily="18" charset="0"/>
            </a:endParaRPr>
          </a:p>
        </p:txBody>
      </p:sp>
      <p:sp>
        <p:nvSpPr>
          <p:cNvPr id="5" name="Text 2"/>
          <p:cNvSpPr/>
          <p:nvPr/>
        </p:nvSpPr>
        <p:spPr>
          <a:xfrm>
            <a:off x="6280190" y="463069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The Pakistan industrial automation market is worth ~PKR 56 billion. It shows a strong annual growth of 10-12%.</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6290823" y="5611654"/>
            <a:ext cx="7556421" cy="725805"/>
          </a:xfrm>
          <a:prstGeom prst="rect">
            <a:avLst/>
          </a:prstGeom>
          <a:noFill/>
          <a:ln/>
        </p:spPr>
        <p:txBody>
          <a:bodyPr wrap="square" lIns="0" tIns="0" rIns="0" bIns="0" rtlCol="0" anchor="t"/>
          <a:lstStyle/>
          <a:p>
            <a:pPr marL="0" indent="0" algn="l">
              <a:lnSpc>
                <a:spcPts val="2850"/>
              </a:lnSpc>
              <a:buNone/>
            </a:pP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Automation in Electrical </a:t>
            </a:r>
            <a:r>
              <a:rPr lang="en-US" sz="1750" smtClean="0">
                <a:solidFill>
                  <a:srgbClr val="3C3939"/>
                </a:solidFill>
                <a:latin typeface="Times New Roman" panose="02020603050405020304" pitchFamily="18" charset="0"/>
                <a:ea typeface="Roboto" pitchFamily="34" charset="-122"/>
                <a:cs typeface="Times New Roman" panose="02020603050405020304" pitchFamily="18" charset="0"/>
              </a:rPr>
              <a:t>Engineering Domain  </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plays </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 critical role in power, control, and </a:t>
            </a:r>
            <a:r>
              <a:rPr lang="en-US" sz="1750">
                <a:solidFill>
                  <a:srgbClr val="3C3939"/>
                </a:solidFill>
                <a:latin typeface="Times New Roman" panose="02020603050405020304" pitchFamily="18" charset="0"/>
                <a:ea typeface="Roboto" pitchFamily="34" charset="-122"/>
                <a:cs typeface="Times New Roman" panose="02020603050405020304" pitchFamily="18" charset="0"/>
              </a:rPr>
              <a:t>instrumentation</a:t>
            </a:r>
            <a:r>
              <a:rPr lang="en-US" sz="1750" smtClean="0">
                <a:solidFill>
                  <a:srgbClr val="3C3939"/>
                </a:solidFill>
                <a:latin typeface="Times New Roman" panose="02020603050405020304" pitchFamily="18" charset="0"/>
                <a:ea typeface="Roboto" pitchFamily="34" charset="-122"/>
                <a:cs typeface="Times New Roman" panose="02020603050405020304" pitchFamily="18" charset="0"/>
              </a:rPr>
              <a:t>.</a:t>
            </a:r>
          </a:p>
          <a:p>
            <a:pPr marL="0" indent="0" algn="l">
              <a:lnSpc>
                <a:spcPts val="2850"/>
              </a:lnSpc>
              <a:buNone/>
            </a:pPr>
            <a:endParaRPr lang="en-US" sz="1750" dirty="0">
              <a:latin typeface="Times New Roman" panose="02020603050405020304" pitchFamily="18" charset="0"/>
              <a:cs typeface="Times New Roman" panose="02020603050405020304" pitchFamily="18" charset="0"/>
            </a:endParaRPr>
          </a:p>
        </p:txBody>
      </p:sp>
      <p:sp>
        <p:nvSpPr>
          <p:cNvPr id="7" name="Rectangle 6"/>
          <p:cNvSpPr/>
          <p:nvPr/>
        </p:nvSpPr>
        <p:spPr>
          <a:xfrm>
            <a:off x="12897293" y="7793665"/>
            <a:ext cx="1616149" cy="3189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1899"/>
          </a:xfrm>
          <a:prstGeom prst="rect">
            <a:avLst/>
          </a:prstGeom>
        </p:spPr>
      </p:pic>
      <p:sp>
        <p:nvSpPr>
          <p:cNvPr id="3" name="Text 0"/>
          <p:cNvSpPr/>
          <p:nvPr/>
        </p:nvSpPr>
        <p:spPr>
          <a:xfrm>
            <a:off x="787241" y="3430429"/>
            <a:ext cx="10427375" cy="702826"/>
          </a:xfrm>
          <a:prstGeom prst="rect">
            <a:avLst/>
          </a:prstGeom>
          <a:noFill/>
          <a:ln/>
        </p:spPr>
        <p:txBody>
          <a:bodyPr wrap="none" lIns="0" tIns="0" rIns="0" bIns="0" rtlCol="0" anchor="t"/>
          <a:lstStyle/>
          <a:p>
            <a:pPr marL="0" indent="0" algn="l">
              <a:lnSpc>
                <a:spcPts val="5500"/>
              </a:lnSpc>
              <a:buNone/>
            </a:pPr>
            <a:r>
              <a:rPr lang="en-US" sz="4400" b="1" dirty="0">
                <a:solidFill>
                  <a:srgbClr val="1B1B27"/>
                </a:solidFill>
                <a:latin typeface="Times New Roman" panose="02020603050405020304" pitchFamily="18" charset="0"/>
                <a:ea typeface="Raleway" pitchFamily="34" charset="-122"/>
                <a:cs typeface="Times New Roman" panose="02020603050405020304" pitchFamily="18" charset="0"/>
              </a:rPr>
              <a:t>Key Challenges in Electrical Engineering</a:t>
            </a:r>
            <a:endParaRPr lang="en-US" sz="4400" b="1" dirty="0">
              <a:latin typeface="Times New Roman" panose="02020603050405020304" pitchFamily="18" charset="0"/>
              <a:cs typeface="Times New Roman" panose="02020603050405020304" pitchFamily="18" charset="0"/>
            </a:endParaRPr>
          </a:p>
        </p:txBody>
      </p:sp>
      <p:sp>
        <p:nvSpPr>
          <p:cNvPr id="4" name="Shape 1"/>
          <p:cNvSpPr/>
          <p:nvPr/>
        </p:nvSpPr>
        <p:spPr>
          <a:xfrm>
            <a:off x="787241" y="4723686"/>
            <a:ext cx="506135" cy="506135"/>
          </a:xfrm>
          <a:prstGeom prst="roundRect">
            <a:avLst>
              <a:gd name="adj" fmla="val 18667"/>
            </a:avLst>
          </a:prstGeom>
          <a:solidFill>
            <a:srgbClr val="E1E1EA"/>
          </a:solidFill>
          <a:ln w="7620">
            <a:solidFill>
              <a:srgbClr val="C7C7D0"/>
            </a:solidFill>
            <a:prstDash val="solid"/>
          </a:ln>
        </p:spPr>
      </p:sp>
      <p:pic>
        <p:nvPicPr>
          <p:cNvPr id="5" name="Image 1" descr="preencoded.png"/>
          <p:cNvPicPr>
            <a:picLocks noChangeAspect="1"/>
          </p:cNvPicPr>
          <p:nvPr/>
        </p:nvPicPr>
        <p:blipFill>
          <a:blip r:embed="rId4"/>
          <a:stretch>
            <a:fillRect/>
          </a:stretch>
        </p:blipFill>
        <p:spPr>
          <a:xfrm>
            <a:off x="871538" y="4765834"/>
            <a:ext cx="337423" cy="421719"/>
          </a:xfrm>
          <a:prstGeom prst="rect">
            <a:avLst/>
          </a:prstGeom>
        </p:spPr>
      </p:pic>
      <p:sp>
        <p:nvSpPr>
          <p:cNvPr id="6" name="Text 2"/>
          <p:cNvSpPr/>
          <p:nvPr/>
        </p:nvSpPr>
        <p:spPr>
          <a:xfrm>
            <a:off x="1518285" y="4723686"/>
            <a:ext cx="2925842"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High Investment Costs</a:t>
            </a:r>
            <a:endParaRPr lang="en-US" sz="2200" b="1" dirty="0">
              <a:latin typeface="Times New Roman" panose="02020603050405020304" pitchFamily="18" charset="0"/>
              <a:cs typeface="Times New Roman" panose="02020603050405020304" pitchFamily="18" charset="0"/>
            </a:endParaRPr>
          </a:p>
        </p:txBody>
      </p:sp>
      <p:sp>
        <p:nvSpPr>
          <p:cNvPr id="7" name="Text 3"/>
          <p:cNvSpPr/>
          <p:nvPr/>
        </p:nvSpPr>
        <p:spPr>
          <a:xfrm>
            <a:off x="1518285" y="5210056"/>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High costs deter automation upgrades, with PKR 50-100M price tags.</a:t>
            </a:r>
            <a:endParaRPr lang="en-US" sz="1750" dirty="0">
              <a:latin typeface="Times New Roman" panose="02020603050405020304" pitchFamily="18" charset="0"/>
              <a:cs typeface="Times New Roman" panose="02020603050405020304" pitchFamily="18" charset="0"/>
            </a:endParaRPr>
          </a:p>
        </p:txBody>
      </p:sp>
      <p:sp>
        <p:nvSpPr>
          <p:cNvPr id="8" name="Shape 4"/>
          <p:cNvSpPr/>
          <p:nvPr/>
        </p:nvSpPr>
        <p:spPr>
          <a:xfrm>
            <a:off x="7427714" y="4723686"/>
            <a:ext cx="506135" cy="506135"/>
          </a:xfrm>
          <a:prstGeom prst="roundRect">
            <a:avLst>
              <a:gd name="adj" fmla="val 18667"/>
            </a:avLst>
          </a:prstGeom>
          <a:solidFill>
            <a:srgbClr val="E1E1EA"/>
          </a:solidFill>
          <a:ln w="7620">
            <a:solidFill>
              <a:srgbClr val="C7C7D0"/>
            </a:solidFill>
            <a:prstDash val="solid"/>
          </a:ln>
        </p:spPr>
      </p:sp>
      <p:pic>
        <p:nvPicPr>
          <p:cNvPr id="9" name="Image 2" descr="preencoded.png"/>
          <p:cNvPicPr>
            <a:picLocks noChangeAspect="1"/>
          </p:cNvPicPr>
          <p:nvPr/>
        </p:nvPicPr>
        <p:blipFill>
          <a:blip r:embed="rId5"/>
          <a:stretch>
            <a:fillRect/>
          </a:stretch>
        </p:blipFill>
        <p:spPr>
          <a:xfrm>
            <a:off x="7512010" y="4765834"/>
            <a:ext cx="337423" cy="421719"/>
          </a:xfrm>
          <a:prstGeom prst="rect">
            <a:avLst/>
          </a:prstGeom>
        </p:spPr>
      </p:pic>
      <p:sp>
        <p:nvSpPr>
          <p:cNvPr id="10" name="Text 5"/>
          <p:cNvSpPr/>
          <p:nvPr/>
        </p:nvSpPr>
        <p:spPr>
          <a:xfrm>
            <a:off x="8158758" y="4723686"/>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Energy Efficiency</a:t>
            </a:r>
            <a:endParaRPr lang="en-US" sz="2200" b="1" dirty="0">
              <a:latin typeface="Times New Roman" panose="02020603050405020304" pitchFamily="18" charset="0"/>
              <a:cs typeface="Times New Roman" panose="02020603050405020304" pitchFamily="18" charset="0"/>
            </a:endParaRPr>
          </a:p>
        </p:txBody>
      </p:sp>
      <p:sp>
        <p:nvSpPr>
          <p:cNvPr id="11" name="Text 6"/>
          <p:cNvSpPr/>
          <p:nvPr/>
        </p:nvSpPr>
        <p:spPr>
          <a:xfrm>
            <a:off x="8158758" y="5210056"/>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Outdated systems waste 20-30% of electricity. Textile mills lose PKR 15-20M/year.</a:t>
            </a:r>
            <a:endParaRPr lang="en-US" sz="1750" dirty="0">
              <a:latin typeface="Times New Roman" panose="02020603050405020304" pitchFamily="18" charset="0"/>
              <a:cs typeface="Times New Roman" panose="02020603050405020304" pitchFamily="18" charset="0"/>
            </a:endParaRPr>
          </a:p>
        </p:txBody>
      </p:sp>
      <p:sp>
        <p:nvSpPr>
          <p:cNvPr id="12" name="Shape 7"/>
          <p:cNvSpPr/>
          <p:nvPr/>
        </p:nvSpPr>
        <p:spPr>
          <a:xfrm>
            <a:off x="787241" y="6407587"/>
            <a:ext cx="506135" cy="506135"/>
          </a:xfrm>
          <a:prstGeom prst="roundRect">
            <a:avLst>
              <a:gd name="adj" fmla="val 18667"/>
            </a:avLst>
          </a:prstGeom>
          <a:solidFill>
            <a:srgbClr val="E1E1EA"/>
          </a:solidFill>
          <a:ln w="7620">
            <a:solidFill>
              <a:srgbClr val="C7C7D0"/>
            </a:solidFill>
            <a:prstDash val="solid"/>
          </a:ln>
        </p:spPr>
      </p:sp>
      <p:pic>
        <p:nvPicPr>
          <p:cNvPr id="13" name="Image 3" descr="preencoded.png"/>
          <p:cNvPicPr>
            <a:picLocks noChangeAspect="1"/>
          </p:cNvPicPr>
          <p:nvPr/>
        </p:nvPicPr>
        <p:blipFill>
          <a:blip r:embed="rId6"/>
          <a:stretch>
            <a:fillRect/>
          </a:stretch>
        </p:blipFill>
        <p:spPr>
          <a:xfrm>
            <a:off x="871538" y="6449735"/>
            <a:ext cx="337423" cy="421719"/>
          </a:xfrm>
          <a:prstGeom prst="rect">
            <a:avLst/>
          </a:prstGeom>
        </p:spPr>
      </p:pic>
      <p:sp>
        <p:nvSpPr>
          <p:cNvPr id="14" name="Text 8"/>
          <p:cNvSpPr/>
          <p:nvPr/>
        </p:nvSpPr>
        <p:spPr>
          <a:xfrm>
            <a:off x="1518285" y="6407587"/>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Regulatory Hurdles</a:t>
            </a:r>
            <a:endParaRPr lang="en-US" sz="2200" b="1" dirty="0">
              <a:latin typeface="Times New Roman" panose="02020603050405020304" pitchFamily="18" charset="0"/>
              <a:cs typeface="Times New Roman" panose="02020603050405020304" pitchFamily="18" charset="0"/>
            </a:endParaRPr>
          </a:p>
        </p:txBody>
      </p:sp>
      <p:sp>
        <p:nvSpPr>
          <p:cNvPr id="15" name="Text 9"/>
          <p:cNvSpPr/>
          <p:nvPr/>
        </p:nvSpPr>
        <p:spPr>
          <a:xfrm>
            <a:off x="1528918" y="6904590"/>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Outdated regulations force the use of inefficient systems.</a:t>
            </a:r>
            <a:endParaRPr lang="en-US" sz="1750" dirty="0">
              <a:latin typeface="Times New Roman" panose="02020603050405020304" pitchFamily="18" charset="0"/>
              <a:cs typeface="Times New Roman" panose="02020603050405020304" pitchFamily="18" charset="0"/>
            </a:endParaRPr>
          </a:p>
        </p:txBody>
      </p:sp>
      <p:sp>
        <p:nvSpPr>
          <p:cNvPr id="16" name="Shape 10"/>
          <p:cNvSpPr/>
          <p:nvPr/>
        </p:nvSpPr>
        <p:spPr>
          <a:xfrm>
            <a:off x="7427714" y="6407587"/>
            <a:ext cx="506135" cy="506135"/>
          </a:xfrm>
          <a:prstGeom prst="roundRect">
            <a:avLst>
              <a:gd name="adj" fmla="val 18667"/>
            </a:avLst>
          </a:prstGeom>
          <a:solidFill>
            <a:srgbClr val="E1E1EA"/>
          </a:solidFill>
          <a:ln w="7620">
            <a:solidFill>
              <a:srgbClr val="C7C7D0"/>
            </a:solidFill>
            <a:prstDash val="solid"/>
          </a:ln>
        </p:spPr>
      </p:sp>
      <p:pic>
        <p:nvPicPr>
          <p:cNvPr id="17" name="Image 4" descr="preencoded.png"/>
          <p:cNvPicPr>
            <a:picLocks noChangeAspect="1"/>
          </p:cNvPicPr>
          <p:nvPr/>
        </p:nvPicPr>
        <p:blipFill>
          <a:blip r:embed="rId7"/>
          <a:stretch>
            <a:fillRect/>
          </a:stretch>
        </p:blipFill>
        <p:spPr>
          <a:xfrm>
            <a:off x="7512010" y="6449735"/>
            <a:ext cx="337423" cy="421719"/>
          </a:xfrm>
          <a:prstGeom prst="rect">
            <a:avLst/>
          </a:prstGeom>
        </p:spPr>
      </p:pic>
      <p:sp>
        <p:nvSpPr>
          <p:cNvPr id="18" name="Text 11"/>
          <p:cNvSpPr/>
          <p:nvPr/>
        </p:nvSpPr>
        <p:spPr>
          <a:xfrm>
            <a:off x="8158758" y="6407587"/>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Skills Gap</a:t>
            </a:r>
            <a:endParaRPr lang="en-US" sz="2200" b="1" dirty="0">
              <a:latin typeface="Times New Roman" panose="02020603050405020304" pitchFamily="18" charset="0"/>
              <a:cs typeface="Times New Roman" panose="02020603050405020304" pitchFamily="18" charset="0"/>
            </a:endParaRPr>
          </a:p>
        </p:txBody>
      </p:sp>
      <p:sp>
        <p:nvSpPr>
          <p:cNvPr id="19" name="Text 12"/>
          <p:cNvSpPr/>
          <p:nvPr/>
        </p:nvSpPr>
        <p:spPr>
          <a:xfrm>
            <a:off x="8158758" y="6893957"/>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Lack of trained personnel. Only 12 universities offer automation engineering.</a:t>
            </a:r>
            <a:endParaRPr lang="en-US" sz="1750" dirty="0">
              <a:latin typeface="Times New Roman" panose="02020603050405020304" pitchFamily="18" charset="0"/>
              <a:cs typeface="Times New Roman" panose="02020603050405020304" pitchFamily="18" charset="0"/>
            </a:endParaRPr>
          </a:p>
        </p:txBody>
      </p:sp>
      <p:sp>
        <p:nvSpPr>
          <p:cNvPr id="20" name="Rectangle 19"/>
          <p:cNvSpPr/>
          <p:nvPr/>
        </p:nvSpPr>
        <p:spPr>
          <a:xfrm>
            <a:off x="12790967" y="7783033"/>
            <a:ext cx="1839433"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6013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Technical Deep Dive: Investment &amp; Efficiency</a:t>
            </a:r>
            <a:endParaRPr lang="en-US" sz="4450" b="1"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793790" y="3073003"/>
            <a:ext cx="566976" cy="566976"/>
          </a:xfrm>
          <a:prstGeom prst="rect">
            <a:avLst/>
          </a:prstGeom>
        </p:spPr>
      </p:pic>
      <p:sp>
        <p:nvSpPr>
          <p:cNvPr id="5" name="Text 1"/>
          <p:cNvSpPr/>
          <p:nvPr/>
        </p:nvSpPr>
        <p:spPr>
          <a:xfrm>
            <a:off x="793790" y="3866793"/>
            <a:ext cx="302168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 </a:t>
            </a: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High Investment Costs</a:t>
            </a:r>
            <a:endParaRPr lang="en-US" sz="2200" b="1" dirty="0">
              <a:latin typeface="Times New Roman" panose="02020603050405020304" pitchFamily="18" charset="0"/>
              <a:cs typeface="Times New Roman" panose="02020603050405020304" pitchFamily="18" charset="0"/>
            </a:endParaRPr>
          </a:p>
        </p:txBody>
      </p:sp>
      <p:sp>
        <p:nvSpPr>
          <p:cNvPr id="6" name="Text 2"/>
          <p:cNvSpPr/>
          <p:nvPr/>
        </p:nvSpPr>
        <p:spPr>
          <a:xfrm>
            <a:off x="793790" y="4447937"/>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Upfront capital can be a barrier.</a:t>
            </a:r>
            <a:endParaRPr lang="en-US" sz="1750" dirty="0">
              <a:latin typeface="Times New Roman" panose="02020603050405020304" pitchFamily="18" charset="0"/>
              <a:cs typeface="Times New Roman" panose="02020603050405020304" pitchFamily="18" charset="0"/>
            </a:endParaRPr>
          </a:p>
        </p:txBody>
      </p:sp>
      <p:sp>
        <p:nvSpPr>
          <p:cNvPr id="7" name="Text 3"/>
          <p:cNvSpPr/>
          <p:nvPr/>
        </p:nvSpPr>
        <p:spPr>
          <a:xfrm>
            <a:off x="793790" y="525303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Requires maintenance and may suffer downtime.</a:t>
            </a:r>
            <a:endParaRPr lang="en-US" sz="1750" dirty="0">
              <a:latin typeface="Times New Roman" panose="02020603050405020304" pitchFamily="18" charset="0"/>
              <a:cs typeface="Times New Roman" panose="02020603050405020304" pitchFamily="18" charset="0"/>
            </a:endParaRPr>
          </a:p>
        </p:txBody>
      </p:sp>
      <p:sp>
        <p:nvSpPr>
          <p:cNvPr id="8" name="Text 4"/>
          <p:cNvSpPr/>
          <p:nvPr/>
        </p:nvSpPr>
        <p:spPr>
          <a:xfrm>
            <a:off x="793790" y="6233993"/>
            <a:ext cx="2835235" cy="708660"/>
          </a:xfrm>
          <a:prstGeom prst="rect">
            <a:avLst/>
          </a:prstGeom>
          <a:noFill/>
          <a:ln/>
        </p:spPr>
        <p:txBody>
          <a:bodyPr wrap="square" lIns="0" tIns="0" rIns="0" bIns="0" rtlCol="0" anchor="t"/>
          <a:lstStyle/>
          <a:p>
            <a:pPr marL="0" indent="0" algn="l">
              <a:lnSpc>
                <a:spcPts val="2750"/>
              </a:lnSpc>
              <a:buNone/>
            </a:pPr>
            <a:r>
              <a:rPr lang="en-US" sz="2200" dirty="0">
                <a:solidFill>
                  <a:srgbClr val="1B1B27"/>
                </a:solidFill>
                <a:latin typeface="Times New Roman" panose="02020603050405020304" pitchFamily="18" charset="0"/>
                <a:ea typeface="Raleway" pitchFamily="34" charset="-122"/>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4856321" y="3073003"/>
            <a:ext cx="566976" cy="566976"/>
          </a:xfrm>
          <a:prstGeom prst="rect">
            <a:avLst/>
          </a:prstGeom>
        </p:spPr>
      </p:pic>
      <p:sp>
        <p:nvSpPr>
          <p:cNvPr id="10" name="Text 5"/>
          <p:cNvSpPr/>
          <p:nvPr/>
        </p:nvSpPr>
        <p:spPr>
          <a:xfrm>
            <a:off x="4856321" y="38667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 </a:t>
            </a: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Energy Efficiency</a:t>
            </a:r>
            <a:endParaRPr lang="en-US" sz="2200" b="1" dirty="0">
              <a:latin typeface="Times New Roman" panose="02020603050405020304" pitchFamily="18" charset="0"/>
              <a:cs typeface="Times New Roman" panose="02020603050405020304" pitchFamily="18" charset="0"/>
            </a:endParaRPr>
          </a:p>
        </p:txBody>
      </p:sp>
      <p:sp>
        <p:nvSpPr>
          <p:cNvPr id="11" name="Text 6"/>
          <p:cNvSpPr/>
          <p:nvPr/>
        </p:nvSpPr>
        <p:spPr>
          <a:xfrm>
            <a:off x="4856321" y="4447937"/>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Automation can lead to higher consumption.</a:t>
            </a:r>
            <a:endParaRPr lang="en-US" sz="1750" dirty="0">
              <a:latin typeface="Times New Roman" panose="02020603050405020304" pitchFamily="18" charset="0"/>
              <a:cs typeface="Times New Roman" panose="02020603050405020304" pitchFamily="18" charset="0"/>
            </a:endParaRPr>
          </a:p>
        </p:txBody>
      </p:sp>
      <p:sp>
        <p:nvSpPr>
          <p:cNvPr id="12" name="Text 7"/>
          <p:cNvSpPr/>
          <p:nvPr/>
        </p:nvSpPr>
        <p:spPr>
          <a:xfrm>
            <a:off x="4856321" y="525303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Equipment may consume energy even when idle</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51159"/>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Technical Deep Dive: Regulations &amp; Skills</a:t>
            </a:r>
            <a:endParaRPr lang="en-US" sz="4450" b="1"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6280190" y="3408878"/>
            <a:ext cx="566976" cy="566976"/>
          </a:xfrm>
          <a:prstGeom prst="rect">
            <a:avLst/>
          </a:prstGeom>
        </p:spPr>
      </p:pic>
      <p:sp>
        <p:nvSpPr>
          <p:cNvPr id="5" name="Text 1"/>
          <p:cNvSpPr/>
          <p:nvPr/>
        </p:nvSpPr>
        <p:spPr>
          <a:xfrm>
            <a:off x="6280190" y="42026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Regulatory Hurdles</a:t>
            </a:r>
            <a:endParaRPr lang="en-US" sz="2200" b="1" dirty="0">
              <a:latin typeface="Times New Roman" panose="02020603050405020304" pitchFamily="18" charset="0"/>
              <a:cs typeface="Times New Roman" panose="02020603050405020304" pitchFamily="18" charset="0"/>
            </a:endParaRPr>
          </a:p>
        </p:txBody>
      </p:sp>
      <p:sp>
        <p:nvSpPr>
          <p:cNvPr id="6" name="Text 2"/>
          <p:cNvSpPr/>
          <p:nvPr/>
        </p:nvSpPr>
        <p:spPr>
          <a:xfrm>
            <a:off x="6280190" y="4693087"/>
            <a:ext cx="360807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Must comply with strict safety regulations.</a:t>
            </a:r>
            <a:endParaRPr lang="en-US" sz="1750" dirty="0">
              <a:latin typeface="Times New Roman" panose="02020603050405020304" pitchFamily="18" charset="0"/>
              <a:cs typeface="Times New Roman" panose="02020603050405020304" pitchFamily="18" charset="0"/>
            </a:endParaRPr>
          </a:p>
        </p:txBody>
      </p:sp>
      <p:sp>
        <p:nvSpPr>
          <p:cNvPr id="7" name="Text 3"/>
          <p:cNvSpPr/>
          <p:nvPr/>
        </p:nvSpPr>
        <p:spPr>
          <a:xfrm>
            <a:off x="6280190" y="5498187"/>
            <a:ext cx="360807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Adhere to environmental rules on emissions.</a:t>
            </a:r>
            <a:endParaRPr lang="en-US" sz="1750" dirty="0">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r:embed="rId5"/>
          <a:stretch>
            <a:fillRect/>
          </a:stretch>
        </p:blipFill>
        <p:spPr>
          <a:xfrm>
            <a:off x="10228421" y="3408878"/>
            <a:ext cx="566976" cy="566976"/>
          </a:xfrm>
          <a:prstGeom prst="rect">
            <a:avLst/>
          </a:prstGeom>
        </p:spPr>
      </p:pic>
      <p:sp>
        <p:nvSpPr>
          <p:cNvPr id="9" name="Text 4"/>
          <p:cNvSpPr/>
          <p:nvPr/>
        </p:nvSpPr>
        <p:spPr>
          <a:xfrm>
            <a:off x="10228421" y="4202668"/>
            <a:ext cx="3608189" cy="708660"/>
          </a:xfrm>
          <a:prstGeom prst="rect">
            <a:avLst/>
          </a:prstGeom>
          <a:noFill/>
          <a:ln/>
        </p:spPr>
        <p:txBody>
          <a:bodyPr wrap="squar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Aging Infrastructure &amp; Skills Gap</a:t>
            </a:r>
            <a:endParaRPr lang="en-US" sz="2200" b="1" dirty="0">
              <a:latin typeface="Times New Roman" panose="02020603050405020304" pitchFamily="18" charset="0"/>
              <a:cs typeface="Times New Roman" panose="02020603050405020304" pitchFamily="18" charset="0"/>
            </a:endParaRPr>
          </a:p>
        </p:txBody>
      </p:sp>
      <p:sp>
        <p:nvSpPr>
          <p:cNvPr id="10" name="Text 5"/>
          <p:cNvSpPr/>
          <p:nvPr/>
        </p:nvSpPr>
        <p:spPr>
          <a:xfrm>
            <a:off x="10228421" y="5047417"/>
            <a:ext cx="360818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Workers lack the skills to operate systems.</a:t>
            </a:r>
            <a:endParaRPr lang="en-US" sz="1750" dirty="0">
              <a:latin typeface="Times New Roman" panose="02020603050405020304" pitchFamily="18" charset="0"/>
              <a:cs typeface="Times New Roman" panose="02020603050405020304" pitchFamily="18" charset="0"/>
            </a:endParaRPr>
          </a:p>
        </p:txBody>
      </p:sp>
      <p:sp>
        <p:nvSpPr>
          <p:cNvPr id="11" name="Text 6"/>
          <p:cNvSpPr/>
          <p:nvPr/>
        </p:nvSpPr>
        <p:spPr>
          <a:xfrm>
            <a:off x="10228421" y="5852517"/>
            <a:ext cx="360818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Shifts traditional roles to higher-skill positions.</a:t>
            </a:r>
            <a:endParaRPr lang="en-US" sz="1750" dirty="0">
              <a:latin typeface="Times New Roman" panose="02020603050405020304" pitchFamily="18" charset="0"/>
              <a:cs typeface="Times New Roman" panose="02020603050405020304" pitchFamily="18" charset="0"/>
            </a:endParaRPr>
          </a:p>
        </p:txBody>
      </p:sp>
      <p:sp>
        <p:nvSpPr>
          <p:cNvPr id="12" name="Rectangle 11"/>
          <p:cNvSpPr/>
          <p:nvPr/>
        </p:nvSpPr>
        <p:spPr>
          <a:xfrm>
            <a:off x="12890020" y="7783033"/>
            <a:ext cx="1644688"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1307783"/>
            <a:ext cx="7359372" cy="708779"/>
          </a:xfrm>
          <a:prstGeom prst="rect">
            <a:avLst/>
          </a:prstGeom>
          <a:noFill/>
          <a:ln/>
        </p:spPr>
        <p:txBody>
          <a:bodyPr wrap="none" lIns="0" tIns="0" rIns="0" bIns="0" rtlCol="0" anchor="t"/>
          <a:lstStyle/>
          <a:p>
            <a:pPr marL="0" indent="0" algn="l">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Solutions: Costs &amp; Efficiency</a:t>
            </a:r>
            <a:endParaRPr lang="en-US" sz="4450" b="1" dirty="0">
              <a:latin typeface="Times New Roman" panose="02020603050405020304" pitchFamily="18" charset="0"/>
              <a:cs typeface="Times New Roman" panose="02020603050405020304" pitchFamily="18" charset="0"/>
            </a:endParaRPr>
          </a:p>
        </p:txBody>
      </p:sp>
      <p:sp>
        <p:nvSpPr>
          <p:cNvPr id="5" name="Text 2"/>
          <p:cNvSpPr/>
          <p:nvPr/>
        </p:nvSpPr>
        <p:spPr>
          <a:xfrm>
            <a:off x="1970603" y="2826901"/>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Local Manufacturing</a:t>
            </a:r>
            <a:endParaRPr lang="en-US" sz="22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5032653" y="2356723"/>
            <a:ext cx="4564975" cy="4564975"/>
          </a:xfrm>
          <a:prstGeom prst="rect">
            <a:avLst/>
          </a:prstGeom>
        </p:spPr>
      </p:pic>
      <p:sp>
        <p:nvSpPr>
          <p:cNvPr id="7" name="Text 3"/>
          <p:cNvSpPr/>
          <p:nvPr/>
        </p:nvSpPr>
        <p:spPr>
          <a:xfrm>
            <a:off x="6346508" y="3043357"/>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1</a:t>
            </a:r>
            <a:endParaRPr lang="en-US" sz="2650" dirty="0">
              <a:latin typeface="Times New Roman" panose="02020603050405020304" pitchFamily="18" charset="0"/>
              <a:cs typeface="Times New Roman" panose="02020603050405020304" pitchFamily="18" charset="0"/>
            </a:endParaRPr>
          </a:p>
        </p:txBody>
      </p:sp>
      <p:sp>
        <p:nvSpPr>
          <p:cNvPr id="8" name="Text 4"/>
          <p:cNvSpPr/>
          <p:nvPr/>
        </p:nvSpPr>
        <p:spPr>
          <a:xfrm>
            <a:off x="9824442" y="2826901"/>
            <a:ext cx="359878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Renewable Energy Sources</a:t>
            </a:r>
            <a:endParaRPr lang="en-US" sz="22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5032653" y="2356723"/>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7944326" y="3043357"/>
            <a:ext cx="339328" cy="424220"/>
          </a:xfrm>
          <a:prstGeom prst="rect">
            <a:avLst/>
          </a:prstGeom>
        </p:spPr>
      </p:pic>
      <p:sp>
        <p:nvSpPr>
          <p:cNvPr id="11" name="Text 5"/>
          <p:cNvSpPr/>
          <p:nvPr/>
        </p:nvSpPr>
        <p:spPr>
          <a:xfrm>
            <a:off x="10051256" y="446198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Financing Models</a:t>
            </a:r>
            <a:endParaRPr lang="en-US" sz="2200" dirty="0">
              <a:latin typeface="Times New Roman" panose="02020603050405020304" pitchFamily="18" charset="0"/>
              <a:cs typeface="Times New Roman" panose="02020603050405020304" pitchFamily="18" charset="0"/>
            </a:endParaRPr>
          </a:p>
        </p:txBody>
      </p:sp>
      <p:pic>
        <p:nvPicPr>
          <p:cNvPr id="12" name="Image 4" descr="preencoded.png"/>
          <p:cNvPicPr>
            <a:picLocks noChangeAspect="1"/>
          </p:cNvPicPr>
          <p:nvPr/>
        </p:nvPicPr>
        <p:blipFill>
          <a:blip r:embed="rId7"/>
          <a:stretch>
            <a:fillRect/>
          </a:stretch>
        </p:blipFill>
        <p:spPr>
          <a:xfrm>
            <a:off x="5032653" y="2356723"/>
            <a:ext cx="4564975" cy="4564975"/>
          </a:xfrm>
          <a:prstGeom prst="rect">
            <a:avLst/>
          </a:prstGeom>
        </p:spPr>
      </p:pic>
      <p:sp>
        <p:nvSpPr>
          <p:cNvPr id="13" name="Text 6"/>
          <p:cNvSpPr/>
          <p:nvPr/>
        </p:nvSpPr>
        <p:spPr>
          <a:xfrm>
            <a:off x="8743117" y="442698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3</a:t>
            </a:r>
            <a:endParaRPr lang="en-US" sz="2650" dirty="0">
              <a:latin typeface="Times New Roman" panose="02020603050405020304" pitchFamily="18" charset="0"/>
              <a:cs typeface="Times New Roman" panose="02020603050405020304" pitchFamily="18" charset="0"/>
            </a:endParaRPr>
          </a:p>
        </p:txBody>
      </p:sp>
      <p:sp>
        <p:nvSpPr>
          <p:cNvPr id="14" name="Text 7"/>
          <p:cNvSpPr/>
          <p:nvPr/>
        </p:nvSpPr>
        <p:spPr>
          <a:xfrm>
            <a:off x="9824442" y="609707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Smart Motor Systems</a:t>
            </a:r>
            <a:endParaRPr lang="en-US" sz="2200" dirty="0">
              <a:latin typeface="Times New Roman" panose="02020603050405020304" pitchFamily="18" charset="0"/>
              <a:cs typeface="Times New Roman" panose="02020603050405020304" pitchFamily="18" charset="0"/>
            </a:endParaRPr>
          </a:p>
        </p:txBody>
      </p:sp>
      <p:pic>
        <p:nvPicPr>
          <p:cNvPr id="15" name="Image 5" descr="preencoded.png"/>
          <p:cNvPicPr>
            <a:picLocks noChangeAspect="1"/>
          </p:cNvPicPr>
          <p:nvPr/>
        </p:nvPicPr>
        <p:blipFill>
          <a:blip r:embed="rId8"/>
          <a:stretch>
            <a:fillRect/>
          </a:stretch>
        </p:blipFill>
        <p:spPr>
          <a:xfrm>
            <a:off x="5032653" y="2356723"/>
            <a:ext cx="4564975" cy="4564975"/>
          </a:xfrm>
          <a:prstGeom prst="rect">
            <a:avLst/>
          </a:prstGeom>
        </p:spPr>
      </p:pic>
      <p:pic>
        <p:nvPicPr>
          <p:cNvPr id="16" name="Image 6" descr="preencoded.png"/>
          <p:cNvPicPr>
            <a:picLocks noChangeAspect="1"/>
          </p:cNvPicPr>
          <p:nvPr/>
        </p:nvPicPr>
        <p:blipFill>
          <a:blip r:embed="rId9"/>
          <a:stretch>
            <a:fillRect/>
          </a:stretch>
        </p:blipFill>
        <p:spPr>
          <a:xfrm>
            <a:off x="7944326" y="5810607"/>
            <a:ext cx="339328" cy="424220"/>
          </a:xfrm>
          <a:prstGeom prst="rect">
            <a:avLst/>
          </a:prstGeom>
        </p:spPr>
      </p:pic>
      <p:sp>
        <p:nvSpPr>
          <p:cNvPr id="17" name="Text 8"/>
          <p:cNvSpPr/>
          <p:nvPr/>
        </p:nvSpPr>
        <p:spPr>
          <a:xfrm>
            <a:off x="1970603" y="609707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Waste Heat Recovery</a:t>
            </a:r>
            <a:endParaRPr lang="en-US" sz="2200" dirty="0">
              <a:latin typeface="Times New Roman" panose="02020603050405020304" pitchFamily="18" charset="0"/>
              <a:cs typeface="Times New Roman" panose="02020603050405020304" pitchFamily="18" charset="0"/>
            </a:endParaRPr>
          </a:p>
        </p:txBody>
      </p:sp>
      <p:pic>
        <p:nvPicPr>
          <p:cNvPr id="18" name="Image 7" descr="preencoded.png"/>
          <p:cNvPicPr>
            <a:picLocks noChangeAspect="1"/>
          </p:cNvPicPr>
          <p:nvPr/>
        </p:nvPicPr>
        <p:blipFill>
          <a:blip r:embed="rId10"/>
          <a:stretch>
            <a:fillRect/>
          </a:stretch>
        </p:blipFill>
        <p:spPr>
          <a:xfrm>
            <a:off x="5032653" y="2356723"/>
            <a:ext cx="4564975" cy="4564975"/>
          </a:xfrm>
          <a:prstGeom prst="rect">
            <a:avLst/>
          </a:prstGeom>
        </p:spPr>
      </p:pic>
      <p:pic>
        <p:nvPicPr>
          <p:cNvPr id="19" name="Image 8" descr="preencoded.png"/>
          <p:cNvPicPr>
            <a:picLocks noChangeAspect="1"/>
          </p:cNvPicPr>
          <p:nvPr/>
        </p:nvPicPr>
        <p:blipFill>
          <a:blip r:embed="rId11"/>
          <a:stretch>
            <a:fillRect/>
          </a:stretch>
        </p:blipFill>
        <p:spPr>
          <a:xfrm>
            <a:off x="6346508" y="5810607"/>
            <a:ext cx="339328" cy="424220"/>
          </a:xfrm>
          <a:prstGeom prst="rect">
            <a:avLst/>
          </a:prstGeom>
        </p:spPr>
      </p:pic>
      <p:sp>
        <p:nvSpPr>
          <p:cNvPr id="20" name="Text 9"/>
          <p:cNvSpPr/>
          <p:nvPr/>
        </p:nvSpPr>
        <p:spPr>
          <a:xfrm>
            <a:off x="1743789" y="4461986"/>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Hybrid Solar Systems</a:t>
            </a:r>
            <a:endParaRPr lang="en-US" sz="2200" dirty="0">
              <a:latin typeface="Times New Roman" panose="02020603050405020304" pitchFamily="18" charset="0"/>
              <a:cs typeface="Times New Roman" panose="02020603050405020304" pitchFamily="18" charset="0"/>
            </a:endParaRPr>
          </a:p>
        </p:txBody>
      </p:sp>
      <p:pic>
        <p:nvPicPr>
          <p:cNvPr id="21" name="Image 9" descr="preencoded.png"/>
          <p:cNvPicPr>
            <a:picLocks noChangeAspect="1"/>
          </p:cNvPicPr>
          <p:nvPr/>
        </p:nvPicPr>
        <p:blipFill>
          <a:blip r:embed="rId12"/>
          <a:stretch>
            <a:fillRect/>
          </a:stretch>
        </p:blipFill>
        <p:spPr>
          <a:xfrm>
            <a:off x="5032653" y="2356723"/>
            <a:ext cx="4564975" cy="4564975"/>
          </a:xfrm>
          <a:prstGeom prst="rect">
            <a:avLst/>
          </a:prstGeom>
        </p:spPr>
      </p:pic>
      <p:sp>
        <p:nvSpPr>
          <p:cNvPr id="22" name="Text 10"/>
          <p:cNvSpPr/>
          <p:nvPr/>
        </p:nvSpPr>
        <p:spPr>
          <a:xfrm>
            <a:off x="5547717" y="442698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6</a:t>
            </a:r>
            <a:endParaRPr lang="en-US" sz="26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2653665"/>
            <a:ext cx="7794308"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Solutions: Regulations &amp; Skills</a:t>
            </a:r>
            <a:endParaRPr lang="en-US" sz="4450" dirty="0">
              <a:latin typeface="Times New Roman" panose="02020603050405020304" pitchFamily="18" charset="0"/>
              <a:cs typeface="Times New Roman" panose="02020603050405020304" pitchFamily="18" charset="0"/>
            </a:endParaRPr>
          </a:p>
        </p:txBody>
      </p:sp>
      <p:sp>
        <p:nvSpPr>
          <p:cNvPr id="5" name="Shape 2"/>
          <p:cNvSpPr/>
          <p:nvPr/>
        </p:nvSpPr>
        <p:spPr>
          <a:xfrm>
            <a:off x="793790" y="3702606"/>
            <a:ext cx="6408063" cy="823198"/>
          </a:xfrm>
          <a:prstGeom prst="roundRect">
            <a:avLst>
              <a:gd name="adj" fmla="val 11573"/>
            </a:avLst>
          </a:prstGeom>
          <a:solidFill>
            <a:srgbClr val="E1E1EA"/>
          </a:solidFill>
          <a:ln w="7620">
            <a:solidFill>
              <a:srgbClr val="C7C7D0"/>
            </a:solidFill>
            <a:prstDash val="solid"/>
          </a:ln>
        </p:spPr>
      </p:sp>
      <p:sp>
        <p:nvSpPr>
          <p:cNvPr id="6" name="Text 3"/>
          <p:cNvSpPr/>
          <p:nvPr/>
        </p:nvSpPr>
        <p:spPr>
          <a:xfrm>
            <a:off x="1028224" y="39370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Cyber-Security</a:t>
            </a:r>
            <a:endParaRPr lang="en-US" sz="2200" dirty="0">
              <a:latin typeface="Times New Roman" panose="02020603050405020304" pitchFamily="18" charset="0"/>
              <a:cs typeface="Times New Roman" panose="02020603050405020304" pitchFamily="18" charset="0"/>
            </a:endParaRPr>
          </a:p>
        </p:txBody>
      </p:sp>
      <p:sp>
        <p:nvSpPr>
          <p:cNvPr id="7" name="Shape 4"/>
          <p:cNvSpPr/>
          <p:nvPr/>
        </p:nvSpPr>
        <p:spPr>
          <a:xfrm>
            <a:off x="7428667" y="3702606"/>
            <a:ext cx="6408063" cy="823198"/>
          </a:xfrm>
          <a:prstGeom prst="roundRect">
            <a:avLst>
              <a:gd name="adj" fmla="val 11573"/>
            </a:avLst>
          </a:prstGeom>
          <a:solidFill>
            <a:srgbClr val="E1E1EA"/>
          </a:solidFill>
          <a:ln w="7620">
            <a:solidFill>
              <a:srgbClr val="C7C7D0"/>
            </a:solidFill>
            <a:prstDash val="solid"/>
          </a:ln>
        </p:spPr>
      </p:sp>
      <p:sp>
        <p:nvSpPr>
          <p:cNvPr id="8" name="Text 5"/>
          <p:cNvSpPr/>
          <p:nvPr/>
        </p:nvSpPr>
        <p:spPr>
          <a:xfrm>
            <a:off x="7663101" y="39370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Safety Parameters</a:t>
            </a:r>
            <a:endParaRPr lang="en-US" sz="2200" dirty="0">
              <a:latin typeface="Times New Roman" panose="02020603050405020304" pitchFamily="18" charset="0"/>
              <a:cs typeface="Times New Roman" panose="02020603050405020304" pitchFamily="18" charset="0"/>
            </a:endParaRPr>
          </a:p>
        </p:txBody>
      </p:sp>
      <p:sp>
        <p:nvSpPr>
          <p:cNvPr id="9" name="Shape 6"/>
          <p:cNvSpPr/>
          <p:nvPr/>
        </p:nvSpPr>
        <p:spPr>
          <a:xfrm>
            <a:off x="793790" y="4752618"/>
            <a:ext cx="6408063" cy="823198"/>
          </a:xfrm>
          <a:prstGeom prst="roundRect">
            <a:avLst>
              <a:gd name="adj" fmla="val 11573"/>
            </a:avLst>
          </a:prstGeom>
          <a:solidFill>
            <a:srgbClr val="E1E1EA"/>
          </a:solidFill>
          <a:ln w="7620">
            <a:solidFill>
              <a:srgbClr val="C7C7D0"/>
            </a:solidFill>
            <a:prstDash val="solid"/>
          </a:ln>
        </p:spPr>
      </p:sp>
      <p:sp>
        <p:nvSpPr>
          <p:cNvPr id="10" name="Text 7"/>
          <p:cNvSpPr/>
          <p:nvPr/>
        </p:nvSpPr>
        <p:spPr>
          <a:xfrm>
            <a:off x="1028224" y="49870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Upskilling Programs</a:t>
            </a:r>
            <a:endParaRPr lang="en-US" sz="2200" dirty="0">
              <a:latin typeface="Times New Roman" panose="02020603050405020304" pitchFamily="18" charset="0"/>
              <a:cs typeface="Times New Roman" panose="02020603050405020304" pitchFamily="18" charset="0"/>
            </a:endParaRPr>
          </a:p>
        </p:txBody>
      </p:sp>
      <p:sp>
        <p:nvSpPr>
          <p:cNvPr id="11" name="Shape 8"/>
          <p:cNvSpPr/>
          <p:nvPr/>
        </p:nvSpPr>
        <p:spPr>
          <a:xfrm>
            <a:off x="7428667" y="4752618"/>
            <a:ext cx="6408063" cy="823198"/>
          </a:xfrm>
          <a:prstGeom prst="roundRect">
            <a:avLst>
              <a:gd name="adj" fmla="val 11573"/>
            </a:avLst>
          </a:prstGeom>
          <a:solidFill>
            <a:srgbClr val="E1E1EA"/>
          </a:solidFill>
          <a:ln w="7620">
            <a:solidFill>
              <a:srgbClr val="C7C7D0"/>
            </a:solidFill>
            <a:prstDash val="solid"/>
          </a:ln>
        </p:spPr>
      </p:sp>
      <p:sp>
        <p:nvSpPr>
          <p:cNvPr id="12" name="Text 9"/>
          <p:cNvSpPr/>
          <p:nvPr/>
        </p:nvSpPr>
        <p:spPr>
          <a:xfrm>
            <a:off x="7663101" y="4987052"/>
            <a:ext cx="3135868"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Management Strategies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42792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Conclusion</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6280190" y="3476863"/>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Pakistan needs automation but faces blocks. High costs, old machines, and slow approvals hinder progress. Fixing these problems with local tech and training will boost growth. Upgrade now—or get left behind.</a:t>
            </a:r>
            <a:endParaRPr lang="en-US" sz="1750" dirty="0">
              <a:latin typeface="Times New Roman" panose="02020603050405020304" pitchFamily="18" charset="0"/>
              <a:cs typeface="Times New Roman" panose="02020603050405020304" pitchFamily="18" charset="0"/>
            </a:endParaRPr>
          </a:p>
        </p:txBody>
      </p:sp>
      <p:sp>
        <p:nvSpPr>
          <p:cNvPr id="5" name="Text 2"/>
          <p:cNvSpPr/>
          <p:nvPr/>
        </p:nvSpPr>
        <p:spPr>
          <a:xfrm>
            <a:off x="6280190" y="4820722"/>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Questions?</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6280190" y="5438775"/>
            <a:ext cx="7556421" cy="362903"/>
          </a:xfrm>
          <a:prstGeom prst="rect">
            <a:avLst/>
          </a:prstGeom>
          <a:noFill/>
          <a:ln/>
        </p:spPr>
        <p:txBody>
          <a:bodyPr wrap="none" lIns="0" tIns="0" rIns="0" bIns="0" rtlCol="0" anchor="t"/>
          <a:lstStyle/>
          <a:p>
            <a:pPr marL="0" indent="0" algn="ctr">
              <a:lnSpc>
                <a:spcPts val="2850"/>
              </a:lnSpc>
              <a:buNone/>
            </a:pPr>
            <a:r>
              <a:rPr lang="en-US" sz="3200" b="1" dirty="0">
                <a:solidFill>
                  <a:srgbClr val="3C3939"/>
                </a:solidFill>
                <a:latin typeface="Times New Roman" panose="02020603050405020304" pitchFamily="18" charset="0"/>
                <a:ea typeface="Roboto" pitchFamily="34" charset="-122"/>
                <a:cs typeface="Times New Roman" panose="02020603050405020304" pitchFamily="18" charset="0"/>
              </a:rPr>
              <a:t>Thank you for your attention!</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 </a:t>
            </a:r>
            <a:endParaRPr lang="en-US" sz="1750" dirty="0">
              <a:latin typeface="Times New Roman" panose="02020603050405020304" pitchFamily="18" charset="0"/>
              <a:cs typeface="Times New Roman" panose="02020603050405020304" pitchFamily="18" charset="0"/>
            </a:endParaRPr>
          </a:p>
        </p:txBody>
      </p:sp>
      <p:sp>
        <p:nvSpPr>
          <p:cNvPr id="7" name="Rectangle 6"/>
          <p:cNvSpPr/>
          <p:nvPr/>
        </p:nvSpPr>
        <p:spPr>
          <a:xfrm>
            <a:off x="12890020" y="7783033"/>
            <a:ext cx="1644688"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TotalTime>
  <Words>334</Words>
  <Application>Microsoft Office PowerPoint</Application>
  <PresentationFormat>Custom</PresentationFormat>
  <Paragraphs>79</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Roboto</vt:lpstr>
      <vt:lpstr>Raleway</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Haseeb Goraya</cp:lastModifiedBy>
  <cp:revision>11</cp:revision>
  <dcterms:created xsi:type="dcterms:W3CDTF">2025-04-16T16:03:14Z</dcterms:created>
  <dcterms:modified xsi:type="dcterms:W3CDTF">2025-04-26T07:31:54Z</dcterms:modified>
</cp:coreProperties>
</file>