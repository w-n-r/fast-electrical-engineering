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8" r:id="rId1"/>
  </p:sldMasterIdLst>
  <p:notesMasterIdLst>
    <p:notesMasterId r:id="rId48"/>
  </p:notesMasterIdLst>
  <p:sldIdLst>
    <p:sldId id="315" r:id="rId2"/>
    <p:sldId id="316" r:id="rId3"/>
    <p:sldId id="317" r:id="rId4"/>
    <p:sldId id="318" r:id="rId5"/>
    <p:sldId id="319" r:id="rId6"/>
    <p:sldId id="320" r:id="rId7"/>
    <p:sldId id="321" r:id="rId8"/>
    <p:sldId id="322" r:id="rId9"/>
    <p:sldId id="323" r:id="rId10"/>
    <p:sldId id="324" r:id="rId11"/>
    <p:sldId id="325" r:id="rId12"/>
    <p:sldId id="326" r:id="rId13"/>
    <p:sldId id="327" r:id="rId14"/>
    <p:sldId id="336" r:id="rId15"/>
    <p:sldId id="337" r:id="rId16"/>
    <p:sldId id="338" r:id="rId17"/>
    <p:sldId id="339" r:id="rId18"/>
    <p:sldId id="340" r:id="rId19"/>
    <p:sldId id="329" r:id="rId20"/>
    <p:sldId id="344" r:id="rId21"/>
    <p:sldId id="341" r:id="rId22"/>
    <p:sldId id="342" r:id="rId23"/>
    <p:sldId id="343" r:id="rId24"/>
    <p:sldId id="345" r:id="rId25"/>
    <p:sldId id="346" r:id="rId26"/>
    <p:sldId id="347" r:id="rId27"/>
    <p:sldId id="348" r:id="rId28"/>
    <p:sldId id="349" r:id="rId29"/>
    <p:sldId id="350" r:id="rId30"/>
    <p:sldId id="351" r:id="rId31"/>
    <p:sldId id="352" r:id="rId32"/>
    <p:sldId id="353" r:id="rId33"/>
    <p:sldId id="354" r:id="rId34"/>
    <p:sldId id="355" r:id="rId35"/>
    <p:sldId id="356" r:id="rId36"/>
    <p:sldId id="357" r:id="rId37"/>
    <p:sldId id="358" r:id="rId38"/>
    <p:sldId id="359" r:id="rId39"/>
    <p:sldId id="360" r:id="rId40"/>
    <p:sldId id="361" r:id="rId41"/>
    <p:sldId id="362" r:id="rId42"/>
    <p:sldId id="363" r:id="rId43"/>
    <p:sldId id="364" r:id="rId44"/>
    <p:sldId id="365" r:id="rId45"/>
    <p:sldId id="366" r:id="rId46"/>
    <p:sldId id="36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F1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0" d="100"/>
          <a:sy n="70" d="100"/>
        </p:scale>
        <p:origin x="456" y="5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21FF4-4495-46B7-A5AB-EA0373432306}" type="doc">
      <dgm:prSet loTypeId="urn:microsoft.com/office/officeart/2005/8/layout/StepDownProcess" loCatId="process" qsTypeId="urn:microsoft.com/office/officeart/2005/8/quickstyle/simple1" qsCatId="simple" csTypeId="urn:microsoft.com/office/officeart/2005/8/colors/colorful5" csCatId="colorful" phldr="1"/>
      <dgm:spPr/>
      <dgm:t>
        <a:bodyPr/>
        <a:lstStyle/>
        <a:p>
          <a:endParaRPr lang="en-US"/>
        </a:p>
      </dgm:t>
    </dgm:pt>
    <dgm:pt modelId="{82BE92B6-E91C-4E19-8EBA-DD8BD7562C92}">
      <dgm:prSet phldrT="[Text]"/>
      <dgm:spPr/>
      <dgm:t>
        <a:bodyPr/>
        <a:lstStyle/>
        <a:p>
          <a:r>
            <a:rPr lang="en-US" dirty="0" smtClean="0"/>
            <a:t>Tight integration between SW &amp; HW</a:t>
          </a:r>
          <a:endParaRPr lang="en-US" dirty="0"/>
        </a:p>
      </dgm:t>
    </dgm:pt>
    <dgm:pt modelId="{9C2A35E0-3F19-4DC6-B134-88D06F79F1CD}" type="parTrans" cxnId="{FBEED2B0-E635-41F4-887B-82D945BA8982}">
      <dgm:prSet/>
      <dgm:spPr/>
      <dgm:t>
        <a:bodyPr/>
        <a:lstStyle/>
        <a:p>
          <a:endParaRPr lang="en-US"/>
        </a:p>
      </dgm:t>
    </dgm:pt>
    <dgm:pt modelId="{1D67D858-C30A-4530-ADDE-947F256BF1C2}" type="sibTrans" cxnId="{FBEED2B0-E635-41F4-887B-82D945BA8982}">
      <dgm:prSet/>
      <dgm:spPr/>
      <dgm:t>
        <a:bodyPr/>
        <a:lstStyle/>
        <a:p>
          <a:endParaRPr lang="en-US"/>
        </a:p>
      </dgm:t>
    </dgm:pt>
    <dgm:pt modelId="{ABA138A1-1742-4B2D-8875-0602DE7CC9DB}">
      <dgm:prSet phldrT="[Text]"/>
      <dgm:spPr/>
      <dgm:t>
        <a:bodyPr/>
        <a:lstStyle/>
        <a:p>
          <a:r>
            <a:rPr lang="en-US" dirty="0" smtClean="0"/>
            <a:t>A small change in hardware might result in rewriting much of the application itself</a:t>
          </a:r>
          <a:endParaRPr lang="en-US" dirty="0"/>
        </a:p>
      </dgm:t>
    </dgm:pt>
    <dgm:pt modelId="{5862CBE2-4EEC-43B7-B229-3DDA85B22C0C}" type="parTrans" cxnId="{B2772447-11B9-412C-A8DC-A1D00602273F}">
      <dgm:prSet/>
      <dgm:spPr/>
      <dgm:t>
        <a:bodyPr/>
        <a:lstStyle/>
        <a:p>
          <a:endParaRPr lang="en-US"/>
        </a:p>
      </dgm:t>
    </dgm:pt>
    <dgm:pt modelId="{8D35F485-F4E6-4FA3-B451-FAC7872D889B}" type="sibTrans" cxnId="{B2772447-11B9-412C-A8DC-A1D00602273F}">
      <dgm:prSet/>
      <dgm:spPr/>
      <dgm:t>
        <a:bodyPr/>
        <a:lstStyle/>
        <a:p>
          <a:endParaRPr lang="en-US"/>
        </a:p>
      </dgm:t>
    </dgm:pt>
    <dgm:pt modelId="{EB4EFC66-5DAF-4047-B17F-293D5FE13193}">
      <dgm:prSet phldrT="[Text]"/>
      <dgm:spPr/>
      <dgm:t>
        <a:bodyPr/>
        <a:lstStyle/>
        <a:p>
          <a:r>
            <a:rPr lang="en-US" dirty="0" smtClean="0"/>
            <a:t>Operating systems evolved</a:t>
          </a:r>
          <a:endParaRPr lang="en-US" dirty="0"/>
        </a:p>
      </dgm:t>
    </dgm:pt>
    <dgm:pt modelId="{C745E8A7-40EB-4199-A7C3-19A1F66CCA1B}" type="parTrans" cxnId="{A0D17FCB-F7C3-4666-AF02-FBE24DFA44BF}">
      <dgm:prSet/>
      <dgm:spPr/>
      <dgm:t>
        <a:bodyPr/>
        <a:lstStyle/>
        <a:p>
          <a:endParaRPr lang="en-US"/>
        </a:p>
      </dgm:t>
    </dgm:pt>
    <dgm:pt modelId="{7D2A0D65-2B49-4122-9290-A4A773D077C8}" type="sibTrans" cxnId="{A0D17FCB-F7C3-4666-AF02-FBE24DFA44BF}">
      <dgm:prSet/>
      <dgm:spPr/>
      <dgm:t>
        <a:bodyPr/>
        <a:lstStyle/>
        <a:p>
          <a:endParaRPr lang="en-US"/>
        </a:p>
      </dgm:t>
    </dgm:pt>
    <dgm:pt modelId="{C878010D-FCC0-4CFF-9140-C3780869F9C0}">
      <dgm:prSet phldrT="[Text]"/>
      <dgm:spPr/>
      <dgm:t>
        <a:bodyPr/>
        <a:lstStyle/>
        <a:p>
          <a:r>
            <a:rPr lang="en-US" dirty="0" smtClean="0"/>
            <a:t>Abstraction of hardware from software</a:t>
          </a:r>
          <a:endParaRPr lang="en-US" dirty="0"/>
        </a:p>
      </dgm:t>
    </dgm:pt>
    <dgm:pt modelId="{3088DCFC-5718-412F-A17C-C23D2C0B42E9}" type="parTrans" cxnId="{31BB86A2-81A7-4C28-91DA-55E0F1688A2F}">
      <dgm:prSet/>
      <dgm:spPr/>
      <dgm:t>
        <a:bodyPr/>
        <a:lstStyle/>
        <a:p>
          <a:endParaRPr lang="en-US"/>
        </a:p>
      </dgm:t>
    </dgm:pt>
    <dgm:pt modelId="{6D61903D-CA03-4C31-A9AC-0804B98E2F53}" type="sibTrans" cxnId="{31BB86A2-81A7-4C28-91DA-55E0F1688A2F}">
      <dgm:prSet/>
      <dgm:spPr/>
      <dgm:t>
        <a:bodyPr/>
        <a:lstStyle/>
        <a:p>
          <a:endParaRPr lang="en-US"/>
        </a:p>
      </dgm:t>
    </dgm:pt>
    <dgm:pt modelId="{99F6352A-6BE5-4546-9478-50F5063D39AE}">
      <dgm:prSet phldrT="[Text]"/>
      <dgm:spPr/>
      <dgm:t>
        <a:bodyPr/>
        <a:lstStyle/>
        <a:p>
          <a:r>
            <a:rPr lang="en-US" dirty="0" smtClean="0"/>
            <a:t>RTOS</a:t>
          </a:r>
          <a:endParaRPr lang="en-US" dirty="0"/>
        </a:p>
      </dgm:t>
    </dgm:pt>
    <dgm:pt modelId="{895DF9C5-ED10-4001-809A-85BED615A4EA}" type="parTrans" cxnId="{0FBB8066-6830-4646-A4CD-15BD8A678F6A}">
      <dgm:prSet/>
      <dgm:spPr/>
      <dgm:t>
        <a:bodyPr/>
        <a:lstStyle/>
        <a:p>
          <a:endParaRPr lang="en-US"/>
        </a:p>
      </dgm:t>
    </dgm:pt>
    <dgm:pt modelId="{0DD6D857-E2F2-4462-88B2-2BEE0C2CC5AB}" type="sibTrans" cxnId="{0FBB8066-6830-4646-A4CD-15BD8A678F6A}">
      <dgm:prSet/>
      <dgm:spPr/>
      <dgm:t>
        <a:bodyPr/>
        <a:lstStyle/>
        <a:p>
          <a:endParaRPr lang="en-US"/>
        </a:p>
      </dgm:t>
    </dgm:pt>
    <dgm:pt modelId="{B19722BE-583E-47D6-8197-85A5494367F8}">
      <dgm:prSet phldrT="[Text]"/>
      <dgm:spPr/>
      <dgm:t>
        <a:bodyPr/>
        <a:lstStyle/>
        <a:p>
          <a:r>
            <a:rPr lang="en-US" dirty="0" err="1" smtClean="0"/>
            <a:t>VxWorks</a:t>
          </a:r>
          <a:endParaRPr lang="en-US" dirty="0"/>
        </a:p>
      </dgm:t>
    </dgm:pt>
    <dgm:pt modelId="{AE59D57B-2549-4CBB-AE03-A60B2F0EB1F1}" type="parTrans" cxnId="{383BD53C-89D3-4F48-8E42-EDFF0E89967C}">
      <dgm:prSet/>
      <dgm:spPr/>
      <dgm:t>
        <a:bodyPr/>
        <a:lstStyle/>
        <a:p>
          <a:endParaRPr lang="en-US"/>
        </a:p>
      </dgm:t>
    </dgm:pt>
    <dgm:pt modelId="{23B5144D-A7CC-43A8-84D5-340CEA2E568C}" type="sibTrans" cxnId="{383BD53C-89D3-4F48-8E42-EDFF0E89967C}">
      <dgm:prSet/>
      <dgm:spPr/>
      <dgm:t>
        <a:bodyPr/>
        <a:lstStyle/>
        <a:p>
          <a:endParaRPr lang="en-US"/>
        </a:p>
      </dgm:t>
    </dgm:pt>
    <dgm:pt modelId="{6C838F20-A8B6-46A8-9FE3-760AF640CFD0}">
      <dgm:prSet phldrT="[Text]"/>
      <dgm:spPr/>
      <dgm:t>
        <a:bodyPr/>
        <a:lstStyle/>
        <a:p>
          <a:r>
            <a:rPr lang="en-US" dirty="0" smtClean="0"/>
            <a:t>UNIX, Windows</a:t>
          </a:r>
          <a:endParaRPr lang="en-US" dirty="0"/>
        </a:p>
      </dgm:t>
    </dgm:pt>
    <dgm:pt modelId="{2169B619-EE5A-4617-8034-CBD74E3195E5}" type="parTrans" cxnId="{3C921EFE-11D0-4C76-A2AA-AEA7C258E09C}">
      <dgm:prSet/>
      <dgm:spPr/>
      <dgm:t>
        <a:bodyPr/>
        <a:lstStyle/>
        <a:p>
          <a:endParaRPr lang="en-US"/>
        </a:p>
      </dgm:t>
    </dgm:pt>
    <dgm:pt modelId="{1C4B90AF-7107-4EE5-AE56-CFFCEE396117}" type="sibTrans" cxnId="{3C921EFE-11D0-4C76-A2AA-AEA7C258E09C}">
      <dgm:prSet/>
      <dgm:spPr/>
      <dgm:t>
        <a:bodyPr/>
        <a:lstStyle/>
        <a:p>
          <a:endParaRPr lang="en-US"/>
        </a:p>
      </dgm:t>
    </dgm:pt>
    <dgm:pt modelId="{FB721674-8726-40E2-AA88-63D74012F35A}" type="pres">
      <dgm:prSet presAssocID="{E0D21FF4-4495-46B7-A5AB-EA0373432306}" presName="rootnode" presStyleCnt="0">
        <dgm:presLayoutVars>
          <dgm:chMax/>
          <dgm:chPref/>
          <dgm:dir/>
          <dgm:animLvl val="lvl"/>
        </dgm:presLayoutVars>
      </dgm:prSet>
      <dgm:spPr/>
      <dgm:t>
        <a:bodyPr/>
        <a:lstStyle/>
        <a:p>
          <a:endParaRPr lang="en-US"/>
        </a:p>
      </dgm:t>
    </dgm:pt>
    <dgm:pt modelId="{4F6B6C88-5965-460C-BA77-8115F3144DB2}" type="pres">
      <dgm:prSet presAssocID="{82BE92B6-E91C-4E19-8EBA-DD8BD7562C92}" presName="composite" presStyleCnt="0"/>
      <dgm:spPr/>
    </dgm:pt>
    <dgm:pt modelId="{5967712A-734E-4FE9-A315-FBA706BD415B}" type="pres">
      <dgm:prSet presAssocID="{82BE92B6-E91C-4E19-8EBA-DD8BD7562C92}" presName="bentUpArrow1" presStyleLbl="alignImgPlace1" presStyleIdx="0" presStyleCnt="2"/>
      <dgm:spPr/>
    </dgm:pt>
    <dgm:pt modelId="{1E726D51-A097-4516-889B-E4BB146CBE86}" type="pres">
      <dgm:prSet presAssocID="{82BE92B6-E91C-4E19-8EBA-DD8BD7562C92}" presName="ParentText" presStyleLbl="node1" presStyleIdx="0" presStyleCnt="3" custScaleX="125889">
        <dgm:presLayoutVars>
          <dgm:chMax val="1"/>
          <dgm:chPref val="1"/>
          <dgm:bulletEnabled val="1"/>
        </dgm:presLayoutVars>
      </dgm:prSet>
      <dgm:spPr/>
      <dgm:t>
        <a:bodyPr/>
        <a:lstStyle/>
        <a:p>
          <a:endParaRPr lang="en-US"/>
        </a:p>
      </dgm:t>
    </dgm:pt>
    <dgm:pt modelId="{5B6D03E7-E0ED-485B-B421-334F51443D0A}" type="pres">
      <dgm:prSet presAssocID="{82BE92B6-E91C-4E19-8EBA-DD8BD7562C92}" presName="ChildText" presStyleLbl="revTx" presStyleIdx="0" presStyleCnt="3" custScaleX="474127" custLinFactX="100000" custLinFactNeighborX="105099" custLinFactNeighborY="-766">
        <dgm:presLayoutVars>
          <dgm:chMax val="0"/>
          <dgm:chPref val="0"/>
          <dgm:bulletEnabled val="1"/>
        </dgm:presLayoutVars>
      </dgm:prSet>
      <dgm:spPr/>
      <dgm:t>
        <a:bodyPr/>
        <a:lstStyle/>
        <a:p>
          <a:endParaRPr lang="en-US"/>
        </a:p>
      </dgm:t>
    </dgm:pt>
    <dgm:pt modelId="{59904636-EC35-4817-862D-E3C54C76D403}" type="pres">
      <dgm:prSet presAssocID="{1D67D858-C30A-4530-ADDE-947F256BF1C2}" presName="sibTrans" presStyleCnt="0"/>
      <dgm:spPr/>
    </dgm:pt>
    <dgm:pt modelId="{877900AB-C379-484F-9448-18DE8D50901A}" type="pres">
      <dgm:prSet presAssocID="{EB4EFC66-5DAF-4047-B17F-293D5FE13193}" presName="composite" presStyleCnt="0"/>
      <dgm:spPr/>
    </dgm:pt>
    <dgm:pt modelId="{D26F3973-35D1-4DAE-8FBB-90949A4FCFBD}" type="pres">
      <dgm:prSet presAssocID="{EB4EFC66-5DAF-4047-B17F-293D5FE13193}" presName="bentUpArrow1" presStyleLbl="alignImgPlace1" presStyleIdx="1" presStyleCnt="2"/>
      <dgm:spPr/>
    </dgm:pt>
    <dgm:pt modelId="{0443318E-D9B5-43EF-9DC7-255EDF3D058C}" type="pres">
      <dgm:prSet presAssocID="{EB4EFC66-5DAF-4047-B17F-293D5FE13193}" presName="ParentText" presStyleLbl="node1" presStyleIdx="1" presStyleCnt="3">
        <dgm:presLayoutVars>
          <dgm:chMax val="1"/>
          <dgm:chPref val="1"/>
          <dgm:bulletEnabled val="1"/>
        </dgm:presLayoutVars>
      </dgm:prSet>
      <dgm:spPr/>
      <dgm:t>
        <a:bodyPr/>
        <a:lstStyle/>
        <a:p>
          <a:endParaRPr lang="en-US"/>
        </a:p>
      </dgm:t>
    </dgm:pt>
    <dgm:pt modelId="{CC162536-1466-4D03-9E5A-3C1B8235DEFC}" type="pres">
      <dgm:prSet presAssocID="{EB4EFC66-5DAF-4047-B17F-293D5FE13193}" presName="ChildText" presStyleLbl="revTx" presStyleIdx="1" presStyleCnt="3" custScaleX="256051" custLinFactNeighborX="87389" custLinFactNeighborY="-2136">
        <dgm:presLayoutVars>
          <dgm:chMax val="0"/>
          <dgm:chPref val="0"/>
          <dgm:bulletEnabled val="1"/>
        </dgm:presLayoutVars>
      </dgm:prSet>
      <dgm:spPr/>
      <dgm:t>
        <a:bodyPr/>
        <a:lstStyle/>
        <a:p>
          <a:endParaRPr lang="en-US"/>
        </a:p>
      </dgm:t>
    </dgm:pt>
    <dgm:pt modelId="{EBD45DD5-61AE-4BFF-88CA-4110E42206F5}" type="pres">
      <dgm:prSet presAssocID="{7D2A0D65-2B49-4122-9290-A4A773D077C8}" presName="sibTrans" presStyleCnt="0"/>
      <dgm:spPr/>
    </dgm:pt>
    <dgm:pt modelId="{B54E6CE5-69E2-4C86-9B69-85AF37797DE2}" type="pres">
      <dgm:prSet presAssocID="{99F6352A-6BE5-4546-9478-50F5063D39AE}" presName="composite" presStyleCnt="0"/>
      <dgm:spPr/>
    </dgm:pt>
    <dgm:pt modelId="{FAC72D28-F76B-4CAF-9273-0DCA41F7BFC3}" type="pres">
      <dgm:prSet presAssocID="{99F6352A-6BE5-4546-9478-50F5063D39AE}" presName="ParentText" presStyleLbl="node1" presStyleIdx="2" presStyleCnt="3">
        <dgm:presLayoutVars>
          <dgm:chMax val="1"/>
          <dgm:chPref val="1"/>
          <dgm:bulletEnabled val="1"/>
        </dgm:presLayoutVars>
      </dgm:prSet>
      <dgm:spPr/>
      <dgm:t>
        <a:bodyPr/>
        <a:lstStyle/>
        <a:p>
          <a:endParaRPr lang="en-US"/>
        </a:p>
      </dgm:t>
    </dgm:pt>
    <dgm:pt modelId="{D37B00AD-416D-47EF-A945-9CEF7F25EA04}" type="pres">
      <dgm:prSet presAssocID="{99F6352A-6BE5-4546-9478-50F5063D39AE}" presName="FinalChildText" presStyleLbl="revTx" presStyleIdx="2" presStyleCnt="3">
        <dgm:presLayoutVars>
          <dgm:chMax val="0"/>
          <dgm:chPref val="0"/>
          <dgm:bulletEnabled val="1"/>
        </dgm:presLayoutVars>
      </dgm:prSet>
      <dgm:spPr/>
      <dgm:t>
        <a:bodyPr/>
        <a:lstStyle/>
        <a:p>
          <a:endParaRPr lang="en-US"/>
        </a:p>
      </dgm:t>
    </dgm:pt>
  </dgm:ptLst>
  <dgm:cxnLst>
    <dgm:cxn modelId="{0FBB8066-6830-4646-A4CD-15BD8A678F6A}" srcId="{E0D21FF4-4495-46B7-A5AB-EA0373432306}" destId="{99F6352A-6BE5-4546-9478-50F5063D39AE}" srcOrd="2" destOrd="0" parTransId="{895DF9C5-ED10-4001-809A-85BED615A4EA}" sibTransId="{0DD6D857-E2F2-4462-88B2-2BEE0C2CC5AB}"/>
    <dgm:cxn modelId="{BE0C1DA0-5896-4A43-B867-3849BDEF91B0}" type="presOf" srcId="{E0D21FF4-4495-46B7-A5AB-EA0373432306}" destId="{FB721674-8726-40E2-AA88-63D74012F35A}" srcOrd="0" destOrd="0" presId="urn:microsoft.com/office/officeart/2005/8/layout/StepDownProcess"/>
    <dgm:cxn modelId="{0A4946CC-2AE7-4862-BC65-2029DE58C43C}" type="presOf" srcId="{B19722BE-583E-47D6-8197-85A5494367F8}" destId="{D37B00AD-416D-47EF-A945-9CEF7F25EA04}" srcOrd="0" destOrd="0" presId="urn:microsoft.com/office/officeart/2005/8/layout/StepDownProcess"/>
    <dgm:cxn modelId="{A0D17FCB-F7C3-4666-AF02-FBE24DFA44BF}" srcId="{E0D21FF4-4495-46B7-A5AB-EA0373432306}" destId="{EB4EFC66-5DAF-4047-B17F-293D5FE13193}" srcOrd="1" destOrd="0" parTransId="{C745E8A7-40EB-4199-A7C3-19A1F66CCA1B}" sibTransId="{7D2A0D65-2B49-4122-9290-A4A773D077C8}"/>
    <dgm:cxn modelId="{383BD53C-89D3-4F48-8E42-EDFF0E89967C}" srcId="{99F6352A-6BE5-4546-9478-50F5063D39AE}" destId="{B19722BE-583E-47D6-8197-85A5494367F8}" srcOrd="0" destOrd="0" parTransId="{AE59D57B-2549-4CBB-AE03-A60B2F0EB1F1}" sibTransId="{23B5144D-A7CC-43A8-84D5-340CEA2E568C}"/>
    <dgm:cxn modelId="{C67E28C8-FFDD-4EF6-85EB-696D129EB3B3}" type="presOf" srcId="{C878010D-FCC0-4CFF-9140-C3780869F9C0}" destId="{CC162536-1466-4D03-9E5A-3C1B8235DEFC}" srcOrd="0" destOrd="0" presId="urn:microsoft.com/office/officeart/2005/8/layout/StepDownProcess"/>
    <dgm:cxn modelId="{FBEED2B0-E635-41F4-887B-82D945BA8982}" srcId="{E0D21FF4-4495-46B7-A5AB-EA0373432306}" destId="{82BE92B6-E91C-4E19-8EBA-DD8BD7562C92}" srcOrd="0" destOrd="0" parTransId="{9C2A35E0-3F19-4DC6-B134-88D06F79F1CD}" sibTransId="{1D67D858-C30A-4530-ADDE-947F256BF1C2}"/>
    <dgm:cxn modelId="{16A69FA4-F099-48EC-B5A1-A987F17DFA35}" type="presOf" srcId="{ABA138A1-1742-4B2D-8875-0602DE7CC9DB}" destId="{5B6D03E7-E0ED-485B-B421-334F51443D0A}" srcOrd="0" destOrd="0" presId="urn:microsoft.com/office/officeart/2005/8/layout/StepDownProcess"/>
    <dgm:cxn modelId="{8C4410E2-DC7D-453A-BC48-F4AB77AFC744}" type="presOf" srcId="{6C838F20-A8B6-46A8-9FE3-760AF640CFD0}" destId="{CC162536-1466-4D03-9E5A-3C1B8235DEFC}" srcOrd="0" destOrd="1" presId="urn:microsoft.com/office/officeart/2005/8/layout/StepDownProcess"/>
    <dgm:cxn modelId="{B34B34C3-8147-4E11-8806-BE6916763E3F}" type="presOf" srcId="{99F6352A-6BE5-4546-9478-50F5063D39AE}" destId="{FAC72D28-F76B-4CAF-9273-0DCA41F7BFC3}" srcOrd="0" destOrd="0" presId="urn:microsoft.com/office/officeart/2005/8/layout/StepDownProcess"/>
    <dgm:cxn modelId="{31BB86A2-81A7-4C28-91DA-55E0F1688A2F}" srcId="{EB4EFC66-5DAF-4047-B17F-293D5FE13193}" destId="{C878010D-FCC0-4CFF-9140-C3780869F9C0}" srcOrd="0" destOrd="0" parTransId="{3088DCFC-5718-412F-A17C-C23D2C0B42E9}" sibTransId="{6D61903D-CA03-4C31-A9AC-0804B98E2F53}"/>
    <dgm:cxn modelId="{A92BA659-DBF0-4072-B9E6-09D5CFA482E3}" type="presOf" srcId="{EB4EFC66-5DAF-4047-B17F-293D5FE13193}" destId="{0443318E-D9B5-43EF-9DC7-255EDF3D058C}" srcOrd="0" destOrd="0" presId="urn:microsoft.com/office/officeart/2005/8/layout/StepDownProcess"/>
    <dgm:cxn modelId="{B2772447-11B9-412C-A8DC-A1D00602273F}" srcId="{82BE92B6-E91C-4E19-8EBA-DD8BD7562C92}" destId="{ABA138A1-1742-4B2D-8875-0602DE7CC9DB}" srcOrd="0" destOrd="0" parTransId="{5862CBE2-4EEC-43B7-B229-3DDA85B22C0C}" sibTransId="{8D35F485-F4E6-4FA3-B451-FAC7872D889B}"/>
    <dgm:cxn modelId="{3C921EFE-11D0-4C76-A2AA-AEA7C258E09C}" srcId="{EB4EFC66-5DAF-4047-B17F-293D5FE13193}" destId="{6C838F20-A8B6-46A8-9FE3-760AF640CFD0}" srcOrd="1" destOrd="0" parTransId="{2169B619-EE5A-4617-8034-CBD74E3195E5}" sibTransId="{1C4B90AF-7107-4EE5-AE56-CFFCEE396117}"/>
    <dgm:cxn modelId="{EE215200-4739-4C31-A800-7651A2142348}" type="presOf" srcId="{82BE92B6-E91C-4E19-8EBA-DD8BD7562C92}" destId="{1E726D51-A097-4516-889B-E4BB146CBE86}" srcOrd="0" destOrd="0" presId="urn:microsoft.com/office/officeart/2005/8/layout/StepDownProcess"/>
    <dgm:cxn modelId="{B57F7001-BD34-4B9E-86D6-0B7D2291DCA4}" type="presParOf" srcId="{FB721674-8726-40E2-AA88-63D74012F35A}" destId="{4F6B6C88-5965-460C-BA77-8115F3144DB2}" srcOrd="0" destOrd="0" presId="urn:microsoft.com/office/officeart/2005/8/layout/StepDownProcess"/>
    <dgm:cxn modelId="{EF40861A-A3F1-4E9D-8AD5-3A9DAAE5E5C3}" type="presParOf" srcId="{4F6B6C88-5965-460C-BA77-8115F3144DB2}" destId="{5967712A-734E-4FE9-A315-FBA706BD415B}" srcOrd="0" destOrd="0" presId="urn:microsoft.com/office/officeart/2005/8/layout/StepDownProcess"/>
    <dgm:cxn modelId="{34D2BA7E-08E9-4F41-8F53-924B9860DB33}" type="presParOf" srcId="{4F6B6C88-5965-460C-BA77-8115F3144DB2}" destId="{1E726D51-A097-4516-889B-E4BB146CBE86}" srcOrd="1" destOrd="0" presId="urn:microsoft.com/office/officeart/2005/8/layout/StepDownProcess"/>
    <dgm:cxn modelId="{7885A25F-15D0-4D69-A7AF-429A03B7CE44}" type="presParOf" srcId="{4F6B6C88-5965-460C-BA77-8115F3144DB2}" destId="{5B6D03E7-E0ED-485B-B421-334F51443D0A}" srcOrd="2" destOrd="0" presId="urn:microsoft.com/office/officeart/2005/8/layout/StepDownProcess"/>
    <dgm:cxn modelId="{CFB3DD59-3D70-4088-BF22-2B27F881D1CD}" type="presParOf" srcId="{FB721674-8726-40E2-AA88-63D74012F35A}" destId="{59904636-EC35-4817-862D-E3C54C76D403}" srcOrd="1" destOrd="0" presId="urn:microsoft.com/office/officeart/2005/8/layout/StepDownProcess"/>
    <dgm:cxn modelId="{272F0A87-3248-4485-9A79-5062B5FF8B99}" type="presParOf" srcId="{FB721674-8726-40E2-AA88-63D74012F35A}" destId="{877900AB-C379-484F-9448-18DE8D50901A}" srcOrd="2" destOrd="0" presId="urn:microsoft.com/office/officeart/2005/8/layout/StepDownProcess"/>
    <dgm:cxn modelId="{5806E141-1830-4460-9886-58135FFEE584}" type="presParOf" srcId="{877900AB-C379-484F-9448-18DE8D50901A}" destId="{D26F3973-35D1-4DAE-8FBB-90949A4FCFBD}" srcOrd="0" destOrd="0" presId="urn:microsoft.com/office/officeart/2005/8/layout/StepDownProcess"/>
    <dgm:cxn modelId="{A6AFFB04-A28C-444A-A433-AFE072894EA1}" type="presParOf" srcId="{877900AB-C379-484F-9448-18DE8D50901A}" destId="{0443318E-D9B5-43EF-9DC7-255EDF3D058C}" srcOrd="1" destOrd="0" presId="urn:microsoft.com/office/officeart/2005/8/layout/StepDownProcess"/>
    <dgm:cxn modelId="{D0FC9588-B12E-43D7-BED1-8AC776129A52}" type="presParOf" srcId="{877900AB-C379-484F-9448-18DE8D50901A}" destId="{CC162536-1466-4D03-9E5A-3C1B8235DEFC}" srcOrd="2" destOrd="0" presId="urn:microsoft.com/office/officeart/2005/8/layout/StepDownProcess"/>
    <dgm:cxn modelId="{A91F14F4-AA59-40B1-9FE9-63D265C8F5A2}" type="presParOf" srcId="{FB721674-8726-40E2-AA88-63D74012F35A}" destId="{EBD45DD5-61AE-4BFF-88CA-4110E42206F5}" srcOrd="3" destOrd="0" presId="urn:microsoft.com/office/officeart/2005/8/layout/StepDownProcess"/>
    <dgm:cxn modelId="{4F752CD5-09AC-46A4-B485-F2387602DE37}" type="presParOf" srcId="{FB721674-8726-40E2-AA88-63D74012F35A}" destId="{B54E6CE5-69E2-4C86-9B69-85AF37797DE2}" srcOrd="4" destOrd="0" presId="urn:microsoft.com/office/officeart/2005/8/layout/StepDownProcess"/>
    <dgm:cxn modelId="{D6F6C666-B259-400B-A5DF-D94509DDCCD2}" type="presParOf" srcId="{B54E6CE5-69E2-4C86-9B69-85AF37797DE2}" destId="{FAC72D28-F76B-4CAF-9273-0DCA41F7BFC3}" srcOrd="0" destOrd="0" presId="urn:microsoft.com/office/officeart/2005/8/layout/StepDownProcess"/>
    <dgm:cxn modelId="{A90D665D-773D-4F39-814B-B500C6CECCF2}" type="presParOf" srcId="{B54E6CE5-69E2-4C86-9B69-85AF37797DE2}" destId="{D37B00AD-416D-47EF-A945-9CEF7F25EA04}" srcOrd="1"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67712A-734E-4FE9-A315-FBA706BD415B}">
      <dsp:nvSpPr>
        <dsp:cNvPr id="0" name=""/>
        <dsp:cNvSpPr/>
      </dsp:nvSpPr>
      <dsp:spPr>
        <a:xfrm rot="5400000">
          <a:off x="873091" y="1827562"/>
          <a:ext cx="996312" cy="1134266"/>
        </a:xfrm>
        <a:prstGeom prst="bentUpArrow">
          <a:avLst>
            <a:gd name="adj1" fmla="val 32840"/>
            <a:gd name="adj2" fmla="val 25000"/>
            <a:gd name="adj3" fmla="val 35780"/>
          </a:avLst>
        </a:prstGeom>
        <a:solidFill>
          <a:schemeClr val="accent5">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726D51-A097-4516-889B-E4BB146CBE86}">
      <dsp:nvSpPr>
        <dsp:cNvPr id="0" name=""/>
        <dsp:cNvSpPr/>
      </dsp:nvSpPr>
      <dsp:spPr>
        <a:xfrm>
          <a:off x="392024" y="723130"/>
          <a:ext cx="2111414" cy="1173987"/>
        </a:xfrm>
        <a:prstGeom prst="roundRect">
          <a:avLst>
            <a:gd name="adj" fmla="val 16670"/>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Tight integration between SW &amp; HW</a:t>
          </a:r>
          <a:endParaRPr lang="en-US" sz="2000" kern="1200" dirty="0"/>
        </a:p>
      </dsp:txBody>
      <dsp:txXfrm>
        <a:off x="449344" y="780450"/>
        <a:ext cx="1996774" cy="1059347"/>
      </dsp:txXfrm>
    </dsp:sp>
    <dsp:sp modelId="{5B6D03E7-E0ED-485B-B421-334F51443D0A}">
      <dsp:nvSpPr>
        <dsp:cNvPr id="0" name=""/>
        <dsp:cNvSpPr/>
      </dsp:nvSpPr>
      <dsp:spPr>
        <a:xfrm>
          <a:off x="2506336" y="827828"/>
          <a:ext cx="5783579" cy="948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t>A small change in hardware might result in rewriting much of the application itself</a:t>
          </a:r>
          <a:endParaRPr lang="en-US" sz="1600" kern="1200" dirty="0"/>
        </a:p>
      </dsp:txBody>
      <dsp:txXfrm>
        <a:off x="2506336" y="827828"/>
        <a:ext cx="5783579" cy="948868"/>
      </dsp:txXfrm>
    </dsp:sp>
    <dsp:sp modelId="{D26F3973-35D1-4DAE-8FBB-90949A4FCFBD}">
      <dsp:nvSpPr>
        <dsp:cNvPr id="0" name=""/>
        <dsp:cNvSpPr/>
      </dsp:nvSpPr>
      <dsp:spPr>
        <a:xfrm rot="5400000">
          <a:off x="3044541" y="3146338"/>
          <a:ext cx="996312" cy="1134266"/>
        </a:xfrm>
        <a:prstGeom prst="bentUpArrow">
          <a:avLst>
            <a:gd name="adj1" fmla="val 32840"/>
            <a:gd name="adj2" fmla="val 25000"/>
            <a:gd name="adj3" fmla="val 35780"/>
          </a:avLst>
        </a:prstGeom>
        <a:solidFill>
          <a:schemeClr val="accent5">
            <a:tint val="50000"/>
            <a:hueOff val="-4559672"/>
            <a:satOff val="4356"/>
            <a:lumOff val="1087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43318E-D9B5-43EF-9DC7-255EDF3D058C}">
      <dsp:nvSpPr>
        <dsp:cNvPr id="0" name=""/>
        <dsp:cNvSpPr/>
      </dsp:nvSpPr>
      <dsp:spPr>
        <a:xfrm>
          <a:off x="2780579" y="2041906"/>
          <a:ext cx="1677202" cy="1173987"/>
        </a:xfrm>
        <a:prstGeom prst="roundRect">
          <a:avLst>
            <a:gd name="adj" fmla="val 16670"/>
          </a:avLst>
        </a:prstGeom>
        <a:solidFill>
          <a:schemeClr val="accent5">
            <a:hueOff val="-1857811"/>
            <a:satOff val="1829"/>
            <a:lumOff val="411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Operating systems evolved</a:t>
          </a:r>
          <a:endParaRPr lang="en-US" sz="2000" kern="1200" dirty="0"/>
        </a:p>
      </dsp:txBody>
      <dsp:txXfrm>
        <a:off x="2837899" y="2099226"/>
        <a:ext cx="1562562" cy="1059347"/>
      </dsp:txXfrm>
    </dsp:sp>
    <dsp:sp modelId="{CC162536-1466-4D03-9E5A-3C1B8235DEFC}">
      <dsp:nvSpPr>
        <dsp:cNvPr id="0" name=""/>
        <dsp:cNvSpPr/>
      </dsp:nvSpPr>
      <dsp:spPr>
        <a:xfrm>
          <a:off x="4572002" y="2133604"/>
          <a:ext cx="3123406" cy="948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t>Abstraction of hardware from software</a:t>
          </a:r>
          <a:endParaRPr lang="en-US" sz="1600" kern="1200" dirty="0"/>
        </a:p>
        <a:p>
          <a:pPr marL="171450" lvl="1" indent="-171450" algn="l" defTabSz="711200">
            <a:lnSpc>
              <a:spcPct val="90000"/>
            </a:lnSpc>
            <a:spcBef>
              <a:spcPct val="0"/>
            </a:spcBef>
            <a:spcAft>
              <a:spcPct val="15000"/>
            </a:spcAft>
            <a:buChar char="••"/>
          </a:pPr>
          <a:r>
            <a:rPr lang="en-US" sz="1600" kern="1200" dirty="0" smtClean="0"/>
            <a:t>UNIX, Windows</a:t>
          </a:r>
          <a:endParaRPr lang="en-US" sz="1600" kern="1200" dirty="0"/>
        </a:p>
      </dsp:txBody>
      <dsp:txXfrm>
        <a:off x="4572002" y="2133604"/>
        <a:ext cx="3123406" cy="948868"/>
      </dsp:txXfrm>
    </dsp:sp>
    <dsp:sp modelId="{FAC72D28-F76B-4CAF-9273-0DCA41F7BFC3}">
      <dsp:nvSpPr>
        <dsp:cNvPr id="0" name=""/>
        <dsp:cNvSpPr/>
      </dsp:nvSpPr>
      <dsp:spPr>
        <a:xfrm>
          <a:off x="5556697" y="3360681"/>
          <a:ext cx="1677202" cy="1173987"/>
        </a:xfrm>
        <a:prstGeom prst="roundRect">
          <a:avLst>
            <a:gd name="adj" fmla="val 16670"/>
          </a:avLst>
        </a:prstGeom>
        <a:solidFill>
          <a:schemeClr val="accent5">
            <a:hueOff val="-3715622"/>
            <a:satOff val="3658"/>
            <a:lumOff val="823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RTOS</a:t>
          </a:r>
          <a:endParaRPr lang="en-US" sz="2000" kern="1200" dirty="0"/>
        </a:p>
      </dsp:txBody>
      <dsp:txXfrm>
        <a:off x="5614017" y="3418001"/>
        <a:ext cx="1562562" cy="1059347"/>
      </dsp:txXfrm>
    </dsp:sp>
    <dsp:sp modelId="{D37B00AD-416D-47EF-A945-9CEF7F25EA04}">
      <dsp:nvSpPr>
        <dsp:cNvPr id="0" name=""/>
        <dsp:cNvSpPr/>
      </dsp:nvSpPr>
      <dsp:spPr>
        <a:xfrm>
          <a:off x="7233900" y="3472648"/>
          <a:ext cx="1219837" cy="948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err="1" smtClean="0"/>
            <a:t>VxWorks</a:t>
          </a:r>
          <a:endParaRPr lang="en-US" sz="1800" kern="1200" dirty="0"/>
        </a:p>
      </dsp:txBody>
      <dsp:txXfrm>
        <a:off x="7233900" y="3472648"/>
        <a:ext cx="1219837" cy="948868"/>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9D8EBD-BCEA-44DB-B3FA-BEF2334C0C16}" type="datetimeFigureOut">
              <a:rPr lang="en-US" smtClean="0"/>
              <a:t>11/19/2018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7F81B-48C6-4241-8C54-F91A4F434EDD}" type="slidenum">
              <a:rPr lang="en-US" smtClean="0"/>
              <a:t>‹#›</a:t>
            </a:fld>
            <a:endParaRPr lang="en-US"/>
          </a:p>
        </p:txBody>
      </p:sp>
    </p:spTree>
    <p:extLst>
      <p:ext uri="{BB962C8B-B14F-4D97-AF65-F5344CB8AC3E}">
        <p14:creationId xmlns:p14="http://schemas.microsoft.com/office/powerpoint/2010/main" val="1448799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en.wikipedia.org/wiki/Scheduling_(computing)"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en.wikipedia.org/wiki/Operating_system"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9EEADB-72FD-4B75-9D3E-2EFCA2A147C7}" type="slidenum">
              <a:rPr lang="en-US" smtClean="0"/>
              <a:pPr/>
              <a:t>1</a:t>
            </a:fld>
            <a:endParaRPr lang="en-US"/>
          </a:p>
        </p:txBody>
      </p:sp>
    </p:spTree>
    <p:extLst>
      <p:ext uri="{BB962C8B-B14F-4D97-AF65-F5344CB8AC3E}">
        <p14:creationId xmlns:p14="http://schemas.microsoft.com/office/powerpoint/2010/main" val="2453820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External events can have synchronous or asynchronous characteristics. Responding to external events includes recognizing when an event occurs, performing the required processing as a result of the event, and outputting the necessary results within a given time constraint. Timing constraints include finish time, or both start time and finish time.</a:t>
            </a:r>
            <a:endParaRPr lang="en-US" dirty="0"/>
          </a:p>
        </p:txBody>
      </p:sp>
      <p:sp>
        <p:nvSpPr>
          <p:cNvPr id="4" name="Slide Number Placeholder 3"/>
          <p:cNvSpPr>
            <a:spLocks noGrp="1"/>
          </p:cNvSpPr>
          <p:nvPr>
            <p:ph type="sldNum" sz="quarter" idx="10"/>
          </p:nvPr>
        </p:nvSpPr>
        <p:spPr/>
        <p:txBody>
          <a:bodyPr/>
          <a:lstStyle/>
          <a:p>
            <a:fld id="{769EEADB-72FD-4B75-9D3E-2EFCA2A147C7}" type="slidenum">
              <a:rPr lang="en-US" smtClean="0"/>
              <a:pPr/>
              <a:t>2</a:t>
            </a:fld>
            <a:endParaRPr lang="en-US"/>
          </a:p>
        </p:txBody>
      </p:sp>
    </p:spTree>
    <p:extLst>
      <p:ext uri="{BB962C8B-B14F-4D97-AF65-F5344CB8AC3E}">
        <p14:creationId xmlns:p14="http://schemas.microsoft.com/office/powerpoint/2010/main" val="3801382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err="1" smtClean="0">
                <a:solidFill>
                  <a:schemeClr val="tx1"/>
                </a:solidFill>
                <a:effectLst/>
                <a:latin typeface="+mn-lt"/>
                <a:ea typeface="+mn-ea"/>
                <a:cs typeface="+mn-cs"/>
              </a:rPr>
              <a:t>Nexperia</a:t>
            </a:r>
            <a:r>
              <a:rPr lang="en-US" sz="1200" b="0" i="1" kern="1200" dirty="0" smtClean="0">
                <a:solidFill>
                  <a:schemeClr val="tx1"/>
                </a:solidFill>
                <a:effectLst/>
                <a:latin typeface="+mn-lt"/>
                <a:ea typeface="+mn-ea"/>
                <a:cs typeface="+mn-cs"/>
              </a:rPr>
              <a:t> PNX9520 processor enables vibrant media technologies in the car</a:t>
            </a:r>
            <a:endParaRPr lang="en-US" dirty="0"/>
          </a:p>
        </p:txBody>
      </p:sp>
      <p:sp>
        <p:nvSpPr>
          <p:cNvPr id="4" name="Slide Number Placeholder 3"/>
          <p:cNvSpPr>
            <a:spLocks noGrp="1"/>
          </p:cNvSpPr>
          <p:nvPr>
            <p:ph type="sldNum" sz="quarter" idx="10"/>
          </p:nvPr>
        </p:nvSpPr>
        <p:spPr/>
        <p:txBody>
          <a:bodyPr/>
          <a:lstStyle/>
          <a:p>
            <a:fld id="{769EEADB-72FD-4B75-9D3E-2EFCA2A147C7}" type="slidenum">
              <a:rPr lang="en-US" smtClean="0"/>
              <a:pPr/>
              <a:t>3</a:t>
            </a:fld>
            <a:endParaRPr lang="en-US"/>
          </a:p>
        </p:txBody>
      </p:sp>
    </p:spTree>
    <p:extLst>
      <p:ext uri="{BB962C8B-B14F-4D97-AF65-F5344CB8AC3E}">
        <p14:creationId xmlns:p14="http://schemas.microsoft.com/office/powerpoint/2010/main" val="2991119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9EEADB-72FD-4B75-9D3E-2EFCA2A147C7}" type="slidenum">
              <a:rPr lang="en-US" smtClean="0"/>
              <a:pPr/>
              <a:t>6</a:t>
            </a:fld>
            <a:endParaRPr lang="en-US"/>
          </a:p>
        </p:txBody>
      </p:sp>
    </p:spTree>
    <p:extLst>
      <p:ext uri="{BB962C8B-B14F-4D97-AF65-F5344CB8AC3E}">
        <p14:creationId xmlns:p14="http://schemas.microsoft.com/office/powerpoint/2010/main" val="409527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radar system scans and searches for potential targets. Coordinates of a potential target are sent to the C&amp;D system periodically with high frequency after the target is acquired.</a:t>
            </a:r>
          </a:p>
          <a:p>
            <a:r>
              <a:rPr lang="en-US" dirty="0" smtClean="0"/>
              <a:t>The C&amp;D system must first determine the threat level by threat classification and evaluation, based on the target information provided by the radar system. If a threat is imminent, the C&amp;D system must, at a minimum, calculate the speed and flight path or trajectory, as well as estimate the impact location. Because a missile tends to drift off its flight path with the degree of drift dependent on the precision of its guidance system, the C&amp;D system calculates an area (a box) around the flight path.</a:t>
            </a:r>
          </a:p>
          <a:p>
            <a:r>
              <a:rPr lang="en-US" dirty="0" smtClean="0"/>
              <a:t>The C&amp;D system then activates the weapons firing control system closest to the anticipated impact location and guides the weapons system to fire continuously within the moving area or box until the target is destroyed. The weapons firing control system is comprised of large-caliber, multi-barrel, high-muzzle velocity, high-power machine guns.</a:t>
            </a:r>
          </a:p>
          <a:p>
            <a:endParaRPr lang="en-US" dirty="0"/>
          </a:p>
        </p:txBody>
      </p:sp>
      <p:sp>
        <p:nvSpPr>
          <p:cNvPr id="4" name="Slide Number Placeholder 3"/>
          <p:cNvSpPr>
            <a:spLocks noGrp="1"/>
          </p:cNvSpPr>
          <p:nvPr>
            <p:ph type="sldNum" sz="quarter" idx="10"/>
          </p:nvPr>
        </p:nvSpPr>
        <p:spPr/>
        <p:txBody>
          <a:bodyPr/>
          <a:lstStyle/>
          <a:p>
            <a:fld id="{769EEADB-72FD-4B75-9D3E-2EFCA2A147C7}" type="slidenum">
              <a:rPr lang="en-US" smtClean="0"/>
              <a:pPr/>
              <a:t>8</a:t>
            </a:fld>
            <a:endParaRPr lang="en-US"/>
          </a:p>
        </p:txBody>
      </p:sp>
    </p:spTree>
    <p:extLst>
      <p:ext uri="{BB962C8B-B14F-4D97-AF65-F5344CB8AC3E}">
        <p14:creationId xmlns:p14="http://schemas.microsoft.com/office/powerpoint/2010/main" val="1482092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Unix was designed</a:t>
            </a:r>
            <a:r>
              <a:rPr lang="en-US" baseline="0" dirty="0" smtClean="0"/>
              <a:t> for multiuser systems</a:t>
            </a:r>
          </a:p>
          <a:p>
            <a:r>
              <a:rPr lang="en-US" baseline="0" dirty="0" smtClean="0"/>
              <a:t>Windows was for personal computers</a:t>
            </a:r>
            <a:endParaRPr lang="en-US" dirty="0"/>
          </a:p>
        </p:txBody>
      </p:sp>
      <p:sp>
        <p:nvSpPr>
          <p:cNvPr id="4" name="Slide Number Placeholder 3"/>
          <p:cNvSpPr>
            <a:spLocks noGrp="1"/>
          </p:cNvSpPr>
          <p:nvPr>
            <p:ph type="sldNum" sz="quarter" idx="10"/>
          </p:nvPr>
        </p:nvSpPr>
        <p:spPr/>
        <p:txBody>
          <a:bodyPr/>
          <a:lstStyle/>
          <a:p>
            <a:fld id="{769EEADB-72FD-4B75-9D3E-2EFCA2A147C7}" type="slidenum">
              <a:rPr lang="en-US" smtClean="0"/>
              <a:pPr/>
              <a:t>16</a:t>
            </a:fld>
            <a:endParaRPr lang="en-US"/>
          </a:p>
        </p:txBody>
      </p:sp>
    </p:spTree>
    <p:extLst>
      <p:ext uri="{BB962C8B-B14F-4D97-AF65-F5344CB8AC3E}">
        <p14:creationId xmlns:p14="http://schemas.microsoft.com/office/powerpoint/2010/main" val="3483284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 </a:t>
            </a:r>
            <a:r>
              <a:rPr lang="en-US" sz="1200" b="1" i="0" kern="1200" dirty="0" smtClean="0">
                <a:solidFill>
                  <a:schemeClr val="tx1"/>
                </a:solidFill>
                <a:effectLst/>
                <a:latin typeface="+mn-lt"/>
                <a:ea typeface="+mn-ea"/>
                <a:cs typeface="+mn-cs"/>
              </a:rPr>
              <a:t>thread</a:t>
            </a:r>
            <a:r>
              <a:rPr lang="en-US" sz="1200" b="0" i="0" kern="1200" dirty="0" smtClean="0">
                <a:solidFill>
                  <a:schemeClr val="tx1"/>
                </a:solidFill>
                <a:effectLst/>
                <a:latin typeface="+mn-lt"/>
                <a:ea typeface="+mn-ea"/>
                <a:cs typeface="+mn-cs"/>
              </a:rPr>
              <a:t> of execution is the smallest sequence of programmed instructions that can be managed independently by a </a:t>
            </a:r>
            <a:r>
              <a:rPr lang="en-US" sz="1200" b="0" i="0" u="none" strike="noStrike" kern="1200" dirty="0" smtClean="0">
                <a:solidFill>
                  <a:schemeClr val="tx1"/>
                </a:solidFill>
                <a:effectLst/>
                <a:latin typeface="+mn-lt"/>
                <a:ea typeface="+mn-ea"/>
                <a:cs typeface="+mn-cs"/>
                <a:hlinkClick r:id="rId3" tooltip="Scheduling (computing)"/>
              </a:rPr>
              <a:t>scheduler</a:t>
            </a:r>
            <a:r>
              <a:rPr lang="en-US" sz="1200" b="0" i="0" kern="1200" dirty="0" smtClean="0">
                <a:solidFill>
                  <a:schemeClr val="tx1"/>
                </a:solidFill>
                <a:effectLst/>
                <a:latin typeface="+mn-lt"/>
                <a:ea typeface="+mn-ea"/>
                <a:cs typeface="+mn-cs"/>
              </a:rPr>
              <a:t>, which is typically a part of the </a:t>
            </a:r>
            <a:r>
              <a:rPr lang="en-US" sz="1200" b="0" i="0" u="none" strike="noStrike" kern="1200" dirty="0" smtClean="0">
                <a:solidFill>
                  <a:schemeClr val="tx1"/>
                </a:solidFill>
                <a:effectLst/>
                <a:latin typeface="+mn-lt"/>
                <a:ea typeface="+mn-ea"/>
                <a:cs typeface="+mn-cs"/>
                <a:hlinkClick r:id="rId4" tooltip="Operating system"/>
              </a:rPr>
              <a:t>operating system</a:t>
            </a:r>
            <a:r>
              <a:rPr lang="en-US" sz="1200" b="0" i="0"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769EEADB-72FD-4B75-9D3E-2EFCA2A147C7}" type="slidenum">
              <a:rPr lang="en-US" smtClean="0"/>
              <a:pPr/>
              <a:t>24</a:t>
            </a:fld>
            <a:endParaRPr lang="en-US"/>
          </a:p>
        </p:txBody>
      </p:sp>
    </p:spTree>
    <p:extLst>
      <p:ext uri="{BB962C8B-B14F-4D97-AF65-F5344CB8AC3E}">
        <p14:creationId xmlns:p14="http://schemas.microsoft.com/office/powerpoint/2010/main" val="2950245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1E08114-23E4-4593-BF3B-532BFBD2E1B6}" type="datetime1">
              <a:rPr lang="en-US" smtClean="0"/>
              <a:t>11/19/2018</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2868828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44F65C8-5366-440F-85B8-EFCE7441B29B}" type="datetime1">
              <a:rPr lang="en-US" smtClean="0"/>
              <a:t>11/19/2018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1421199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1D68B0-814B-40D6-B4DB-04CC4FF7D2A1}" type="datetime1">
              <a:rPr lang="en-US" smtClean="0"/>
              <a:t>11/19/2018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372820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74DB75F-8F27-4911-AC37-C552ADB1044A}" type="datetime1">
              <a:rPr lang="en-US" smtClean="0"/>
              <a:t>11/19/2018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3791169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58B6D5C-3F53-40F4-B006-594CFED681E5}" type="datetime1">
              <a:rPr lang="en-US" smtClean="0"/>
              <a:t>11/19/2018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573942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35FAB96-F4F7-4D54-B513-CDD7343FAFF8}" type="datetime1">
              <a:rPr lang="en-US" smtClean="0"/>
              <a:t>11/19/2018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381954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03BFA-5E5C-4D5E-8ABD-D656A00E87E8}" type="datetime1">
              <a:rPr lang="en-US" smtClean="0"/>
              <a:t>11/19/2018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3993869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F94CFD-9BCE-4FD7-86C9-19BCA0CFC0F4}" type="datetime1">
              <a:rPr lang="en-US" smtClean="0"/>
              <a:t>11/19/2018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2436389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86145B-A388-4771-A1DA-47B0603B35BE}" type="datetime1">
              <a:rPr lang="en-US" smtClean="0"/>
              <a:t>11/19/2018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2421274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567376-1B16-4472-B0F1-F964F0DA414A}" type="datetime1">
              <a:rPr lang="en-US" smtClean="0"/>
              <a:t>11/19/2018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2429404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DFDD39-9C18-486C-BC65-D16C8C15D60C}" type="datetime1">
              <a:rPr lang="en-US" smtClean="0"/>
              <a:t>11/19/2018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1688334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84E44D-7099-4E2F-8E43-3E18C2255D06}" type="datetime1">
              <a:rPr lang="en-US" smtClean="0"/>
              <a:t>11/19/2018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3115431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7C1EC0-F5BD-4E51-9DAB-E318021EB119}" type="datetime1">
              <a:rPr lang="en-US" smtClean="0"/>
              <a:t>11/19/2018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630796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69F43C8-D353-4AE7-AD9B-AB6C5E624401}" type="datetime1">
              <a:rPr lang="en-US" smtClean="0"/>
              <a:t>11/19/2018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4213674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BF94BF-BC85-48BF-BC3B-9C7B6A1A6F9D}" type="datetime1">
              <a:rPr lang="en-US" smtClean="0"/>
              <a:t>11/19/2018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1575207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D396FF-8624-43D2-B715-A5C5861C3834}" type="datetime1">
              <a:rPr lang="en-US" smtClean="0"/>
              <a:t>11/19/2018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8224871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651E3D-2E4F-4121-8B5B-DDDAB554B90A}" type="datetime1">
              <a:rPr lang="en-US" smtClean="0"/>
              <a:t>11/19/2018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B6C21-E150-4397-8C19-7B7D96984F69}" type="slidenum">
              <a:rPr lang="en-US" smtClean="0"/>
              <a:t>‹#›</a:t>
            </a:fld>
            <a:endParaRPr lang="en-US"/>
          </a:p>
        </p:txBody>
      </p:sp>
    </p:spTree>
    <p:extLst>
      <p:ext uri="{BB962C8B-B14F-4D97-AF65-F5344CB8AC3E}">
        <p14:creationId xmlns:p14="http://schemas.microsoft.com/office/powerpoint/2010/main" val="59222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3AC7750-DD3B-4E48-B89E-99E4CC08EBBE}" type="datetime1">
              <a:rPr lang="en-US" smtClean="0"/>
              <a:t>11/19/2018</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28B6C21-E150-4397-8C19-7B7D96984F69}" type="slidenum">
              <a:rPr lang="en-US" smtClean="0"/>
              <a:t>‹#›</a:t>
            </a:fld>
            <a:endParaRPr lang="en-US"/>
          </a:p>
        </p:txBody>
      </p:sp>
    </p:spTree>
    <p:extLst>
      <p:ext uri="{BB962C8B-B14F-4D97-AF65-F5344CB8AC3E}">
        <p14:creationId xmlns:p14="http://schemas.microsoft.com/office/powerpoint/2010/main" val="328798961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noAutofit/>
          </a:bodyPr>
          <a:lstStyle/>
          <a:p>
            <a:r>
              <a:rPr lang="en-US" sz="2800" dirty="0" smtClean="0"/>
              <a:t>Lecture 19, Embedded Systems, F18</a:t>
            </a:r>
            <a:endParaRPr lang="en-US" sz="6000" dirty="0"/>
          </a:p>
        </p:txBody>
      </p:sp>
      <p:sp>
        <p:nvSpPr>
          <p:cNvPr id="2" name="Title 1"/>
          <p:cNvSpPr>
            <a:spLocks noGrp="1"/>
          </p:cNvSpPr>
          <p:nvPr>
            <p:ph type="ctrTitle"/>
          </p:nvPr>
        </p:nvSpPr>
        <p:spPr/>
        <p:txBody>
          <a:bodyPr/>
          <a:lstStyle/>
          <a:p>
            <a:r>
              <a:rPr lang="en-US" dirty="0" smtClean="0"/>
              <a:t>Introduction to Real Time Systems and RTOS</a:t>
            </a:r>
            <a:endParaRPr lang="en-US" dirty="0"/>
          </a:p>
        </p:txBody>
      </p:sp>
    </p:spTree>
    <p:extLst>
      <p:ext uri="{BB962C8B-B14F-4D97-AF65-F5344CB8AC3E}">
        <p14:creationId xmlns:p14="http://schemas.microsoft.com/office/powerpoint/2010/main" val="32868646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 to Real Time Embedded Systems</a:t>
            </a:r>
            <a:endParaRPr lang="en-US" b="1" dirty="0"/>
          </a:p>
        </p:txBody>
      </p:sp>
      <p:sp>
        <p:nvSpPr>
          <p:cNvPr id="4" name="Content Placeholder 3"/>
          <p:cNvSpPr>
            <a:spLocks noGrp="1"/>
          </p:cNvSpPr>
          <p:nvPr>
            <p:ph idx="1"/>
          </p:nvPr>
        </p:nvSpPr>
        <p:spPr>
          <a:xfrm>
            <a:off x="2351700" y="2052926"/>
            <a:ext cx="7401900" cy="1604675"/>
          </a:xfrm>
        </p:spPr>
        <p:txBody>
          <a:bodyPr/>
          <a:lstStyle/>
          <a:p>
            <a:r>
              <a:rPr lang="en-US" dirty="0"/>
              <a:t>Systems that respond to external events in a timely fashion </a:t>
            </a:r>
          </a:p>
          <a:p>
            <a:endParaRPr lang="en-US" dirty="0"/>
          </a:p>
        </p:txBody>
      </p:sp>
      <p:sp>
        <p:nvSpPr>
          <p:cNvPr id="6" name="Content Placeholder 2"/>
          <p:cNvSpPr txBox="1">
            <a:spLocks/>
          </p:cNvSpPr>
          <p:nvPr/>
        </p:nvSpPr>
        <p:spPr>
          <a:xfrm>
            <a:off x="4863125" y="5329526"/>
            <a:ext cx="6711654" cy="4195481"/>
          </a:xfrm>
          <a:prstGeom prst="rect">
            <a:avLst/>
          </a:prstGeom>
        </p:spPr>
        <p:txBody>
          <a:bodyPr vert="horz" lIns="91440" tIns="45720" rIns="91440" bIns="45720" rtlCol="0">
            <a:norm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endParaRPr lang="en-US" dirty="0"/>
          </a:p>
        </p:txBody>
      </p:sp>
      <p:pic>
        <p:nvPicPr>
          <p:cNvPr id="7" name="Picture 2" descr="Real-Time Concepts for Embedded Syste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599" y="2971801"/>
            <a:ext cx="6326102" cy="272926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4995375" y="5943601"/>
            <a:ext cx="2114550" cy="276225"/>
          </a:xfrm>
          <a:prstGeom prst="rect">
            <a:avLst/>
          </a:prstGeom>
        </p:spPr>
      </p:pic>
    </p:spTree>
    <p:extLst>
      <p:ext uri="{BB962C8B-B14F-4D97-AF65-F5344CB8AC3E}">
        <p14:creationId xmlns:p14="http://schemas.microsoft.com/office/powerpoint/2010/main" val="4127695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363337" y="-140706"/>
            <a:ext cx="7055380" cy="1400530"/>
          </a:xfrm>
        </p:spPr>
        <p:txBody>
          <a:bodyPr/>
          <a:lstStyle/>
          <a:p>
            <a:r>
              <a:rPr lang="en-US" dirty="0" smtClean="0"/>
              <a:t>Example</a:t>
            </a:r>
            <a:endParaRPr lang="en-US" dirty="0"/>
          </a:p>
        </p:txBody>
      </p:sp>
      <p:pic>
        <p:nvPicPr>
          <p:cNvPr id="3" name="Picture 2"/>
          <p:cNvPicPr>
            <a:picLocks noChangeAspect="1"/>
          </p:cNvPicPr>
          <p:nvPr/>
        </p:nvPicPr>
        <p:blipFill>
          <a:blip r:embed="rId3"/>
          <a:stretch>
            <a:fillRect/>
          </a:stretch>
        </p:blipFill>
        <p:spPr>
          <a:xfrm>
            <a:off x="3663710" y="1259824"/>
            <a:ext cx="8316680" cy="4783931"/>
          </a:xfrm>
          <a:prstGeom prst="rect">
            <a:avLst/>
          </a:prstGeom>
        </p:spPr>
      </p:pic>
      <p:pic>
        <p:nvPicPr>
          <p:cNvPr id="2" name="Picture 1"/>
          <p:cNvPicPr>
            <a:picLocks noChangeAspect="1"/>
          </p:cNvPicPr>
          <p:nvPr/>
        </p:nvPicPr>
        <p:blipFill>
          <a:blip r:embed="rId4"/>
          <a:stretch>
            <a:fillRect/>
          </a:stretch>
        </p:blipFill>
        <p:spPr>
          <a:xfrm>
            <a:off x="0" y="331776"/>
            <a:ext cx="3600003" cy="2302242"/>
          </a:xfrm>
          <a:prstGeom prst="rect">
            <a:avLst/>
          </a:prstGeom>
        </p:spPr>
      </p:pic>
    </p:spTree>
    <p:extLst>
      <p:ext uri="{BB962C8B-B14F-4D97-AF65-F5344CB8AC3E}">
        <p14:creationId xmlns:p14="http://schemas.microsoft.com/office/powerpoint/2010/main" val="536204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106843"/>
            <a:ext cx="8202090" cy="1400530"/>
          </a:xfrm>
        </p:spPr>
        <p:txBody>
          <a:bodyPr/>
          <a:lstStyle/>
          <a:p>
            <a:r>
              <a:rPr lang="en-US" dirty="0" smtClean="0"/>
              <a:t>What is real about “real time”</a:t>
            </a:r>
            <a:endParaRPr lang="en-US" dirty="0"/>
          </a:p>
        </p:txBody>
      </p:sp>
      <p:pic>
        <p:nvPicPr>
          <p:cNvPr id="3" name="Picture 2"/>
          <p:cNvPicPr>
            <a:picLocks noChangeAspect="1"/>
          </p:cNvPicPr>
          <p:nvPr/>
        </p:nvPicPr>
        <p:blipFill>
          <a:blip r:embed="rId2"/>
          <a:stretch>
            <a:fillRect/>
          </a:stretch>
        </p:blipFill>
        <p:spPr>
          <a:xfrm>
            <a:off x="2376488" y="1357313"/>
            <a:ext cx="7439025" cy="4143375"/>
          </a:xfrm>
          <a:prstGeom prst="rect">
            <a:avLst/>
          </a:prstGeom>
        </p:spPr>
      </p:pic>
    </p:spTree>
    <p:extLst>
      <p:ext uri="{BB962C8B-B14F-4D97-AF65-F5344CB8AC3E}">
        <p14:creationId xmlns:p14="http://schemas.microsoft.com/office/powerpoint/2010/main" val="28661613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al-Time Concepts for Embedded Syste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1" y="2017594"/>
            <a:ext cx="6628043" cy="3200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Real Time System</a:t>
            </a:r>
            <a:endParaRPr lang="en-US" dirty="0"/>
          </a:p>
        </p:txBody>
      </p:sp>
    </p:spTree>
    <p:extLst>
      <p:ext uri="{BB962C8B-B14F-4D97-AF65-F5344CB8AC3E}">
        <p14:creationId xmlns:p14="http://schemas.microsoft.com/office/powerpoint/2010/main" val="3699058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0"/>
            <a:ext cx="8202090" cy="1400530"/>
          </a:xfrm>
        </p:spPr>
        <p:txBody>
          <a:bodyPr/>
          <a:lstStyle/>
          <a:p>
            <a:r>
              <a:rPr lang="en-US" b="1" dirty="0" smtClean="0"/>
              <a:t>Structure of Real Time System</a:t>
            </a:r>
            <a:endParaRPr lang="en-US" b="1" dirty="0"/>
          </a:p>
        </p:txBody>
      </p:sp>
      <p:sp>
        <p:nvSpPr>
          <p:cNvPr id="3" name="Content Placeholder 2"/>
          <p:cNvSpPr>
            <a:spLocks noGrp="1"/>
          </p:cNvSpPr>
          <p:nvPr>
            <p:ph idx="1"/>
          </p:nvPr>
        </p:nvSpPr>
        <p:spPr>
          <a:xfrm>
            <a:off x="1828800" y="1524001"/>
            <a:ext cx="8354490" cy="4195481"/>
          </a:xfrm>
        </p:spPr>
        <p:txBody>
          <a:bodyPr>
            <a:normAutofit fontScale="92500"/>
          </a:bodyPr>
          <a:lstStyle/>
          <a:p>
            <a:r>
              <a:rPr lang="en-US" dirty="0"/>
              <a:t>The controlling system interacts with the controlled system in various ways. </a:t>
            </a:r>
            <a:endParaRPr lang="en-US" dirty="0" smtClean="0"/>
          </a:p>
          <a:p>
            <a:pPr lvl="1"/>
            <a:r>
              <a:rPr lang="en-US" dirty="0" smtClean="0"/>
              <a:t>Periodic Interaction: </a:t>
            </a:r>
          </a:p>
          <a:p>
            <a:pPr lvl="2"/>
            <a:r>
              <a:rPr lang="en-US" dirty="0" smtClean="0"/>
              <a:t>In </a:t>
            </a:r>
            <a:r>
              <a:rPr lang="en-US" dirty="0"/>
              <a:t>this case, the </a:t>
            </a:r>
            <a:r>
              <a:rPr lang="en-US" i="1" dirty="0"/>
              <a:t>communication is predictable and occurs at predefined intervals</a:t>
            </a:r>
            <a:r>
              <a:rPr lang="en-US" dirty="0" smtClean="0"/>
              <a:t>.</a:t>
            </a:r>
          </a:p>
          <a:p>
            <a:pPr lvl="1"/>
            <a:r>
              <a:rPr lang="en-US" dirty="0" smtClean="0"/>
              <a:t> Aperiodic Interaction: </a:t>
            </a:r>
          </a:p>
          <a:p>
            <a:pPr lvl="2"/>
            <a:r>
              <a:rPr lang="en-US" dirty="0" smtClean="0"/>
              <a:t>the </a:t>
            </a:r>
            <a:r>
              <a:rPr lang="en-US" dirty="0"/>
              <a:t>communication is unpredictable and is determined by the random occurrences of external events in the environment of the controlled system. </a:t>
            </a:r>
            <a:endParaRPr lang="en-US" dirty="0" smtClean="0"/>
          </a:p>
          <a:p>
            <a:pPr lvl="1"/>
            <a:r>
              <a:rPr lang="en-US" dirty="0" smtClean="0"/>
              <a:t>combination </a:t>
            </a:r>
            <a:r>
              <a:rPr lang="en-US" dirty="0"/>
              <a:t>of both </a:t>
            </a:r>
            <a:r>
              <a:rPr lang="en-US" dirty="0" smtClean="0"/>
              <a:t>types: </a:t>
            </a:r>
          </a:p>
          <a:p>
            <a:pPr lvl="2"/>
            <a:r>
              <a:rPr lang="en-US" dirty="0" smtClean="0"/>
              <a:t>The </a:t>
            </a:r>
            <a:r>
              <a:rPr lang="en-US" dirty="0"/>
              <a:t>controlling system must process and respond to the events and information generated by the controlled system in a guaranteed time frame.</a:t>
            </a:r>
          </a:p>
        </p:txBody>
      </p:sp>
    </p:spTree>
    <p:extLst>
      <p:ext uri="{BB962C8B-B14F-4D97-AF65-F5344CB8AC3E}">
        <p14:creationId xmlns:p14="http://schemas.microsoft.com/office/powerpoint/2010/main" val="16796202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8811690" cy="762000"/>
          </a:xfrm>
        </p:spPr>
        <p:txBody>
          <a:bodyPr/>
          <a:lstStyle/>
          <a:p>
            <a:r>
              <a:rPr lang="en-US" sz="2800" dirty="0"/>
              <a:t>Example: </a:t>
            </a:r>
            <a:r>
              <a:rPr lang="en-US" sz="3200" b="1" dirty="0"/>
              <a:t>Real time weapons defense system</a:t>
            </a:r>
          </a:p>
        </p:txBody>
      </p:sp>
      <p:pic>
        <p:nvPicPr>
          <p:cNvPr id="9" name="Picture 8"/>
          <p:cNvPicPr>
            <a:picLocks noChangeAspect="1"/>
          </p:cNvPicPr>
          <p:nvPr/>
        </p:nvPicPr>
        <p:blipFill>
          <a:blip r:embed="rId2"/>
          <a:stretch>
            <a:fillRect/>
          </a:stretch>
        </p:blipFill>
        <p:spPr>
          <a:xfrm>
            <a:off x="2729445" y="1143000"/>
            <a:ext cx="6858000" cy="5343576"/>
          </a:xfrm>
          <a:prstGeom prst="rect">
            <a:avLst/>
          </a:prstGeom>
        </p:spPr>
      </p:pic>
    </p:spTree>
    <p:extLst>
      <p:ext uri="{BB962C8B-B14F-4D97-AF65-F5344CB8AC3E}">
        <p14:creationId xmlns:p14="http://schemas.microsoft.com/office/powerpoint/2010/main" val="36020824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3"/>
          <a:stretch>
            <a:fillRect/>
          </a:stretch>
        </p:blipFill>
        <p:spPr>
          <a:xfrm>
            <a:off x="2242633" y="979323"/>
            <a:ext cx="5601037" cy="4364183"/>
          </a:xfrm>
          <a:prstGeom prst="rect">
            <a:avLst/>
          </a:prstGeom>
        </p:spPr>
      </p:pic>
      <p:sp>
        <p:nvSpPr>
          <p:cNvPr id="2" name="Title 1"/>
          <p:cNvSpPr>
            <a:spLocks noGrp="1"/>
          </p:cNvSpPr>
          <p:nvPr>
            <p:ph type="title"/>
          </p:nvPr>
        </p:nvSpPr>
        <p:spPr>
          <a:xfrm>
            <a:off x="1752600" y="381000"/>
            <a:ext cx="8811690" cy="762000"/>
          </a:xfrm>
        </p:spPr>
        <p:txBody>
          <a:bodyPr/>
          <a:lstStyle/>
          <a:p>
            <a:r>
              <a:rPr lang="en-US" sz="2800" dirty="0"/>
              <a:t>Example: </a:t>
            </a:r>
            <a:r>
              <a:rPr lang="en-US" sz="3200" b="1" dirty="0"/>
              <a:t>Real time weapons defense system</a:t>
            </a:r>
          </a:p>
        </p:txBody>
      </p:sp>
      <p:pic>
        <p:nvPicPr>
          <p:cNvPr id="7" name="Picture 2" descr="Real-Time Concepts for Embedded System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0062" y="3732356"/>
            <a:ext cx="4583343" cy="22131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086600" y="3409190"/>
            <a:ext cx="2895600" cy="646331"/>
          </a:xfrm>
          <a:prstGeom prst="rect">
            <a:avLst/>
          </a:prstGeom>
          <a:noFill/>
        </p:spPr>
        <p:txBody>
          <a:bodyPr wrap="square" rtlCol="0">
            <a:spAutoFit/>
          </a:bodyPr>
          <a:lstStyle/>
          <a:p>
            <a:r>
              <a:rPr lang="en-US" b="1" dirty="0">
                <a:solidFill>
                  <a:srgbClr val="FF0000"/>
                </a:solidFill>
                <a:effectLst>
                  <a:outerShdw blurRad="38100" dist="38100" dir="2700000" algn="tl">
                    <a:srgbClr val="000000">
                      <a:alpha val="43137"/>
                    </a:srgbClr>
                  </a:outerShdw>
                </a:effectLst>
              </a:rPr>
              <a:t>Command &amp; decision system</a:t>
            </a:r>
          </a:p>
        </p:txBody>
      </p:sp>
      <p:sp>
        <p:nvSpPr>
          <p:cNvPr id="10" name="TextBox 9"/>
          <p:cNvSpPr txBox="1"/>
          <p:nvPr/>
        </p:nvSpPr>
        <p:spPr>
          <a:xfrm>
            <a:off x="5793779" y="4974172"/>
            <a:ext cx="1905000" cy="369332"/>
          </a:xfrm>
          <a:prstGeom prst="rect">
            <a:avLst/>
          </a:prstGeom>
          <a:noFill/>
        </p:spPr>
        <p:txBody>
          <a:bodyPr wrap="square" rtlCol="0">
            <a:spAutoFit/>
          </a:bodyPr>
          <a:lstStyle/>
          <a:p>
            <a:r>
              <a:rPr lang="en-US" b="1" dirty="0">
                <a:solidFill>
                  <a:srgbClr val="FF0000"/>
                </a:solidFill>
                <a:effectLst>
                  <a:outerShdw blurRad="38100" dist="38100" dir="2700000" algn="tl">
                    <a:srgbClr val="000000">
                      <a:alpha val="43137"/>
                    </a:srgbClr>
                  </a:outerShdw>
                </a:effectLst>
              </a:rPr>
              <a:t>Radar system</a:t>
            </a:r>
          </a:p>
        </p:txBody>
      </p:sp>
      <p:sp>
        <p:nvSpPr>
          <p:cNvPr id="14" name="TextBox 13"/>
          <p:cNvSpPr txBox="1"/>
          <p:nvPr/>
        </p:nvSpPr>
        <p:spPr>
          <a:xfrm>
            <a:off x="8799286" y="5020340"/>
            <a:ext cx="1905000" cy="646331"/>
          </a:xfrm>
          <a:prstGeom prst="rect">
            <a:avLst/>
          </a:prstGeom>
          <a:noFill/>
        </p:spPr>
        <p:txBody>
          <a:bodyPr wrap="square" rtlCol="0">
            <a:spAutoFit/>
          </a:bodyPr>
          <a:lstStyle/>
          <a:p>
            <a:r>
              <a:rPr lang="en-US" b="1" dirty="0">
                <a:solidFill>
                  <a:srgbClr val="FF0000"/>
                </a:solidFill>
                <a:effectLst>
                  <a:outerShdw blurRad="38100" dist="38100" dir="2700000" algn="tl">
                    <a:srgbClr val="000000">
                      <a:alpha val="43137"/>
                    </a:srgbClr>
                  </a:outerShdw>
                </a:effectLst>
              </a:rPr>
              <a:t>Weapons firing control system</a:t>
            </a:r>
          </a:p>
        </p:txBody>
      </p:sp>
    </p:spTree>
    <p:extLst>
      <p:ext uri="{BB962C8B-B14F-4D97-AF65-F5344CB8AC3E}">
        <p14:creationId xmlns:p14="http://schemas.microsoft.com/office/powerpoint/2010/main" val="31363973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2057400" y="762001"/>
            <a:ext cx="8534400" cy="6095999"/>
          </a:xfrm>
        </p:spPr>
        <p:txBody>
          <a:bodyPr>
            <a:normAutofit/>
          </a:bodyPr>
          <a:lstStyle/>
          <a:p>
            <a:r>
              <a:rPr lang="en-US" dirty="0"/>
              <a:t>In this weapons defense system example, the </a:t>
            </a:r>
            <a:r>
              <a:rPr lang="en-US" i="1" dirty="0"/>
              <a:t>communication between the radar system and the C&amp;D system is aperiodic, </a:t>
            </a:r>
            <a:r>
              <a:rPr lang="en-US" dirty="0"/>
              <a:t>because the occurrence of a potential target is unpredictable and the potential target can appear at any time. </a:t>
            </a:r>
            <a:endParaRPr lang="en-US" dirty="0" smtClean="0"/>
          </a:p>
          <a:p>
            <a:endParaRPr lang="en-US" dirty="0"/>
          </a:p>
          <a:p>
            <a:r>
              <a:rPr lang="en-US" dirty="0"/>
              <a:t>The communication </a:t>
            </a:r>
            <a:r>
              <a:rPr lang="en-US" i="1" dirty="0"/>
              <a:t>between the C&amp;D system and the weapons firing control system is, however, periodic</a:t>
            </a:r>
            <a:r>
              <a:rPr lang="en-US" dirty="0"/>
              <a:t> because the C&amp;D system feeds the firing coordinates into the weapons control system periodically (with an extremely high frequency</a:t>
            </a:r>
            <a:r>
              <a:rPr lang="en-US" dirty="0" smtClean="0"/>
              <a:t>).</a:t>
            </a:r>
          </a:p>
          <a:p>
            <a:endParaRPr lang="en-US" dirty="0"/>
          </a:p>
          <a:p>
            <a:r>
              <a:rPr lang="en-US" dirty="0"/>
              <a:t>Initial firing coordinates are based on a pre-computed flight path but are updated in real-time according to the actual location of the incoming missile.</a:t>
            </a:r>
          </a:p>
        </p:txBody>
      </p:sp>
    </p:spTree>
    <p:extLst>
      <p:ext uri="{BB962C8B-B14F-4D97-AF65-F5344CB8AC3E}">
        <p14:creationId xmlns:p14="http://schemas.microsoft.com/office/powerpoint/2010/main" val="4589060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1300" y="-152400"/>
            <a:ext cx="7886700" cy="1325563"/>
          </a:xfrm>
        </p:spPr>
        <p:txBody>
          <a:bodyPr/>
          <a:lstStyle/>
          <a:p>
            <a:r>
              <a:rPr lang="en-US" dirty="0" smtClean="0"/>
              <a:t>Hard vs Soft Real time systems </a:t>
            </a:r>
            <a:endParaRPr lang="en-US" dirty="0"/>
          </a:p>
        </p:txBody>
      </p:sp>
      <p:pic>
        <p:nvPicPr>
          <p:cNvPr id="3" name="Picture 2"/>
          <p:cNvPicPr>
            <a:picLocks noChangeAspect="1"/>
          </p:cNvPicPr>
          <p:nvPr/>
        </p:nvPicPr>
        <p:blipFill>
          <a:blip r:embed="rId2"/>
          <a:stretch>
            <a:fillRect/>
          </a:stretch>
        </p:blipFill>
        <p:spPr>
          <a:xfrm>
            <a:off x="3471649" y="4663413"/>
            <a:ext cx="4648200" cy="1771650"/>
          </a:xfrm>
          <a:prstGeom prst="rect">
            <a:avLst/>
          </a:prstGeom>
        </p:spPr>
      </p:pic>
      <p:pic>
        <p:nvPicPr>
          <p:cNvPr id="4" name="Picture 3"/>
          <p:cNvPicPr>
            <a:picLocks noChangeAspect="1"/>
          </p:cNvPicPr>
          <p:nvPr/>
        </p:nvPicPr>
        <p:blipFill>
          <a:blip r:embed="rId3"/>
          <a:stretch>
            <a:fillRect/>
          </a:stretch>
        </p:blipFill>
        <p:spPr>
          <a:xfrm>
            <a:off x="1873250" y="942975"/>
            <a:ext cx="7524750" cy="3638550"/>
          </a:xfrm>
          <a:prstGeom prst="rect">
            <a:avLst/>
          </a:prstGeom>
        </p:spPr>
      </p:pic>
    </p:spTree>
    <p:extLst>
      <p:ext uri="{BB962C8B-B14F-4D97-AF65-F5344CB8AC3E}">
        <p14:creationId xmlns:p14="http://schemas.microsoft.com/office/powerpoint/2010/main" val="18911104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7055380" cy="1400530"/>
          </a:xfrm>
        </p:spPr>
        <p:txBody>
          <a:bodyPr/>
          <a:lstStyle/>
          <a:p>
            <a:r>
              <a:rPr lang="en-US" dirty="0" smtClean="0"/>
              <a:t>Hard Real Time System</a:t>
            </a:r>
            <a:endParaRPr lang="en-US" dirty="0"/>
          </a:p>
        </p:txBody>
      </p:sp>
      <p:pic>
        <p:nvPicPr>
          <p:cNvPr id="4" name="Picture 3"/>
          <p:cNvPicPr>
            <a:picLocks noChangeAspect="1"/>
          </p:cNvPicPr>
          <p:nvPr/>
        </p:nvPicPr>
        <p:blipFill rotWithShape="1">
          <a:blip r:embed="rId2"/>
          <a:srcRect l="1195" t="1852" r="1491" b="16930"/>
          <a:stretch/>
        </p:blipFill>
        <p:spPr>
          <a:xfrm>
            <a:off x="2797790" y="1323833"/>
            <a:ext cx="6673755" cy="4339988"/>
          </a:xfrm>
          <a:prstGeom prst="rect">
            <a:avLst/>
          </a:prstGeom>
        </p:spPr>
      </p:pic>
    </p:spTree>
    <p:extLst>
      <p:ext uri="{BB962C8B-B14F-4D97-AF65-F5344CB8AC3E}">
        <p14:creationId xmlns:p14="http://schemas.microsoft.com/office/powerpoint/2010/main" val="30138808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 Real Time System</a:t>
            </a:r>
            <a:endParaRPr lang="en-US" dirty="0"/>
          </a:p>
        </p:txBody>
      </p:sp>
      <p:pic>
        <p:nvPicPr>
          <p:cNvPr id="4" name="Content Placeholder 3"/>
          <p:cNvPicPr>
            <a:picLocks noGrp="1" noChangeAspect="1"/>
          </p:cNvPicPr>
          <p:nvPr>
            <p:ph idx="1"/>
          </p:nvPr>
        </p:nvPicPr>
        <p:blipFill>
          <a:blip r:embed="rId2"/>
          <a:stretch>
            <a:fillRect/>
          </a:stretch>
        </p:blipFill>
        <p:spPr>
          <a:xfrm>
            <a:off x="2008710" y="1178384"/>
            <a:ext cx="7632508" cy="4790617"/>
          </a:xfrm>
          <a:prstGeom prst="rect">
            <a:avLst/>
          </a:prstGeom>
        </p:spPr>
      </p:pic>
    </p:spTree>
    <p:extLst>
      <p:ext uri="{BB962C8B-B14F-4D97-AF65-F5344CB8AC3E}">
        <p14:creationId xmlns:p14="http://schemas.microsoft.com/office/powerpoint/2010/main" val="929005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Examples</a:t>
            </a:r>
            <a:endParaRPr lang="en-US" dirty="0"/>
          </a:p>
        </p:txBody>
      </p:sp>
      <p:pic>
        <p:nvPicPr>
          <p:cNvPr id="4" name="Picture 3"/>
          <p:cNvPicPr>
            <a:picLocks noChangeAspect="1"/>
          </p:cNvPicPr>
          <p:nvPr/>
        </p:nvPicPr>
        <p:blipFill>
          <a:blip r:embed="rId2"/>
          <a:stretch>
            <a:fillRect/>
          </a:stretch>
        </p:blipFill>
        <p:spPr>
          <a:xfrm>
            <a:off x="2373472" y="2031155"/>
            <a:ext cx="7000875" cy="2409825"/>
          </a:xfrm>
          <a:prstGeom prst="rect">
            <a:avLst/>
          </a:prstGeom>
        </p:spPr>
      </p:pic>
    </p:spTree>
    <p:extLst>
      <p:ext uri="{BB962C8B-B14F-4D97-AF65-F5344CB8AC3E}">
        <p14:creationId xmlns:p14="http://schemas.microsoft.com/office/powerpoint/2010/main" val="41397288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Real Time Operating System</a:t>
            </a:r>
            <a:endParaRPr lang="en-US" dirty="0"/>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728B6C21-E150-4397-8C19-7B7D96984F69}" type="slidenum">
              <a:rPr lang="en-US" smtClean="0"/>
              <a:t>14</a:t>
            </a:fld>
            <a:endParaRPr lang="en-US"/>
          </a:p>
        </p:txBody>
      </p:sp>
    </p:spTree>
    <p:extLst>
      <p:ext uri="{BB962C8B-B14F-4D97-AF65-F5344CB8AC3E}">
        <p14:creationId xmlns:p14="http://schemas.microsoft.com/office/powerpoint/2010/main" val="1215623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 to RTOS</a:t>
            </a:r>
            <a:endParaRPr lang="en-US" b="1" dirty="0"/>
          </a:p>
        </p:txBody>
      </p:sp>
      <p:sp>
        <p:nvSpPr>
          <p:cNvPr id="3" name="Content Placeholder 2"/>
          <p:cNvSpPr>
            <a:spLocks noGrp="1"/>
          </p:cNvSpPr>
          <p:nvPr>
            <p:ph idx="1"/>
          </p:nvPr>
        </p:nvSpPr>
        <p:spPr>
          <a:xfrm>
            <a:off x="2008710" y="1371601"/>
            <a:ext cx="7516290" cy="4876806"/>
          </a:xfrm>
        </p:spPr>
        <p:txBody>
          <a:bodyPr/>
          <a:lstStyle/>
          <a:p>
            <a:r>
              <a:rPr lang="en-US" dirty="0" smtClean="0"/>
              <a:t>Embedded systems with moderate to large software applications require RTOS </a:t>
            </a:r>
          </a:p>
          <a:p>
            <a:endParaRPr lang="en-US" dirty="0"/>
          </a:p>
          <a:p>
            <a:r>
              <a:rPr lang="en-US" dirty="0" smtClean="0"/>
              <a:t>RTOS = Real Time Operating System</a:t>
            </a:r>
          </a:p>
          <a:p>
            <a:endParaRPr lang="en-US" dirty="0"/>
          </a:p>
          <a:p>
            <a:pPr algn="just"/>
            <a:r>
              <a:rPr lang="en-US" i="1" dirty="0">
                <a:solidFill>
                  <a:srgbClr val="FF0000"/>
                </a:solidFill>
              </a:rPr>
              <a:t>A real-time operating system (RTOS) is a program that </a:t>
            </a:r>
            <a:r>
              <a:rPr lang="en-US" b="1" i="1" dirty="0" smtClean="0">
                <a:solidFill>
                  <a:srgbClr val="FF0000"/>
                </a:solidFill>
              </a:rPr>
              <a:t>schedules </a:t>
            </a:r>
            <a:r>
              <a:rPr lang="en-US" b="1" i="1" dirty="0">
                <a:solidFill>
                  <a:srgbClr val="FF0000"/>
                </a:solidFill>
              </a:rPr>
              <a:t>execution in a </a:t>
            </a:r>
            <a:r>
              <a:rPr lang="en-US" b="1" i="1" dirty="0" smtClean="0">
                <a:solidFill>
                  <a:srgbClr val="FF0000"/>
                </a:solidFill>
              </a:rPr>
              <a:t>timely manner</a:t>
            </a:r>
            <a:r>
              <a:rPr lang="en-US" i="1" dirty="0">
                <a:solidFill>
                  <a:srgbClr val="FF0000"/>
                </a:solidFill>
              </a:rPr>
              <a:t>, </a:t>
            </a:r>
            <a:r>
              <a:rPr lang="en-US" b="1" i="1" dirty="0">
                <a:solidFill>
                  <a:srgbClr val="FF0000"/>
                </a:solidFill>
              </a:rPr>
              <a:t>manages system resources</a:t>
            </a:r>
            <a:r>
              <a:rPr lang="en-US" i="1" dirty="0">
                <a:solidFill>
                  <a:srgbClr val="FF0000"/>
                </a:solidFill>
              </a:rPr>
              <a:t>, and </a:t>
            </a:r>
            <a:r>
              <a:rPr lang="en-US" b="1" i="1" dirty="0">
                <a:solidFill>
                  <a:srgbClr val="FF0000"/>
                </a:solidFill>
              </a:rPr>
              <a:t>provides a consistent foundation for </a:t>
            </a:r>
            <a:r>
              <a:rPr lang="en-US" b="1" i="1" dirty="0" smtClean="0">
                <a:solidFill>
                  <a:srgbClr val="FF0000"/>
                </a:solidFill>
              </a:rPr>
              <a:t>developing application </a:t>
            </a:r>
            <a:r>
              <a:rPr lang="en-US" b="1" i="1" dirty="0">
                <a:solidFill>
                  <a:srgbClr val="FF0000"/>
                </a:solidFill>
              </a:rPr>
              <a:t>code</a:t>
            </a:r>
            <a:r>
              <a:rPr lang="en-US" i="1" dirty="0">
                <a:solidFill>
                  <a:srgbClr val="FF0000"/>
                </a:solidFill>
              </a:rPr>
              <a:t>.</a:t>
            </a:r>
          </a:p>
        </p:txBody>
      </p:sp>
    </p:spTree>
    <p:extLst>
      <p:ext uri="{BB962C8B-B14F-4D97-AF65-F5344CB8AC3E}">
        <p14:creationId xmlns:p14="http://schemas.microsoft.com/office/powerpoint/2010/main" val="27797616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152400"/>
            <a:ext cx="7055380" cy="842682"/>
          </a:xfrm>
        </p:spPr>
        <p:txBody>
          <a:bodyPr/>
          <a:lstStyle/>
          <a:p>
            <a:r>
              <a:rPr lang="en-US" dirty="0" smtClean="0"/>
              <a:t>History</a:t>
            </a:r>
            <a:endParaRPr lang="en-US" dirty="0"/>
          </a:p>
        </p:txBody>
      </p:sp>
      <p:graphicFrame>
        <p:nvGraphicFramePr>
          <p:cNvPr id="4" name="Diagram 3"/>
          <p:cNvGraphicFramePr/>
          <p:nvPr>
            <p:extLst/>
          </p:nvPr>
        </p:nvGraphicFramePr>
        <p:xfrm>
          <a:off x="1752600" y="381000"/>
          <a:ext cx="84582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60701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452718"/>
            <a:ext cx="7055380" cy="842682"/>
          </a:xfrm>
        </p:spPr>
        <p:txBody>
          <a:bodyPr/>
          <a:lstStyle/>
          <a:p>
            <a:r>
              <a:rPr lang="en-US" dirty="0" smtClean="0"/>
              <a:t>GPOS vs RTOS</a:t>
            </a:r>
            <a:endParaRPr lang="en-US" dirty="0"/>
          </a:p>
        </p:txBody>
      </p:sp>
      <p:sp>
        <p:nvSpPr>
          <p:cNvPr id="3" name="Content Placeholder 2"/>
          <p:cNvSpPr>
            <a:spLocks noGrp="1"/>
          </p:cNvSpPr>
          <p:nvPr>
            <p:ph idx="1"/>
          </p:nvPr>
        </p:nvSpPr>
        <p:spPr>
          <a:xfrm>
            <a:off x="2359693" y="1447800"/>
            <a:ext cx="6711654" cy="5105406"/>
          </a:xfrm>
        </p:spPr>
        <p:txBody>
          <a:bodyPr/>
          <a:lstStyle/>
          <a:p>
            <a:pPr marL="0" indent="0">
              <a:buNone/>
            </a:pPr>
            <a:r>
              <a:rPr lang="en-US" b="1" dirty="0" smtClean="0"/>
              <a:t>Similarities</a:t>
            </a:r>
            <a:endParaRPr lang="en-US" b="1" dirty="0"/>
          </a:p>
          <a:p>
            <a:r>
              <a:rPr lang="en-US" dirty="0" smtClean="0"/>
              <a:t>some </a:t>
            </a:r>
            <a:r>
              <a:rPr lang="en-US" dirty="0"/>
              <a:t>level of multitasking,</a:t>
            </a:r>
          </a:p>
          <a:p>
            <a:r>
              <a:rPr lang="en-US" dirty="0" smtClean="0"/>
              <a:t>software </a:t>
            </a:r>
            <a:r>
              <a:rPr lang="en-US" dirty="0"/>
              <a:t>and hardware resource management,</a:t>
            </a:r>
          </a:p>
          <a:p>
            <a:r>
              <a:rPr lang="en-US" dirty="0" smtClean="0"/>
              <a:t>provision </a:t>
            </a:r>
            <a:r>
              <a:rPr lang="en-US" dirty="0"/>
              <a:t>of underlying OS services to applications, and</a:t>
            </a:r>
          </a:p>
          <a:p>
            <a:r>
              <a:rPr lang="en-US" dirty="0" smtClean="0"/>
              <a:t>abstracting </a:t>
            </a:r>
            <a:r>
              <a:rPr lang="en-US" dirty="0"/>
              <a:t>the hardware from the software application.</a:t>
            </a:r>
          </a:p>
        </p:txBody>
      </p:sp>
    </p:spTree>
    <p:extLst>
      <p:ext uri="{BB962C8B-B14F-4D97-AF65-F5344CB8AC3E}">
        <p14:creationId xmlns:p14="http://schemas.microsoft.com/office/powerpoint/2010/main" val="4387377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452718"/>
            <a:ext cx="7055380" cy="842682"/>
          </a:xfrm>
        </p:spPr>
        <p:txBody>
          <a:bodyPr/>
          <a:lstStyle/>
          <a:p>
            <a:r>
              <a:rPr lang="en-US" b="1" dirty="0" smtClean="0"/>
              <a:t>GPOS vs RTOS</a:t>
            </a:r>
            <a:endParaRPr lang="en-US" b="1" dirty="0"/>
          </a:p>
        </p:txBody>
      </p:sp>
      <p:sp>
        <p:nvSpPr>
          <p:cNvPr id="3" name="Content Placeholder 2"/>
          <p:cNvSpPr>
            <a:spLocks noGrp="1"/>
          </p:cNvSpPr>
          <p:nvPr>
            <p:ph idx="1"/>
          </p:nvPr>
        </p:nvSpPr>
        <p:spPr>
          <a:xfrm>
            <a:off x="1977335" y="1317812"/>
            <a:ext cx="8462066" cy="5105406"/>
          </a:xfrm>
        </p:spPr>
        <p:txBody>
          <a:bodyPr>
            <a:normAutofit/>
          </a:bodyPr>
          <a:lstStyle/>
          <a:p>
            <a:pPr marL="0" indent="0">
              <a:buNone/>
            </a:pPr>
            <a:r>
              <a:rPr lang="en-US" b="1" dirty="0" smtClean="0"/>
              <a:t>Differences</a:t>
            </a:r>
            <a:endParaRPr lang="en-US" b="1" dirty="0"/>
          </a:p>
          <a:p>
            <a:r>
              <a:rPr lang="en-US" dirty="0"/>
              <a:t>better reliability in embedded application </a:t>
            </a:r>
            <a:r>
              <a:rPr lang="en-US" dirty="0" smtClean="0"/>
              <a:t>contexts</a:t>
            </a:r>
            <a:endParaRPr lang="en-US" dirty="0"/>
          </a:p>
          <a:p>
            <a:r>
              <a:rPr lang="en-US" dirty="0" smtClean="0"/>
              <a:t>the </a:t>
            </a:r>
            <a:r>
              <a:rPr lang="en-US" dirty="0"/>
              <a:t>ability to scale up or down to meet application </a:t>
            </a:r>
            <a:r>
              <a:rPr lang="en-US" dirty="0" smtClean="0"/>
              <a:t>needs</a:t>
            </a:r>
            <a:endParaRPr lang="en-US" dirty="0"/>
          </a:p>
          <a:p>
            <a:r>
              <a:rPr lang="en-US" dirty="0" smtClean="0"/>
              <a:t>faster performance</a:t>
            </a:r>
            <a:endParaRPr lang="en-US" dirty="0"/>
          </a:p>
          <a:p>
            <a:r>
              <a:rPr lang="en-US" dirty="0" smtClean="0"/>
              <a:t>reduced </a:t>
            </a:r>
            <a:r>
              <a:rPr lang="en-US" dirty="0"/>
              <a:t>memory </a:t>
            </a:r>
            <a:r>
              <a:rPr lang="en-US" dirty="0" smtClean="0"/>
              <a:t>requirements</a:t>
            </a:r>
            <a:endParaRPr lang="en-US" dirty="0"/>
          </a:p>
          <a:p>
            <a:r>
              <a:rPr lang="en-US" dirty="0" smtClean="0"/>
              <a:t>scheduling </a:t>
            </a:r>
            <a:r>
              <a:rPr lang="en-US" dirty="0"/>
              <a:t>policies tailored for real-time embedded </a:t>
            </a:r>
            <a:r>
              <a:rPr lang="en-US" dirty="0" smtClean="0"/>
              <a:t>systems</a:t>
            </a:r>
            <a:endParaRPr lang="en-US" dirty="0"/>
          </a:p>
          <a:p>
            <a:r>
              <a:rPr lang="en-US" dirty="0" smtClean="0"/>
              <a:t>support </a:t>
            </a:r>
            <a:r>
              <a:rPr lang="en-US" dirty="0"/>
              <a:t>for diskless embedded systems by allowing executables to boot and run </a:t>
            </a:r>
            <a:r>
              <a:rPr lang="en-US" dirty="0" smtClean="0"/>
              <a:t>from ROM </a:t>
            </a:r>
            <a:r>
              <a:rPr lang="en-US" dirty="0"/>
              <a:t>or </a:t>
            </a:r>
            <a:r>
              <a:rPr lang="en-US" dirty="0" smtClean="0"/>
              <a:t>RAM</a:t>
            </a:r>
            <a:endParaRPr lang="en-US" dirty="0"/>
          </a:p>
          <a:p>
            <a:r>
              <a:rPr lang="en-US" dirty="0" smtClean="0"/>
              <a:t>better </a:t>
            </a:r>
            <a:r>
              <a:rPr lang="en-US" dirty="0"/>
              <a:t>portability to different hardware </a:t>
            </a:r>
            <a:r>
              <a:rPr lang="en-US" dirty="0" smtClean="0"/>
              <a:t>platforms</a:t>
            </a:r>
            <a:endParaRPr lang="en-US" dirty="0"/>
          </a:p>
        </p:txBody>
      </p:sp>
    </p:spTree>
    <p:extLst>
      <p:ext uri="{BB962C8B-B14F-4D97-AF65-F5344CB8AC3E}">
        <p14:creationId xmlns:p14="http://schemas.microsoft.com/office/powerpoint/2010/main" val="12982957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Components of RTOS</a:t>
            </a:r>
            <a:endParaRPr lang="en-US" b="1" dirty="0"/>
          </a:p>
        </p:txBody>
      </p:sp>
      <p:pic>
        <p:nvPicPr>
          <p:cNvPr id="7" name="Content Placeholder 6"/>
          <p:cNvPicPr>
            <a:picLocks noGrp="1" noChangeAspect="1"/>
          </p:cNvPicPr>
          <p:nvPr>
            <p:ph idx="1"/>
          </p:nvPr>
        </p:nvPicPr>
        <p:blipFill>
          <a:blip r:embed="rId2"/>
          <a:stretch>
            <a:fillRect/>
          </a:stretch>
        </p:blipFill>
        <p:spPr>
          <a:xfrm>
            <a:off x="6284635" y="2286001"/>
            <a:ext cx="4395524" cy="3794125"/>
          </a:xfrm>
          <a:prstGeom prst="rect">
            <a:avLst/>
          </a:prstGeom>
        </p:spPr>
      </p:pic>
      <p:pic>
        <p:nvPicPr>
          <p:cNvPr id="6" name="Picture 5"/>
          <p:cNvPicPr>
            <a:picLocks noChangeAspect="1"/>
          </p:cNvPicPr>
          <p:nvPr/>
        </p:nvPicPr>
        <p:blipFill>
          <a:blip r:embed="rId3"/>
          <a:stretch>
            <a:fillRect/>
          </a:stretch>
        </p:blipFill>
        <p:spPr>
          <a:xfrm>
            <a:off x="2021411" y="1981201"/>
            <a:ext cx="4019045" cy="4117975"/>
          </a:xfrm>
          <a:prstGeom prst="rect">
            <a:avLst/>
          </a:prstGeom>
        </p:spPr>
      </p:pic>
      <p:cxnSp>
        <p:nvCxnSpPr>
          <p:cNvPr id="4" name="Straight Arrow Connector 3"/>
          <p:cNvCxnSpPr/>
          <p:nvPr/>
        </p:nvCxnSpPr>
        <p:spPr>
          <a:xfrm flipV="1">
            <a:off x="4648200" y="2438400"/>
            <a:ext cx="2971800" cy="137160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648200" y="4191000"/>
            <a:ext cx="2743200" cy="160020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4003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components of kernel</a:t>
            </a:r>
            <a:endParaRPr lang="en-US" dirty="0"/>
          </a:p>
        </p:txBody>
      </p:sp>
      <p:sp>
        <p:nvSpPr>
          <p:cNvPr id="3" name="Content Placeholder 2"/>
          <p:cNvSpPr>
            <a:spLocks noGrp="1"/>
          </p:cNvSpPr>
          <p:nvPr>
            <p:ph idx="1"/>
          </p:nvPr>
        </p:nvSpPr>
        <p:spPr/>
        <p:txBody>
          <a:bodyPr>
            <a:normAutofit/>
          </a:bodyPr>
          <a:lstStyle/>
          <a:p>
            <a:r>
              <a:rPr lang="en-US" b="1" dirty="0" smtClean="0"/>
              <a:t>Scheduler- </a:t>
            </a:r>
            <a:r>
              <a:rPr lang="en-US" dirty="0" smtClean="0"/>
              <a:t>is </a:t>
            </a:r>
            <a:r>
              <a:rPr lang="en-US" dirty="0"/>
              <a:t>contained within each kernel and follows a set of algorithms </a:t>
            </a:r>
            <a:r>
              <a:rPr lang="en-US" dirty="0" smtClean="0"/>
              <a:t>that determines </a:t>
            </a:r>
            <a:r>
              <a:rPr lang="en-US" dirty="0"/>
              <a:t>which task executes when. </a:t>
            </a:r>
            <a:endParaRPr lang="en-US" dirty="0" smtClean="0"/>
          </a:p>
          <a:p>
            <a:r>
              <a:rPr lang="en-US" b="1" dirty="0" smtClean="0"/>
              <a:t>Objects - </a:t>
            </a:r>
            <a:r>
              <a:rPr lang="en-US" dirty="0"/>
              <a:t>are special kernel constructs that help developers create applications </a:t>
            </a:r>
            <a:r>
              <a:rPr lang="en-US" dirty="0" smtClean="0"/>
              <a:t>for real-time </a:t>
            </a:r>
            <a:r>
              <a:rPr lang="en-US" dirty="0"/>
              <a:t>embedded systems. Common kernel objects include tasks, semaphores, </a:t>
            </a:r>
            <a:r>
              <a:rPr lang="en-US" dirty="0" smtClean="0"/>
              <a:t>and message </a:t>
            </a:r>
            <a:r>
              <a:rPr lang="en-US" dirty="0"/>
              <a:t>queues.</a:t>
            </a:r>
            <a:endParaRPr lang="en-US" b="1" dirty="0" smtClean="0"/>
          </a:p>
          <a:p>
            <a:r>
              <a:rPr lang="en-US" b="1" dirty="0" smtClean="0"/>
              <a:t>Services - </a:t>
            </a:r>
            <a:r>
              <a:rPr lang="en-US" dirty="0"/>
              <a:t>are operations that the kernel performs on an object or, generally </a:t>
            </a:r>
            <a:r>
              <a:rPr lang="en-US" dirty="0" smtClean="0"/>
              <a:t>operations such </a:t>
            </a:r>
            <a:r>
              <a:rPr lang="en-US" dirty="0"/>
              <a:t>as timing, interrupt handling, and resource management.</a:t>
            </a:r>
            <a:endParaRPr lang="en-US" b="1" dirty="0"/>
          </a:p>
        </p:txBody>
      </p:sp>
      <p:sp>
        <p:nvSpPr>
          <p:cNvPr id="4" name="Slide Number Placeholder 3"/>
          <p:cNvSpPr>
            <a:spLocks noGrp="1"/>
          </p:cNvSpPr>
          <p:nvPr>
            <p:ph type="sldNum" sz="quarter" idx="12"/>
          </p:nvPr>
        </p:nvSpPr>
        <p:spPr/>
        <p:txBody>
          <a:bodyPr/>
          <a:lstStyle/>
          <a:p>
            <a:fld id="{728B6C21-E150-4397-8C19-7B7D96984F69}" type="slidenum">
              <a:rPr lang="en-US" smtClean="0"/>
              <a:t>20</a:t>
            </a:fld>
            <a:endParaRPr lang="en-US"/>
          </a:p>
        </p:txBody>
      </p:sp>
    </p:spTree>
    <p:extLst>
      <p:ext uri="{BB962C8B-B14F-4D97-AF65-F5344CB8AC3E}">
        <p14:creationId xmlns:p14="http://schemas.microsoft.com/office/powerpoint/2010/main" val="606667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Scheduler</a:t>
            </a:r>
            <a:endParaRPr lang="en-US" dirty="0"/>
          </a:p>
        </p:txBody>
      </p:sp>
      <p:sp>
        <p:nvSpPr>
          <p:cNvPr id="3" name="Content Placeholder 2"/>
          <p:cNvSpPr>
            <a:spLocks noGrp="1"/>
          </p:cNvSpPr>
          <p:nvPr>
            <p:ph idx="1"/>
          </p:nvPr>
        </p:nvSpPr>
        <p:spPr>
          <a:xfrm>
            <a:off x="1490871" y="1834486"/>
            <a:ext cx="10018713" cy="3124201"/>
          </a:xfrm>
        </p:spPr>
        <p:txBody>
          <a:bodyPr/>
          <a:lstStyle/>
          <a:p>
            <a:r>
              <a:rPr lang="en-US" dirty="0" smtClean="0"/>
              <a:t>contained within each kernel</a:t>
            </a:r>
          </a:p>
          <a:p>
            <a:r>
              <a:rPr lang="en-US" dirty="0" smtClean="0"/>
              <a:t>Follows algorithms to determine the time of execution of each task </a:t>
            </a:r>
          </a:p>
          <a:p>
            <a:pPr>
              <a:buNone/>
            </a:pPr>
            <a:r>
              <a:rPr lang="en-US" u="sng" dirty="0" smtClean="0"/>
              <a:t>Example algorithms: </a:t>
            </a:r>
          </a:p>
          <a:p>
            <a:pPr lvl="1"/>
            <a:r>
              <a:rPr lang="en-US" dirty="0" smtClean="0"/>
              <a:t>	round-robin</a:t>
            </a:r>
          </a:p>
          <a:p>
            <a:pPr lvl="1"/>
            <a:r>
              <a:rPr lang="en-US" dirty="0" smtClean="0"/>
              <a:t>	preemptive scheduling.</a:t>
            </a:r>
            <a:endParaRPr lang="en-US" dirty="0"/>
          </a:p>
        </p:txBody>
      </p:sp>
      <p:sp>
        <p:nvSpPr>
          <p:cNvPr id="4" name="Content Placeholder 2"/>
          <p:cNvSpPr txBox="1">
            <a:spLocks/>
          </p:cNvSpPr>
          <p:nvPr/>
        </p:nvSpPr>
        <p:spPr>
          <a:xfrm>
            <a:off x="2504100" y="4648200"/>
            <a:ext cx="6711654" cy="1752606"/>
          </a:xfrm>
          <a:prstGeom prst="rect">
            <a:avLst/>
          </a:prstGeom>
          <a:noFill/>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fontScale="70000" lnSpcReduction="20000"/>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b="1" u="sng" dirty="0"/>
              <a:t>Main Topics: </a:t>
            </a:r>
          </a:p>
          <a:p>
            <a:pPr marL="457200" indent="-457200">
              <a:buFont typeface="+mj-lt"/>
              <a:buAutoNum type="arabicPeriod"/>
            </a:pPr>
            <a:r>
              <a:rPr lang="en-US" dirty="0"/>
              <a:t>schedulable entities</a:t>
            </a:r>
          </a:p>
          <a:p>
            <a:pPr marL="457200" indent="-457200">
              <a:buFont typeface="+mj-lt"/>
              <a:buAutoNum type="arabicPeriod"/>
            </a:pPr>
            <a:r>
              <a:rPr lang="en-US" dirty="0"/>
              <a:t>multitasking</a:t>
            </a:r>
          </a:p>
          <a:p>
            <a:pPr marL="457200" indent="-457200">
              <a:buFont typeface="+mj-lt"/>
              <a:buAutoNum type="arabicPeriod"/>
            </a:pPr>
            <a:r>
              <a:rPr lang="en-US" dirty="0"/>
              <a:t>context switching</a:t>
            </a:r>
          </a:p>
          <a:p>
            <a:pPr marL="457200" indent="-457200">
              <a:buFont typeface="+mj-lt"/>
              <a:buAutoNum type="arabicPeriod"/>
            </a:pPr>
            <a:r>
              <a:rPr lang="en-US" dirty="0"/>
              <a:t>dispatcher</a:t>
            </a:r>
          </a:p>
          <a:p>
            <a:pPr marL="457200" indent="-457200">
              <a:buFont typeface="+mj-lt"/>
              <a:buAutoNum type="arabicPeriod"/>
            </a:pPr>
            <a:r>
              <a:rPr lang="en-US" dirty="0"/>
              <a:t>scheduling algorithms</a:t>
            </a:r>
            <a:endParaRPr lang="en-US" dirty="0"/>
          </a:p>
        </p:txBody>
      </p:sp>
    </p:spTree>
    <p:extLst>
      <p:ext uri="{BB962C8B-B14F-4D97-AF65-F5344CB8AC3E}">
        <p14:creationId xmlns:p14="http://schemas.microsoft.com/office/powerpoint/2010/main" val="13584696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a:t>
            </a:r>
            <a:r>
              <a:rPr lang="en-US" dirty="0" smtClean="0"/>
              <a:t>Schedulable Entities</a:t>
            </a:r>
            <a:endParaRPr lang="en-US" dirty="0"/>
          </a:p>
        </p:txBody>
      </p:sp>
      <p:sp>
        <p:nvSpPr>
          <p:cNvPr id="3" name="Content Placeholder 2"/>
          <p:cNvSpPr>
            <a:spLocks noGrp="1"/>
          </p:cNvSpPr>
          <p:nvPr>
            <p:ph idx="1"/>
          </p:nvPr>
        </p:nvSpPr>
        <p:spPr>
          <a:xfrm>
            <a:off x="2880815" y="2010771"/>
            <a:ext cx="6711654" cy="4195481"/>
          </a:xfrm>
        </p:spPr>
        <p:txBody>
          <a:bodyPr>
            <a:normAutofit fontScale="92500" lnSpcReduction="20000"/>
          </a:bodyPr>
          <a:lstStyle/>
          <a:p>
            <a:r>
              <a:rPr lang="en-US" dirty="0" smtClean="0"/>
              <a:t>A schedulable entity is a kernel object </a:t>
            </a:r>
            <a:r>
              <a:rPr lang="en-US" b="1" i="1" dirty="0" smtClean="0"/>
              <a:t>that can compete for execution time</a:t>
            </a:r>
            <a:r>
              <a:rPr lang="en-US" b="1" dirty="0" smtClean="0"/>
              <a:t> </a:t>
            </a:r>
            <a:r>
              <a:rPr lang="en-US" dirty="0" smtClean="0"/>
              <a:t>on a system, based on a predefined scheduling algorithm. e.g. : Tasks and Processes</a:t>
            </a:r>
          </a:p>
          <a:p>
            <a:endParaRPr lang="en-US" dirty="0" smtClean="0"/>
          </a:p>
          <a:p>
            <a:r>
              <a:rPr lang="en-US" b="1" u="sng" dirty="0" smtClean="0"/>
              <a:t>TASK:</a:t>
            </a:r>
            <a:r>
              <a:rPr lang="en-US" dirty="0" smtClean="0"/>
              <a:t> </a:t>
            </a:r>
            <a:r>
              <a:rPr lang="en-US" i="1" dirty="0" smtClean="0"/>
              <a:t>an independent thread of execution that contains a sequence of independently schedulable instructions.</a:t>
            </a:r>
          </a:p>
          <a:p>
            <a:endParaRPr lang="en-US" b="1" i="1" u="sng" dirty="0" smtClean="0"/>
          </a:p>
          <a:p>
            <a:r>
              <a:rPr lang="en-US" b="1" i="1" u="sng" dirty="0" smtClean="0"/>
              <a:t>PROCESS: </a:t>
            </a:r>
            <a:r>
              <a:rPr lang="en-US" i="1" dirty="0" smtClean="0"/>
              <a:t>same as tasks but </a:t>
            </a:r>
            <a:r>
              <a:rPr lang="en-US" dirty="0" smtClean="0"/>
              <a:t>they provide better memory protection features, at the expense of performance and memory overhead. </a:t>
            </a:r>
            <a:endParaRPr lang="en-US" b="1" i="1" u="sng" dirty="0"/>
          </a:p>
        </p:txBody>
      </p:sp>
    </p:spTree>
    <p:extLst>
      <p:ext uri="{BB962C8B-B14F-4D97-AF65-F5344CB8AC3E}">
        <p14:creationId xmlns:p14="http://schemas.microsoft.com/office/powerpoint/2010/main" val="11354660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Schedulable </a:t>
            </a:r>
            <a:r>
              <a:rPr lang="en-US" dirty="0" smtClean="0"/>
              <a:t>Entities </a:t>
            </a:r>
            <a:r>
              <a:rPr lang="en-US" sz="3200" i="1" dirty="0"/>
              <a:t>(contd.)</a:t>
            </a:r>
            <a:endParaRPr lang="en-US" i="1" dirty="0"/>
          </a:p>
        </p:txBody>
      </p:sp>
      <p:sp>
        <p:nvSpPr>
          <p:cNvPr id="3" name="Content Placeholder 2"/>
          <p:cNvSpPr>
            <a:spLocks noGrp="1"/>
          </p:cNvSpPr>
          <p:nvPr>
            <p:ph idx="1"/>
          </p:nvPr>
        </p:nvSpPr>
        <p:spPr/>
        <p:txBody>
          <a:bodyPr/>
          <a:lstStyle/>
          <a:p>
            <a:r>
              <a:rPr lang="en-US" dirty="0" smtClean="0"/>
              <a:t>Two or more tasks or processes are simultaneously using multitasking scheme</a:t>
            </a:r>
          </a:p>
          <a:p>
            <a:endParaRPr lang="en-US" dirty="0"/>
          </a:p>
          <a:p>
            <a:r>
              <a:rPr lang="en-US" i="1" dirty="0" smtClean="0"/>
              <a:t>Important Note</a:t>
            </a:r>
            <a:r>
              <a:rPr lang="en-US" dirty="0" smtClean="0"/>
              <a:t>: </a:t>
            </a:r>
          </a:p>
          <a:p>
            <a:pPr lvl="1"/>
            <a:r>
              <a:rPr lang="en-US" dirty="0" smtClean="0"/>
              <a:t>Queues and semaphores are not schedulable entities </a:t>
            </a:r>
          </a:p>
          <a:p>
            <a:pPr lvl="1"/>
            <a:r>
              <a:rPr lang="en-US" dirty="0"/>
              <a:t>These items </a:t>
            </a:r>
            <a:r>
              <a:rPr lang="en-US" dirty="0" smtClean="0"/>
              <a:t>are inter-task </a:t>
            </a:r>
            <a:r>
              <a:rPr lang="en-US" dirty="0"/>
              <a:t>communication objects used for synchronization and communication.</a:t>
            </a:r>
          </a:p>
        </p:txBody>
      </p:sp>
    </p:spTree>
    <p:extLst>
      <p:ext uri="{BB962C8B-B14F-4D97-AF65-F5344CB8AC3E}">
        <p14:creationId xmlns:p14="http://schemas.microsoft.com/office/powerpoint/2010/main" val="38916723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Multitasking</a:t>
            </a:r>
            <a:endParaRPr lang="en-US" dirty="0"/>
          </a:p>
        </p:txBody>
      </p:sp>
      <p:sp>
        <p:nvSpPr>
          <p:cNvPr id="3" name="Content Placeholder 2"/>
          <p:cNvSpPr>
            <a:spLocks noGrp="1"/>
          </p:cNvSpPr>
          <p:nvPr>
            <p:ph idx="1"/>
          </p:nvPr>
        </p:nvSpPr>
        <p:spPr>
          <a:xfrm>
            <a:off x="2026854" y="1964141"/>
            <a:ext cx="4696890" cy="4195481"/>
          </a:xfrm>
        </p:spPr>
        <p:txBody>
          <a:bodyPr>
            <a:normAutofit/>
          </a:bodyPr>
          <a:lstStyle/>
          <a:p>
            <a:r>
              <a:rPr lang="en-US" b="1" i="1" dirty="0"/>
              <a:t>Multitasking is the ability of the operating system to handle multiple activities within </a:t>
            </a:r>
            <a:r>
              <a:rPr lang="en-US" b="1" i="1" dirty="0" smtClean="0"/>
              <a:t>set deadlines</a:t>
            </a:r>
          </a:p>
          <a:p>
            <a:endParaRPr lang="en-US" b="1" i="1" dirty="0"/>
          </a:p>
          <a:p>
            <a:pPr algn="just"/>
            <a:r>
              <a:rPr lang="en-US" dirty="0" smtClean="0"/>
              <a:t>Threads of execution appear to be running concurrently </a:t>
            </a:r>
          </a:p>
          <a:p>
            <a:pPr algn="just"/>
            <a:r>
              <a:rPr lang="en-US" dirty="0" smtClean="0"/>
              <a:t>Actually they are sequential </a:t>
            </a:r>
          </a:p>
          <a:p>
            <a:pPr algn="just"/>
            <a:r>
              <a:rPr lang="en-US" dirty="0" smtClean="0"/>
              <a:t>Context switching is fast</a:t>
            </a:r>
          </a:p>
          <a:p>
            <a:endParaRPr lang="en-US" b="1" i="1" dirty="0"/>
          </a:p>
        </p:txBody>
      </p:sp>
      <p:pic>
        <p:nvPicPr>
          <p:cNvPr id="4" name="Picture 3"/>
          <p:cNvPicPr>
            <a:picLocks noChangeAspect="1"/>
          </p:cNvPicPr>
          <p:nvPr/>
        </p:nvPicPr>
        <p:blipFill>
          <a:blip r:embed="rId3"/>
          <a:stretch>
            <a:fillRect/>
          </a:stretch>
        </p:blipFill>
        <p:spPr>
          <a:xfrm>
            <a:off x="7064938" y="2018768"/>
            <a:ext cx="3705225" cy="4086225"/>
          </a:xfrm>
          <a:prstGeom prst="rect">
            <a:avLst/>
          </a:prstGeom>
        </p:spPr>
      </p:pic>
    </p:spTree>
    <p:extLst>
      <p:ext uri="{BB962C8B-B14F-4D97-AF65-F5344CB8AC3E}">
        <p14:creationId xmlns:p14="http://schemas.microsoft.com/office/powerpoint/2010/main" val="3807036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Context Switching</a:t>
            </a:r>
            <a:endParaRPr lang="en-US" dirty="0"/>
          </a:p>
        </p:txBody>
      </p:sp>
      <p:sp>
        <p:nvSpPr>
          <p:cNvPr id="3" name="Content Placeholder 2"/>
          <p:cNvSpPr>
            <a:spLocks noGrp="1"/>
          </p:cNvSpPr>
          <p:nvPr>
            <p:ph idx="1"/>
          </p:nvPr>
        </p:nvSpPr>
        <p:spPr/>
        <p:txBody>
          <a:bodyPr/>
          <a:lstStyle/>
          <a:p>
            <a:r>
              <a:rPr lang="en-US" b="1" i="1" dirty="0" smtClean="0"/>
              <a:t>Context: </a:t>
            </a:r>
            <a:r>
              <a:rPr lang="en-US" dirty="0"/>
              <a:t>the state of the CPU </a:t>
            </a:r>
            <a:r>
              <a:rPr lang="en-US" dirty="0" smtClean="0"/>
              <a:t>registers</a:t>
            </a:r>
          </a:p>
          <a:p>
            <a:endParaRPr lang="en-US" dirty="0"/>
          </a:p>
          <a:p>
            <a:r>
              <a:rPr lang="en-US" dirty="0" smtClean="0"/>
              <a:t>Each task has its own context</a:t>
            </a:r>
          </a:p>
          <a:p>
            <a:r>
              <a:rPr lang="en-US" dirty="0"/>
              <a:t>A context switch occurs when the scheduler switches from </a:t>
            </a:r>
            <a:r>
              <a:rPr lang="en-US" dirty="0" smtClean="0"/>
              <a:t>one task </a:t>
            </a:r>
            <a:r>
              <a:rPr lang="en-US" dirty="0"/>
              <a:t>to another.</a:t>
            </a:r>
          </a:p>
        </p:txBody>
      </p:sp>
    </p:spTree>
    <p:extLst>
      <p:ext uri="{BB962C8B-B14F-4D97-AF65-F5344CB8AC3E}">
        <p14:creationId xmlns:p14="http://schemas.microsoft.com/office/powerpoint/2010/main" val="13999021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452718"/>
            <a:ext cx="7055380" cy="309282"/>
          </a:xfrm>
        </p:spPr>
        <p:txBody>
          <a:bodyPr>
            <a:normAutofit fontScale="90000"/>
          </a:bodyPr>
          <a:lstStyle/>
          <a:p>
            <a:r>
              <a:rPr lang="en-US" sz="1800" dirty="0"/>
              <a:t>Context Switching contd.</a:t>
            </a:r>
            <a:endParaRPr lang="en-US" sz="1800" dirty="0"/>
          </a:p>
        </p:txBody>
      </p:sp>
      <p:sp>
        <p:nvSpPr>
          <p:cNvPr id="4" name="Oval 3"/>
          <p:cNvSpPr/>
          <p:nvPr/>
        </p:nvSpPr>
        <p:spPr>
          <a:xfrm>
            <a:off x="2895600" y="1295400"/>
            <a:ext cx="1981200" cy="1676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Task – 1 </a:t>
            </a:r>
            <a:endParaRPr lang="en-US" dirty="0"/>
          </a:p>
        </p:txBody>
      </p:sp>
      <p:cxnSp>
        <p:nvCxnSpPr>
          <p:cNvPr id="6" name="Straight Arrow Connector 5"/>
          <p:cNvCxnSpPr/>
          <p:nvPr/>
        </p:nvCxnSpPr>
        <p:spPr>
          <a:xfrm>
            <a:off x="4891460" y="2027752"/>
            <a:ext cx="2118940" cy="2116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 name="Rectangle 6"/>
          <p:cNvSpPr/>
          <p:nvPr/>
        </p:nvSpPr>
        <p:spPr>
          <a:xfrm>
            <a:off x="7010400" y="1600200"/>
            <a:ext cx="1828800" cy="1905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Task – 1 TCB</a:t>
            </a:r>
            <a:endParaRPr lang="en-US" dirty="0"/>
          </a:p>
        </p:txBody>
      </p:sp>
      <p:sp>
        <p:nvSpPr>
          <p:cNvPr id="8" name="Line Callout 2 7"/>
          <p:cNvSpPr/>
          <p:nvPr/>
        </p:nvSpPr>
        <p:spPr>
          <a:xfrm>
            <a:off x="7204761" y="4038601"/>
            <a:ext cx="3268879" cy="1371601"/>
          </a:xfrm>
          <a:prstGeom prst="borderCallout2">
            <a:avLst>
              <a:gd name="adj1" fmla="val 18750"/>
              <a:gd name="adj2" fmla="val -8333"/>
              <a:gd name="adj3" fmla="val 18750"/>
              <a:gd name="adj4" fmla="val -16667"/>
              <a:gd name="adj5" fmla="val -75804"/>
              <a:gd name="adj6" fmla="val 10613"/>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TCB: </a:t>
            </a:r>
          </a:p>
          <a:p>
            <a:pPr algn="ctr"/>
            <a:r>
              <a:rPr lang="en-US" dirty="0"/>
              <a:t>Task Control Block is a special data structure that stores task specific information</a:t>
            </a:r>
            <a:endParaRPr lang="en-US" dirty="0"/>
          </a:p>
        </p:txBody>
      </p:sp>
      <p:sp>
        <p:nvSpPr>
          <p:cNvPr id="9" name="TextBox 8"/>
          <p:cNvSpPr txBox="1"/>
          <p:nvPr/>
        </p:nvSpPr>
        <p:spPr>
          <a:xfrm>
            <a:off x="1828800" y="3505200"/>
            <a:ext cx="4419600" cy="1477328"/>
          </a:xfrm>
          <a:prstGeom prst="rect">
            <a:avLst/>
          </a:prstGeom>
          <a:noFill/>
        </p:spPr>
        <p:txBody>
          <a:bodyPr wrap="square" rtlCol="0">
            <a:spAutoFit/>
          </a:bodyPr>
          <a:lstStyle/>
          <a:p>
            <a:r>
              <a:rPr lang="en-US" dirty="0"/>
              <a:t>When task is running its context is dynamic and it is maintained in its TCB</a:t>
            </a:r>
          </a:p>
          <a:p>
            <a:r>
              <a:rPr lang="en-US" dirty="0"/>
              <a:t>When the task </a:t>
            </a:r>
            <a:r>
              <a:rPr lang="en-US" dirty="0"/>
              <a:t>is not </a:t>
            </a:r>
            <a:r>
              <a:rPr lang="en-US" dirty="0"/>
              <a:t>running, its context is frozen </a:t>
            </a:r>
            <a:r>
              <a:rPr lang="en-US" dirty="0"/>
              <a:t>within the </a:t>
            </a:r>
            <a:r>
              <a:rPr lang="en-US" dirty="0"/>
              <a:t>TCB, to be restored the next time </a:t>
            </a:r>
            <a:r>
              <a:rPr lang="en-US" dirty="0"/>
              <a:t>the task </a:t>
            </a:r>
            <a:r>
              <a:rPr lang="en-US" dirty="0"/>
              <a:t>runs.</a:t>
            </a:r>
          </a:p>
        </p:txBody>
      </p:sp>
    </p:spTree>
    <p:extLst>
      <p:ext uri="{BB962C8B-B14F-4D97-AF65-F5344CB8AC3E}">
        <p14:creationId xmlns:p14="http://schemas.microsoft.com/office/powerpoint/2010/main" val="32482469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p:tgtEl>
                                          <p:spTgt spid="6"/>
                                        </p:tgtEl>
                                        <p:attrNameLst>
                                          <p:attrName>ppt_y</p:attrName>
                                        </p:attrNameLst>
                                      </p:cBhvr>
                                      <p:tavLst>
                                        <p:tav tm="0">
                                          <p:val>
                                            <p:strVal val="#ppt_y+#ppt_h*1.125000"/>
                                          </p:val>
                                        </p:tav>
                                        <p:tav tm="100000">
                                          <p:val>
                                            <p:strVal val="#ppt_y"/>
                                          </p:val>
                                        </p:tav>
                                      </p:tavLst>
                                    </p:anim>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1" nodeType="clickEffect">
                                  <p:stCondLst>
                                    <p:cond delay="0"/>
                                  </p:stCondLst>
                                  <p:childTnLst>
                                    <p:animEffect transition="out" filter="fade">
                                      <p:cBhvr>
                                        <p:cTn id="29" dur="500"/>
                                        <p:tgtEl>
                                          <p:spTgt spid="8"/>
                                        </p:tgtEl>
                                      </p:cBhvr>
                                    </p:animEffect>
                                    <p:set>
                                      <p:cBhvr>
                                        <p:cTn id="30" dur="1" fill="hold">
                                          <p:stCondLst>
                                            <p:cond delay="499"/>
                                          </p:stCondLst>
                                        </p:cTn>
                                        <p:tgtEl>
                                          <p:spTgt spid="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p:tgtEl>
                                          <p:spTgt spid="9"/>
                                        </p:tgtEl>
                                        <p:attrNameLst>
                                          <p:attrName>ppt_y</p:attrName>
                                        </p:attrNameLst>
                                      </p:cBhvr>
                                      <p:tavLst>
                                        <p:tav tm="0">
                                          <p:val>
                                            <p:strVal val="#ppt_y+#ppt_h*1.125000"/>
                                          </p:val>
                                        </p:tav>
                                        <p:tav tm="100000">
                                          <p:val>
                                            <p:strVal val="#ppt_y"/>
                                          </p:val>
                                        </p:tav>
                                      </p:tavLst>
                                    </p:anim>
                                    <p:animEffect transition="in" filter="wipe(up)">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xit" presetSubtype="0" fill="hold" grpId="1" nodeType="clickEffect">
                                  <p:stCondLst>
                                    <p:cond delay="0"/>
                                  </p:stCondLst>
                                  <p:childTnLst>
                                    <p:animEffect transition="out" filter="fade">
                                      <p:cBhvr>
                                        <p:cTn id="40" dur="1000"/>
                                        <p:tgtEl>
                                          <p:spTgt spid="9"/>
                                        </p:tgtEl>
                                      </p:cBhvr>
                                    </p:animEffect>
                                    <p:anim calcmode="lin" valueType="num">
                                      <p:cBhvr>
                                        <p:cTn id="41" dur="1000"/>
                                        <p:tgtEl>
                                          <p:spTgt spid="9"/>
                                        </p:tgtEl>
                                        <p:attrNameLst>
                                          <p:attrName>ppt_x</p:attrName>
                                        </p:attrNameLst>
                                      </p:cBhvr>
                                      <p:tavLst>
                                        <p:tav tm="0">
                                          <p:val>
                                            <p:strVal val="ppt_x"/>
                                          </p:val>
                                        </p:tav>
                                        <p:tav tm="100000">
                                          <p:val>
                                            <p:strVal val="ppt_x"/>
                                          </p:val>
                                        </p:tav>
                                      </p:tavLst>
                                    </p:anim>
                                    <p:anim calcmode="lin" valueType="num">
                                      <p:cBhvr>
                                        <p:cTn id="42" dur="1000"/>
                                        <p:tgtEl>
                                          <p:spTgt spid="9"/>
                                        </p:tgtEl>
                                        <p:attrNameLst>
                                          <p:attrName>ppt_y</p:attrName>
                                        </p:attrNameLst>
                                      </p:cBhvr>
                                      <p:tavLst>
                                        <p:tav tm="0">
                                          <p:val>
                                            <p:strVal val="ppt_y"/>
                                          </p:val>
                                        </p:tav>
                                        <p:tav tm="100000">
                                          <p:val>
                                            <p:strVal val="ppt_y+.1"/>
                                          </p:val>
                                        </p:tav>
                                      </p:tavLst>
                                    </p:anim>
                                    <p:set>
                                      <p:cBhvr>
                                        <p:cTn id="43" dur="1" fill="hold">
                                          <p:stCondLst>
                                            <p:cond delay="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8" grpId="1" animBg="1"/>
      <p:bldP spid="9" grpId="0"/>
      <p:bldP spid="9"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008710" y="452718"/>
            <a:ext cx="7055380" cy="309282"/>
          </a:xfrm>
          <a:prstGeom prst="rect">
            <a:avLst/>
          </a:prstGeom>
        </p:spPr>
        <p:txBody>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a:t>Context Switching contd.</a:t>
            </a:r>
            <a:endParaRPr lang="en-US" sz="1800" dirty="0"/>
          </a:p>
        </p:txBody>
      </p:sp>
      <p:sp>
        <p:nvSpPr>
          <p:cNvPr id="6" name="TextBox 5"/>
          <p:cNvSpPr txBox="1"/>
          <p:nvPr/>
        </p:nvSpPr>
        <p:spPr>
          <a:xfrm>
            <a:off x="6565232" y="3416801"/>
            <a:ext cx="3810000"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dirty="0"/>
              <a:t>The </a:t>
            </a:r>
            <a:r>
              <a:rPr lang="en-US" dirty="0"/>
              <a:t>context of task 1 is frozen while task 2 executes, but if the scheduler needs to</a:t>
            </a:r>
          </a:p>
          <a:p>
            <a:pPr algn="just"/>
            <a:r>
              <a:rPr lang="en-US" dirty="0"/>
              <a:t>run task 1 again, task 1 continues from where it left off just before the context</a:t>
            </a:r>
          </a:p>
          <a:p>
            <a:pPr algn="just"/>
            <a:r>
              <a:rPr lang="en-US" dirty="0"/>
              <a:t>switch</a:t>
            </a:r>
            <a:r>
              <a:rPr lang="en-US" dirty="0"/>
              <a:t>.</a:t>
            </a:r>
            <a:endParaRPr lang="en-US" dirty="0"/>
          </a:p>
        </p:txBody>
      </p:sp>
      <p:sp>
        <p:nvSpPr>
          <p:cNvPr id="11" name="Rectangle 10"/>
          <p:cNvSpPr/>
          <p:nvPr/>
        </p:nvSpPr>
        <p:spPr>
          <a:xfrm>
            <a:off x="6477000" y="1091913"/>
            <a:ext cx="4572000" cy="646331"/>
          </a:xfrm>
          <a:prstGeom prst="rect">
            <a:avLst/>
          </a:prstGeom>
        </p:spPr>
        <p:txBody>
          <a:bodyPr>
            <a:spAutoFit/>
          </a:bodyPr>
          <a:lstStyle/>
          <a:p>
            <a:r>
              <a:rPr lang="en-US" dirty="0"/>
              <a:t>1. The </a:t>
            </a:r>
            <a:r>
              <a:rPr lang="en-US" dirty="0"/>
              <a:t>kernel saves task 1’s context</a:t>
            </a:r>
          </a:p>
          <a:p>
            <a:r>
              <a:rPr lang="en-US" dirty="0"/>
              <a:t>information in its TCB.</a:t>
            </a:r>
          </a:p>
        </p:txBody>
      </p:sp>
      <p:pic>
        <p:nvPicPr>
          <p:cNvPr id="13" name="Picture 12"/>
          <p:cNvPicPr>
            <a:picLocks noChangeAspect="1"/>
          </p:cNvPicPr>
          <p:nvPr/>
        </p:nvPicPr>
        <p:blipFill>
          <a:blip r:embed="rId2"/>
          <a:stretch>
            <a:fillRect/>
          </a:stretch>
        </p:blipFill>
        <p:spPr>
          <a:xfrm>
            <a:off x="1892940" y="942556"/>
            <a:ext cx="4584060" cy="4916404"/>
          </a:xfrm>
          <a:prstGeom prst="rect">
            <a:avLst/>
          </a:prstGeom>
        </p:spPr>
      </p:pic>
      <p:sp>
        <p:nvSpPr>
          <p:cNvPr id="15" name="Rectangle 14"/>
          <p:cNvSpPr/>
          <p:nvPr/>
        </p:nvSpPr>
        <p:spPr>
          <a:xfrm>
            <a:off x="6489032" y="1947596"/>
            <a:ext cx="3886200" cy="923330"/>
          </a:xfrm>
          <a:prstGeom prst="rect">
            <a:avLst/>
          </a:prstGeom>
        </p:spPr>
        <p:txBody>
          <a:bodyPr wrap="square">
            <a:spAutoFit/>
          </a:bodyPr>
          <a:lstStyle/>
          <a:p>
            <a:pPr algn="just"/>
            <a:r>
              <a:rPr lang="en-US" dirty="0"/>
              <a:t>2. It </a:t>
            </a:r>
            <a:r>
              <a:rPr lang="en-US" dirty="0"/>
              <a:t>loads task 2’s context information from its TCB, which becomes the current thread of execution.</a:t>
            </a:r>
          </a:p>
        </p:txBody>
      </p:sp>
      <p:sp>
        <p:nvSpPr>
          <p:cNvPr id="16" name="Line Callout 2 15"/>
          <p:cNvSpPr/>
          <p:nvPr/>
        </p:nvSpPr>
        <p:spPr>
          <a:xfrm>
            <a:off x="5791200" y="5858960"/>
            <a:ext cx="4584032" cy="846640"/>
          </a:xfrm>
          <a:prstGeom prst="borderCallout2">
            <a:avLst>
              <a:gd name="adj1" fmla="val 18750"/>
              <a:gd name="adj2" fmla="val -8333"/>
              <a:gd name="adj3" fmla="val 18750"/>
              <a:gd name="adj4" fmla="val -16667"/>
              <a:gd name="adj5" fmla="val -58032"/>
              <a:gd name="adj6" fmla="val -319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The time it takes for the scheduler to switch from one task to another is the </a:t>
            </a:r>
            <a:r>
              <a:rPr lang="en-US" dirty="0"/>
              <a:t>context switch </a:t>
            </a:r>
            <a:r>
              <a:rPr lang="en-US" dirty="0"/>
              <a:t>time.</a:t>
            </a:r>
          </a:p>
        </p:txBody>
      </p:sp>
    </p:spTree>
    <p:extLst>
      <p:ext uri="{BB962C8B-B14F-4D97-AF65-F5344CB8AC3E}">
        <p14:creationId xmlns:p14="http://schemas.microsoft.com/office/powerpoint/2010/main" val="30911129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5" grpId="0"/>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The Dispatcher</a:t>
            </a:r>
            <a:endParaRPr lang="en-US" dirty="0"/>
          </a:p>
        </p:txBody>
      </p:sp>
      <p:sp>
        <p:nvSpPr>
          <p:cNvPr id="3" name="Content Placeholder 2"/>
          <p:cNvSpPr>
            <a:spLocks noGrp="1"/>
          </p:cNvSpPr>
          <p:nvPr>
            <p:ph idx="1"/>
          </p:nvPr>
        </p:nvSpPr>
        <p:spPr>
          <a:xfrm>
            <a:off x="2351700" y="2052926"/>
            <a:ext cx="7782900" cy="4195481"/>
          </a:xfrm>
        </p:spPr>
        <p:txBody>
          <a:bodyPr/>
          <a:lstStyle/>
          <a:p>
            <a:pPr algn="just"/>
            <a:r>
              <a:rPr lang="en-US" b="1" i="1" dirty="0"/>
              <a:t>The dispatcher is the part of the scheduler that performs context switching and </a:t>
            </a:r>
            <a:r>
              <a:rPr lang="en-US" b="1" i="1" dirty="0" smtClean="0"/>
              <a:t>changes the </a:t>
            </a:r>
            <a:r>
              <a:rPr lang="en-US" b="1" i="1" dirty="0"/>
              <a:t>flow of execution</a:t>
            </a:r>
            <a:r>
              <a:rPr lang="en-US" b="1" i="1" dirty="0" smtClean="0"/>
              <a:t>.</a:t>
            </a:r>
          </a:p>
          <a:p>
            <a:r>
              <a:rPr lang="en-US" dirty="0"/>
              <a:t>Flow of execution/Control : Passes trough </a:t>
            </a:r>
            <a:r>
              <a:rPr lang="en-US" dirty="0" smtClean="0"/>
              <a:t>one </a:t>
            </a:r>
            <a:r>
              <a:rPr lang="en-US" dirty="0"/>
              <a:t>of three </a:t>
            </a:r>
            <a:r>
              <a:rPr lang="en-US" dirty="0" smtClean="0"/>
              <a:t>areas </a:t>
            </a:r>
            <a:r>
              <a:rPr lang="en-US" dirty="0"/>
              <a:t>:</a:t>
            </a:r>
          </a:p>
          <a:p>
            <a:pPr lvl="1"/>
            <a:r>
              <a:rPr lang="en-US" dirty="0" smtClean="0"/>
              <a:t>An </a:t>
            </a:r>
            <a:r>
              <a:rPr lang="en-US" dirty="0"/>
              <a:t>application </a:t>
            </a:r>
            <a:r>
              <a:rPr lang="en-US" dirty="0" smtClean="0"/>
              <a:t>task</a:t>
            </a:r>
          </a:p>
          <a:p>
            <a:pPr lvl="1"/>
            <a:r>
              <a:rPr lang="en-US" dirty="0" smtClean="0"/>
              <a:t>Through an ISR</a:t>
            </a:r>
          </a:p>
          <a:p>
            <a:pPr lvl="1"/>
            <a:r>
              <a:rPr lang="en-US" dirty="0" smtClean="0"/>
              <a:t>Through </a:t>
            </a:r>
            <a:r>
              <a:rPr lang="en-US" dirty="0"/>
              <a:t>the kernel</a:t>
            </a:r>
          </a:p>
        </p:txBody>
      </p:sp>
    </p:spTree>
    <p:extLst>
      <p:ext uri="{BB962C8B-B14F-4D97-AF65-F5344CB8AC3E}">
        <p14:creationId xmlns:p14="http://schemas.microsoft.com/office/powerpoint/2010/main" val="9129481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452718"/>
            <a:ext cx="7055380" cy="385482"/>
          </a:xfrm>
        </p:spPr>
        <p:txBody>
          <a:bodyPr>
            <a:normAutofit fontScale="90000"/>
          </a:bodyPr>
          <a:lstStyle/>
          <a:p>
            <a:r>
              <a:rPr lang="en-US" sz="2000" dirty="0"/>
              <a:t>The Dispatcher contd.</a:t>
            </a:r>
            <a:endParaRPr lang="en-US" sz="2000" dirty="0"/>
          </a:p>
        </p:txBody>
      </p:sp>
      <p:sp>
        <p:nvSpPr>
          <p:cNvPr id="5" name="Rectangle 4"/>
          <p:cNvSpPr/>
          <p:nvPr/>
        </p:nvSpPr>
        <p:spPr>
          <a:xfrm>
            <a:off x="2008710" y="990600"/>
            <a:ext cx="3172890" cy="2133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t>
            </a:r>
          </a:p>
          <a:p>
            <a:pPr algn="ctr"/>
            <a:r>
              <a:rPr lang="en-US" dirty="0"/>
              <a:t>…</a:t>
            </a:r>
          </a:p>
          <a:p>
            <a:pPr algn="ctr"/>
            <a:r>
              <a:rPr lang="en-US" dirty="0"/>
              <a:t>….</a:t>
            </a:r>
          </a:p>
          <a:p>
            <a:pPr algn="ctr"/>
            <a:r>
              <a:rPr lang="en-US" dirty="0"/>
              <a:t>system call</a:t>
            </a:r>
          </a:p>
          <a:p>
            <a:pPr algn="ctr"/>
            <a:r>
              <a:rPr lang="en-US" dirty="0"/>
              <a:t>…</a:t>
            </a:r>
          </a:p>
          <a:p>
            <a:pPr algn="ctr"/>
            <a:r>
              <a:rPr lang="en-US" dirty="0"/>
              <a:t>…</a:t>
            </a:r>
          </a:p>
          <a:p>
            <a:pPr algn="ctr"/>
            <a:r>
              <a:rPr lang="en-US" dirty="0"/>
              <a:t>..</a:t>
            </a:r>
          </a:p>
          <a:p>
            <a:pPr algn="ctr"/>
            <a:endParaRPr lang="en-US" dirty="0"/>
          </a:p>
        </p:txBody>
      </p:sp>
      <p:cxnSp>
        <p:nvCxnSpPr>
          <p:cNvPr id="9" name="Straight Arrow Connector 8"/>
          <p:cNvCxnSpPr/>
          <p:nvPr/>
        </p:nvCxnSpPr>
        <p:spPr>
          <a:xfrm>
            <a:off x="4419600" y="1979378"/>
            <a:ext cx="190500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0" name="Rectangle 9"/>
          <p:cNvSpPr/>
          <p:nvPr/>
        </p:nvSpPr>
        <p:spPr>
          <a:xfrm>
            <a:off x="6472989" y="1333046"/>
            <a:ext cx="3048000" cy="2019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kernel</a:t>
            </a:r>
            <a:endParaRPr lang="en-US" dirty="0"/>
          </a:p>
        </p:txBody>
      </p:sp>
      <p:sp>
        <p:nvSpPr>
          <p:cNvPr id="11" name="Rectangle 10"/>
          <p:cNvSpPr/>
          <p:nvPr/>
        </p:nvSpPr>
        <p:spPr>
          <a:xfrm>
            <a:off x="6625389" y="2629902"/>
            <a:ext cx="2743200" cy="49429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System routines are executed</a:t>
            </a:r>
            <a:endParaRPr lang="en-US" dirty="0"/>
          </a:p>
        </p:txBody>
      </p:sp>
      <p:sp>
        <p:nvSpPr>
          <p:cNvPr id="12" name="TextBox 11"/>
          <p:cNvSpPr txBox="1"/>
          <p:nvPr/>
        </p:nvSpPr>
        <p:spPr>
          <a:xfrm>
            <a:off x="5334000" y="1333048"/>
            <a:ext cx="1371600" cy="646331"/>
          </a:xfrm>
          <a:prstGeom prst="rect">
            <a:avLst/>
          </a:prstGeom>
          <a:noFill/>
        </p:spPr>
        <p:txBody>
          <a:bodyPr wrap="square" rtlCol="0">
            <a:spAutoFit/>
          </a:bodyPr>
          <a:lstStyle/>
          <a:p>
            <a:r>
              <a:rPr lang="en-US" dirty="0"/>
              <a:t>Control to kernel</a:t>
            </a:r>
            <a:endParaRPr lang="en-US" dirty="0"/>
          </a:p>
        </p:txBody>
      </p:sp>
      <p:sp>
        <p:nvSpPr>
          <p:cNvPr id="15" name="TextBox 14"/>
          <p:cNvSpPr txBox="1"/>
          <p:nvPr/>
        </p:nvSpPr>
        <p:spPr>
          <a:xfrm>
            <a:off x="2971800" y="3352800"/>
            <a:ext cx="1295400" cy="369332"/>
          </a:xfrm>
          <a:prstGeom prst="rect">
            <a:avLst/>
          </a:prstGeom>
          <a:noFill/>
        </p:spPr>
        <p:txBody>
          <a:bodyPr wrap="square" rtlCol="0">
            <a:spAutoFit/>
          </a:bodyPr>
          <a:lstStyle/>
          <a:p>
            <a:r>
              <a:rPr lang="en-US" dirty="0"/>
              <a:t>Task1</a:t>
            </a:r>
            <a:endParaRPr lang="en-US" dirty="0"/>
          </a:p>
        </p:txBody>
      </p:sp>
      <p:cxnSp>
        <p:nvCxnSpPr>
          <p:cNvPr id="17" name="Straight Arrow Connector 16"/>
          <p:cNvCxnSpPr/>
          <p:nvPr/>
        </p:nvCxnSpPr>
        <p:spPr>
          <a:xfrm flipH="1">
            <a:off x="7547810" y="3332293"/>
            <a:ext cx="533400" cy="121920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9" name="TextBox 18"/>
          <p:cNvSpPr txBox="1"/>
          <p:nvPr/>
        </p:nvSpPr>
        <p:spPr>
          <a:xfrm>
            <a:off x="8009020" y="3774723"/>
            <a:ext cx="1371600" cy="923330"/>
          </a:xfrm>
          <a:prstGeom prst="rect">
            <a:avLst/>
          </a:prstGeom>
          <a:noFill/>
        </p:spPr>
        <p:txBody>
          <a:bodyPr wrap="square" rtlCol="0">
            <a:spAutoFit/>
          </a:bodyPr>
          <a:lstStyle/>
          <a:p>
            <a:r>
              <a:rPr lang="en-US" dirty="0"/>
              <a:t>Control to same or other task</a:t>
            </a:r>
            <a:endParaRPr lang="en-US" dirty="0"/>
          </a:p>
        </p:txBody>
      </p:sp>
      <p:sp>
        <p:nvSpPr>
          <p:cNvPr id="20" name="Rectangle 19"/>
          <p:cNvSpPr/>
          <p:nvPr/>
        </p:nvSpPr>
        <p:spPr>
          <a:xfrm>
            <a:off x="5567754" y="4171763"/>
            <a:ext cx="1810470" cy="10525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t>
            </a:r>
          </a:p>
          <a:p>
            <a:pPr algn="ctr"/>
            <a:r>
              <a:rPr lang="en-US" dirty="0"/>
              <a:t>…</a:t>
            </a:r>
          </a:p>
          <a:p>
            <a:pPr algn="ctr"/>
            <a:r>
              <a:rPr lang="en-US" dirty="0"/>
              <a:t>..</a:t>
            </a:r>
          </a:p>
          <a:p>
            <a:pPr algn="ctr"/>
            <a:endParaRPr lang="en-US" dirty="0"/>
          </a:p>
        </p:txBody>
      </p:sp>
      <p:sp>
        <p:nvSpPr>
          <p:cNvPr id="21" name="TextBox 20"/>
          <p:cNvSpPr txBox="1"/>
          <p:nvPr/>
        </p:nvSpPr>
        <p:spPr>
          <a:xfrm>
            <a:off x="6082824" y="5239108"/>
            <a:ext cx="1295400" cy="369332"/>
          </a:xfrm>
          <a:prstGeom prst="rect">
            <a:avLst/>
          </a:prstGeom>
          <a:noFill/>
        </p:spPr>
        <p:txBody>
          <a:bodyPr wrap="square" rtlCol="0">
            <a:spAutoFit/>
          </a:bodyPr>
          <a:lstStyle/>
          <a:p>
            <a:r>
              <a:rPr lang="en-US" dirty="0"/>
              <a:t>Task2</a:t>
            </a:r>
            <a:endParaRPr lang="en-US" dirty="0"/>
          </a:p>
        </p:txBody>
      </p:sp>
      <p:sp>
        <p:nvSpPr>
          <p:cNvPr id="22" name="Teardrop 21"/>
          <p:cNvSpPr/>
          <p:nvPr/>
        </p:nvSpPr>
        <p:spPr>
          <a:xfrm>
            <a:off x="5281863" y="2186768"/>
            <a:ext cx="710724" cy="690282"/>
          </a:xfrm>
          <a:prstGeom prst="teardrop">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D</a:t>
            </a:r>
            <a:endParaRPr lang="en-US" dirty="0"/>
          </a:p>
        </p:txBody>
      </p:sp>
      <p:sp>
        <p:nvSpPr>
          <p:cNvPr id="23" name="Teardrop 22"/>
          <p:cNvSpPr/>
          <p:nvPr/>
        </p:nvSpPr>
        <p:spPr>
          <a:xfrm>
            <a:off x="6961843" y="3481481"/>
            <a:ext cx="710724" cy="690282"/>
          </a:xfrm>
          <a:prstGeom prst="teardrop">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D</a:t>
            </a:r>
            <a:endParaRPr lang="en-US" dirty="0"/>
          </a:p>
        </p:txBody>
      </p:sp>
      <p:sp>
        <p:nvSpPr>
          <p:cNvPr id="24" name="Teardrop 23"/>
          <p:cNvSpPr/>
          <p:nvPr/>
        </p:nvSpPr>
        <p:spPr>
          <a:xfrm>
            <a:off x="2008710" y="6019800"/>
            <a:ext cx="710724" cy="690282"/>
          </a:xfrm>
          <a:prstGeom prst="teardrop">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D</a:t>
            </a:r>
            <a:endParaRPr lang="en-US" dirty="0"/>
          </a:p>
        </p:txBody>
      </p:sp>
      <p:sp>
        <p:nvSpPr>
          <p:cNvPr id="25" name="TextBox 24"/>
          <p:cNvSpPr txBox="1"/>
          <p:nvPr/>
        </p:nvSpPr>
        <p:spPr>
          <a:xfrm>
            <a:off x="2719434" y="6180275"/>
            <a:ext cx="6649155" cy="369332"/>
          </a:xfrm>
          <a:prstGeom prst="rect">
            <a:avLst/>
          </a:prstGeom>
          <a:noFill/>
        </p:spPr>
        <p:txBody>
          <a:bodyPr wrap="square" rtlCol="0">
            <a:spAutoFit/>
          </a:bodyPr>
          <a:lstStyle/>
          <a:p>
            <a:r>
              <a:rPr lang="en-US" dirty="0"/>
              <a:t>The Dispatcher is doing all the context switching</a:t>
            </a:r>
            <a:endParaRPr lang="en-US" dirty="0"/>
          </a:p>
        </p:txBody>
      </p:sp>
    </p:spTree>
    <p:extLst>
      <p:ext uri="{BB962C8B-B14F-4D97-AF65-F5344CB8AC3E}">
        <p14:creationId xmlns:p14="http://schemas.microsoft.com/office/powerpoint/2010/main" val="17542259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p:cNvSpPr txBox="1">
            <a:spLocks/>
          </p:cNvSpPr>
          <p:nvPr/>
        </p:nvSpPr>
        <p:spPr>
          <a:xfrm>
            <a:off x="2008710" y="452718"/>
            <a:ext cx="7055380" cy="385482"/>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a:t>The Dispatcher contd.</a:t>
            </a:r>
            <a:endParaRPr lang="en-US" sz="2000" dirty="0"/>
          </a:p>
        </p:txBody>
      </p:sp>
      <p:sp>
        <p:nvSpPr>
          <p:cNvPr id="4" name="Rectangle 3"/>
          <p:cNvSpPr/>
          <p:nvPr/>
        </p:nvSpPr>
        <p:spPr>
          <a:xfrm>
            <a:off x="1828800" y="1305343"/>
            <a:ext cx="8458200" cy="2400657"/>
          </a:xfrm>
          <a:prstGeom prst="rect">
            <a:avLst/>
          </a:prstGeom>
        </p:spPr>
        <p:txBody>
          <a:bodyPr wrap="square">
            <a:spAutoFit/>
          </a:bodyPr>
          <a:lstStyle/>
          <a:p>
            <a:r>
              <a:rPr lang="en-US" sz="2400" b="1" i="1" dirty="0">
                <a:latin typeface="Sabon-Roman"/>
              </a:rPr>
              <a:t>if </a:t>
            </a:r>
            <a:r>
              <a:rPr lang="en-US" sz="2400" b="1" i="1" dirty="0">
                <a:latin typeface="Sabon-Roman"/>
              </a:rPr>
              <a:t>an ISR makes system calls, </a:t>
            </a:r>
            <a:endParaRPr lang="en-US" sz="2400" b="1" i="1" dirty="0">
              <a:latin typeface="Sabon-Roman"/>
            </a:endParaRPr>
          </a:p>
          <a:p>
            <a:pPr marL="285750" indent="-285750">
              <a:buFont typeface="Wingdings" panose="05000000000000000000" pitchFamily="2" charset="2"/>
              <a:buChar char="Ø"/>
            </a:pPr>
            <a:r>
              <a:rPr lang="en-US" dirty="0">
                <a:latin typeface="Sabon-Roman"/>
              </a:rPr>
              <a:t>the </a:t>
            </a:r>
            <a:r>
              <a:rPr lang="en-US" dirty="0">
                <a:latin typeface="Sabon-Roman"/>
              </a:rPr>
              <a:t>dispatcher is bypassed until the </a:t>
            </a:r>
            <a:r>
              <a:rPr lang="en-US" dirty="0">
                <a:latin typeface="Sabon-Roman"/>
              </a:rPr>
              <a:t>ISR fully </a:t>
            </a:r>
            <a:r>
              <a:rPr lang="en-US" dirty="0">
                <a:latin typeface="Sabon-Roman"/>
              </a:rPr>
              <a:t>completes its execution. </a:t>
            </a:r>
            <a:endParaRPr lang="en-US" dirty="0">
              <a:latin typeface="Sabon-Roman"/>
            </a:endParaRPr>
          </a:p>
          <a:p>
            <a:endParaRPr lang="en-US" dirty="0">
              <a:latin typeface="Sabon-Roman"/>
            </a:endParaRPr>
          </a:p>
          <a:p>
            <a:pPr marL="285750" indent="-285750">
              <a:buFont typeface="Wingdings" panose="05000000000000000000" pitchFamily="2" charset="2"/>
              <a:buChar char="Ø"/>
            </a:pPr>
            <a:r>
              <a:rPr lang="en-US" dirty="0">
                <a:latin typeface="Sabon-Roman"/>
              </a:rPr>
              <a:t>These </a:t>
            </a:r>
            <a:r>
              <a:rPr lang="en-US" dirty="0">
                <a:latin typeface="Sabon-Roman"/>
              </a:rPr>
              <a:t>context switches </a:t>
            </a:r>
            <a:r>
              <a:rPr lang="en-US" dirty="0">
                <a:latin typeface="Sabon-Roman"/>
              </a:rPr>
              <a:t>do not </a:t>
            </a:r>
            <a:r>
              <a:rPr lang="en-US" dirty="0">
                <a:latin typeface="Sabon-Roman"/>
              </a:rPr>
              <a:t>take place because the ISR must complete without being interrupted by tasks. </a:t>
            </a:r>
            <a:endParaRPr lang="en-US" dirty="0">
              <a:latin typeface="Sabon-Roman"/>
            </a:endParaRPr>
          </a:p>
          <a:p>
            <a:pPr marL="285750" indent="-285750">
              <a:buFont typeface="Wingdings" panose="05000000000000000000" pitchFamily="2" charset="2"/>
              <a:buChar char="Ø"/>
            </a:pPr>
            <a:endParaRPr lang="en-US" dirty="0">
              <a:latin typeface="Sabon-Roman"/>
            </a:endParaRPr>
          </a:p>
          <a:p>
            <a:pPr marL="285750" indent="-285750">
              <a:buFont typeface="Wingdings" panose="05000000000000000000" pitchFamily="2" charset="2"/>
              <a:buChar char="Ø"/>
            </a:pPr>
            <a:r>
              <a:rPr lang="en-US" dirty="0">
                <a:latin typeface="Sabon-Roman"/>
              </a:rPr>
              <a:t>After the </a:t>
            </a:r>
            <a:r>
              <a:rPr lang="en-US" dirty="0">
                <a:latin typeface="Sabon-Roman"/>
              </a:rPr>
              <a:t>ISR completes execution, the kernel exits through the dispatcher so that it can </a:t>
            </a:r>
            <a:r>
              <a:rPr lang="en-US" dirty="0">
                <a:latin typeface="Sabon-Roman"/>
              </a:rPr>
              <a:t>then dispatch </a:t>
            </a:r>
            <a:r>
              <a:rPr lang="en-US" dirty="0">
                <a:latin typeface="Sabon-Roman"/>
              </a:rPr>
              <a:t>the correct task.</a:t>
            </a:r>
            <a:endParaRPr lang="en-US" dirty="0"/>
          </a:p>
        </p:txBody>
      </p:sp>
    </p:spTree>
    <p:extLst>
      <p:ext uri="{BB962C8B-B14F-4D97-AF65-F5344CB8AC3E}">
        <p14:creationId xmlns:p14="http://schemas.microsoft.com/office/powerpoint/2010/main" val="10249521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Scheduling Algorithms</a:t>
            </a:r>
            <a:endParaRPr lang="en-US" dirty="0"/>
          </a:p>
        </p:txBody>
      </p:sp>
      <p:sp>
        <p:nvSpPr>
          <p:cNvPr id="3" name="Content Placeholder 2"/>
          <p:cNvSpPr>
            <a:spLocks noGrp="1"/>
          </p:cNvSpPr>
          <p:nvPr>
            <p:ph idx="1"/>
          </p:nvPr>
        </p:nvSpPr>
        <p:spPr/>
        <p:txBody>
          <a:bodyPr/>
          <a:lstStyle/>
          <a:p>
            <a:pPr algn="just"/>
            <a:r>
              <a:rPr lang="en-US" b="1" dirty="0"/>
              <a:t>the scheduler determines which task runs by following a </a:t>
            </a:r>
            <a:r>
              <a:rPr lang="en-US" b="1" dirty="0" smtClean="0"/>
              <a:t>scheduling algorithm </a:t>
            </a:r>
            <a:r>
              <a:rPr lang="en-US" b="1" dirty="0"/>
              <a:t>(also known as scheduling policy</a:t>
            </a:r>
            <a:r>
              <a:rPr lang="en-US" b="1" dirty="0" smtClean="0"/>
              <a:t>)</a:t>
            </a:r>
          </a:p>
          <a:p>
            <a:pPr algn="just"/>
            <a:endParaRPr lang="en-US" b="1" dirty="0"/>
          </a:p>
          <a:p>
            <a:pPr lvl="1"/>
            <a:r>
              <a:rPr lang="en-US" dirty="0"/>
              <a:t>preemptive priority-based scheduling, </a:t>
            </a:r>
          </a:p>
          <a:p>
            <a:pPr lvl="1"/>
            <a:r>
              <a:rPr lang="en-US" dirty="0" smtClean="0"/>
              <a:t>round-robin scheduling</a:t>
            </a:r>
            <a:endParaRPr lang="en-US" b="1" dirty="0"/>
          </a:p>
        </p:txBody>
      </p:sp>
    </p:spTree>
    <p:extLst>
      <p:ext uri="{BB962C8B-B14F-4D97-AF65-F5344CB8AC3E}">
        <p14:creationId xmlns:p14="http://schemas.microsoft.com/office/powerpoint/2010/main" val="19598671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Scheduling Algorithms</a:t>
            </a:r>
            <a:br>
              <a:rPr lang="en-US" sz="2400" dirty="0"/>
            </a:br>
            <a:r>
              <a:rPr lang="en-US" sz="3200" b="1" dirty="0"/>
              <a:t>Preemptive Priority-Based Scheduling</a:t>
            </a:r>
            <a:endParaRPr lang="en-US" sz="2400" dirty="0"/>
          </a:p>
        </p:txBody>
      </p:sp>
      <p:sp>
        <p:nvSpPr>
          <p:cNvPr id="3" name="Content Placeholder 2"/>
          <p:cNvSpPr>
            <a:spLocks noGrp="1"/>
          </p:cNvSpPr>
          <p:nvPr>
            <p:ph idx="1"/>
          </p:nvPr>
        </p:nvSpPr>
        <p:spPr>
          <a:xfrm>
            <a:off x="2351700" y="2052926"/>
            <a:ext cx="7478100" cy="4195481"/>
          </a:xfrm>
        </p:spPr>
        <p:txBody>
          <a:bodyPr>
            <a:normAutofit/>
          </a:bodyPr>
          <a:lstStyle/>
          <a:p>
            <a:pPr marL="0" indent="0">
              <a:buNone/>
            </a:pPr>
            <a:r>
              <a:rPr lang="en-US" i="1" dirty="0">
                <a:solidFill>
                  <a:schemeClr val="accent6">
                    <a:lumMod val="20000"/>
                    <a:lumOff val="80000"/>
                  </a:schemeClr>
                </a:solidFill>
                <a:effectLst>
                  <a:outerShdw blurRad="38100" dist="38100" dir="2700000" algn="tl">
                    <a:srgbClr val="000000">
                      <a:alpha val="43137"/>
                    </a:srgbClr>
                  </a:outerShdw>
                </a:effectLst>
              </a:rPr>
              <a:t>The task with the highest priority runs first</a:t>
            </a:r>
          </a:p>
          <a:p>
            <a:r>
              <a:rPr lang="en-US" dirty="0"/>
              <a:t>Real-time kernels generally support 256 priority levels</a:t>
            </a:r>
            <a:r>
              <a:rPr lang="en-US" dirty="0"/>
              <a:t>,</a:t>
            </a:r>
            <a:r>
              <a:rPr lang="en-US" dirty="0"/>
              <a:t> in which 0 is the highest and </a:t>
            </a:r>
            <a:r>
              <a:rPr lang="en-US" dirty="0"/>
              <a:t>255 the </a:t>
            </a:r>
            <a:r>
              <a:rPr lang="en-US" dirty="0"/>
              <a:t>lowest. </a:t>
            </a:r>
            <a:endParaRPr lang="en-US" dirty="0"/>
          </a:p>
          <a:p>
            <a:r>
              <a:rPr lang="en-US" dirty="0"/>
              <a:t>Some </a:t>
            </a:r>
            <a:r>
              <a:rPr lang="en-US" dirty="0"/>
              <a:t>kernels appoint the priorities in reverse order, where 255 is the </a:t>
            </a:r>
            <a:r>
              <a:rPr lang="en-US" dirty="0"/>
              <a:t>highest and </a:t>
            </a:r>
            <a:r>
              <a:rPr lang="en-US" dirty="0"/>
              <a:t>0 the lowest.</a:t>
            </a:r>
            <a:endParaRPr lang="en-US" i="1" dirty="0"/>
          </a:p>
        </p:txBody>
      </p:sp>
    </p:spTree>
    <p:extLst>
      <p:ext uri="{BB962C8B-B14F-4D97-AF65-F5344CB8AC3E}">
        <p14:creationId xmlns:p14="http://schemas.microsoft.com/office/powerpoint/2010/main" val="26355519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Preemptive Scheduling</a:t>
            </a:r>
            <a:endParaRPr lang="en-US" dirty="0"/>
          </a:p>
        </p:txBody>
      </p:sp>
      <p:pic>
        <p:nvPicPr>
          <p:cNvPr id="4" name="Content Placeholder 3"/>
          <p:cNvPicPr>
            <a:picLocks noGrp="1" noChangeAspect="1"/>
          </p:cNvPicPr>
          <p:nvPr>
            <p:ph idx="1"/>
          </p:nvPr>
        </p:nvPicPr>
        <p:blipFill>
          <a:blip r:embed="rId2"/>
          <a:stretch>
            <a:fillRect/>
          </a:stretch>
        </p:blipFill>
        <p:spPr>
          <a:xfrm>
            <a:off x="2036784" y="2362200"/>
            <a:ext cx="7920990" cy="3200400"/>
          </a:xfrm>
          <a:prstGeom prst="rect">
            <a:avLst/>
          </a:prstGeom>
        </p:spPr>
      </p:pic>
    </p:spTree>
    <p:extLst>
      <p:ext uri="{BB962C8B-B14F-4D97-AF65-F5344CB8AC3E}">
        <p14:creationId xmlns:p14="http://schemas.microsoft.com/office/powerpoint/2010/main" val="12541145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Preemptive </a:t>
            </a:r>
            <a:r>
              <a:rPr lang="en-US" sz="3200" dirty="0"/>
              <a:t>Scheduling </a:t>
            </a:r>
            <a:r>
              <a:rPr lang="en-US" sz="2400" dirty="0"/>
              <a:t>(contd.)</a:t>
            </a:r>
            <a:endParaRPr lang="en-US" dirty="0"/>
          </a:p>
        </p:txBody>
      </p:sp>
      <p:sp>
        <p:nvSpPr>
          <p:cNvPr id="3" name="Content Placeholder 2"/>
          <p:cNvSpPr>
            <a:spLocks noGrp="1"/>
          </p:cNvSpPr>
          <p:nvPr>
            <p:ph idx="1"/>
          </p:nvPr>
        </p:nvSpPr>
        <p:spPr>
          <a:xfrm>
            <a:off x="2351700" y="1219201"/>
            <a:ext cx="7935300" cy="5029206"/>
          </a:xfrm>
        </p:spPr>
        <p:txBody>
          <a:bodyPr/>
          <a:lstStyle/>
          <a:p>
            <a:r>
              <a:rPr lang="en-US" dirty="0"/>
              <a:t>tasks are assigned a priority when they are </a:t>
            </a:r>
            <a:r>
              <a:rPr lang="en-US" dirty="0" smtClean="0"/>
              <a:t>created</a:t>
            </a:r>
          </a:p>
          <a:p>
            <a:r>
              <a:rPr lang="en-US" dirty="0" smtClean="0"/>
              <a:t>a </a:t>
            </a:r>
            <a:r>
              <a:rPr lang="en-US" dirty="0"/>
              <a:t>task’s priority can </a:t>
            </a:r>
            <a:r>
              <a:rPr lang="en-US" dirty="0" smtClean="0"/>
              <a:t>be changed </a:t>
            </a:r>
            <a:r>
              <a:rPr lang="en-US" dirty="0"/>
              <a:t>dynamically using kernel-provided </a:t>
            </a:r>
            <a:r>
              <a:rPr lang="en-US" dirty="0" smtClean="0"/>
              <a:t>calls</a:t>
            </a:r>
          </a:p>
          <a:p>
            <a:r>
              <a:rPr lang="en-US" dirty="0" smtClean="0"/>
              <a:t>This adds flexibility in embedded systems to </a:t>
            </a:r>
            <a:r>
              <a:rPr lang="en-US" dirty="0"/>
              <a:t>adjust to external </a:t>
            </a:r>
            <a:r>
              <a:rPr lang="en-US" dirty="0" smtClean="0"/>
              <a:t>events as </a:t>
            </a:r>
            <a:r>
              <a:rPr lang="en-US" dirty="0"/>
              <a:t>they occur, creating a true real-time, responsive system. </a:t>
            </a:r>
            <a:endParaRPr lang="en-US" dirty="0" smtClean="0"/>
          </a:p>
          <a:p>
            <a:r>
              <a:rPr lang="en-US" dirty="0" smtClean="0"/>
              <a:t>Misuse of this </a:t>
            </a:r>
            <a:r>
              <a:rPr lang="en-US" dirty="0"/>
              <a:t>capability can lead to priority inversions, deadlock, and eventual system failure.</a:t>
            </a:r>
          </a:p>
        </p:txBody>
      </p:sp>
    </p:spTree>
    <p:extLst>
      <p:ext uri="{BB962C8B-B14F-4D97-AF65-F5344CB8AC3E}">
        <p14:creationId xmlns:p14="http://schemas.microsoft.com/office/powerpoint/2010/main" val="21801608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7958" y="139890"/>
            <a:ext cx="10018713" cy="1752599"/>
          </a:xfrm>
        </p:spPr>
        <p:txBody>
          <a:bodyPr/>
          <a:lstStyle/>
          <a:p>
            <a:r>
              <a:rPr lang="en-US" sz="2400" dirty="0"/>
              <a:t>Scheduling Algorithms</a:t>
            </a:r>
            <a:br>
              <a:rPr lang="en-US" sz="2400" dirty="0"/>
            </a:br>
            <a:r>
              <a:rPr lang="en-US" sz="3200" b="1" dirty="0"/>
              <a:t>Round Robin Scheduling</a:t>
            </a:r>
            <a:endParaRPr lang="en-US" sz="2400" dirty="0"/>
          </a:p>
        </p:txBody>
      </p:sp>
      <p:sp>
        <p:nvSpPr>
          <p:cNvPr id="3" name="Content Placeholder 2"/>
          <p:cNvSpPr>
            <a:spLocks noGrp="1"/>
          </p:cNvSpPr>
          <p:nvPr>
            <p:ph idx="1"/>
          </p:nvPr>
        </p:nvSpPr>
        <p:spPr>
          <a:xfrm>
            <a:off x="2008710" y="1676401"/>
            <a:ext cx="8087700" cy="4195481"/>
          </a:xfrm>
        </p:spPr>
        <p:txBody>
          <a:bodyPr>
            <a:normAutofit lnSpcReduction="10000"/>
          </a:bodyPr>
          <a:lstStyle/>
          <a:p>
            <a:pPr marL="0" indent="0">
              <a:buNone/>
            </a:pPr>
            <a:r>
              <a:rPr lang="en-US" i="1" dirty="0">
                <a:solidFill>
                  <a:srgbClr val="FF0000"/>
                </a:solidFill>
              </a:rPr>
              <a:t>Round-robin scheduling provides each task an equal share of the CPU execution </a:t>
            </a:r>
            <a:r>
              <a:rPr lang="en-US" i="1" dirty="0">
                <a:solidFill>
                  <a:srgbClr val="FF0000"/>
                </a:solidFill>
              </a:rPr>
              <a:t>time</a:t>
            </a:r>
          </a:p>
          <a:p>
            <a:pPr marL="0" indent="0">
              <a:buNone/>
            </a:pPr>
            <a:endParaRPr lang="en-US" dirty="0"/>
          </a:p>
          <a:p>
            <a:r>
              <a:rPr lang="en-US" dirty="0"/>
              <a:t>Pure round-robin scheduling cannot satisfy real-time system requirements because </a:t>
            </a:r>
            <a:r>
              <a:rPr lang="en-US" dirty="0"/>
              <a:t>tasks </a:t>
            </a:r>
            <a:r>
              <a:rPr lang="en-US" dirty="0"/>
              <a:t>perform work of varying degrees of </a:t>
            </a:r>
            <a:r>
              <a:rPr lang="en-US" dirty="0"/>
              <a:t>importance</a:t>
            </a:r>
          </a:p>
          <a:p>
            <a:endParaRPr lang="en-US" dirty="0"/>
          </a:p>
          <a:p>
            <a:r>
              <a:rPr lang="en-US" dirty="0"/>
              <a:t>priority-based scheduling can be augmented with round-robin </a:t>
            </a:r>
            <a:r>
              <a:rPr lang="en-US" dirty="0"/>
              <a:t>scheduling which </a:t>
            </a:r>
            <a:r>
              <a:rPr lang="en-US" dirty="0"/>
              <a:t>uses time slicing to achieve equal allocation of the CPU for tasks of the same priority</a:t>
            </a:r>
          </a:p>
        </p:txBody>
      </p:sp>
    </p:spTree>
    <p:extLst>
      <p:ext uri="{BB962C8B-B14F-4D97-AF65-F5344CB8AC3E}">
        <p14:creationId xmlns:p14="http://schemas.microsoft.com/office/powerpoint/2010/main" val="39357266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t>Round Robin Scheduling</a:t>
            </a:r>
            <a:endParaRPr lang="en-US" dirty="0"/>
          </a:p>
        </p:txBody>
      </p:sp>
      <p:pic>
        <p:nvPicPr>
          <p:cNvPr id="4" name="Content Placeholder 3"/>
          <p:cNvPicPr>
            <a:picLocks noGrp="1" noChangeAspect="1"/>
          </p:cNvPicPr>
          <p:nvPr>
            <p:ph idx="1"/>
          </p:nvPr>
        </p:nvPicPr>
        <p:blipFill>
          <a:blip r:embed="rId2"/>
          <a:stretch>
            <a:fillRect/>
          </a:stretch>
        </p:blipFill>
        <p:spPr>
          <a:xfrm>
            <a:off x="2133600" y="2133600"/>
            <a:ext cx="7588566" cy="3078178"/>
          </a:xfrm>
          <a:prstGeom prst="rect">
            <a:avLst/>
          </a:prstGeom>
        </p:spPr>
      </p:pic>
    </p:spTree>
    <p:extLst>
      <p:ext uri="{BB962C8B-B14F-4D97-AF65-F5344CB8AC3E}">
        <p14:creationId xmlns:p14="http://schemas.microsoft.com/office/powerpoint/2010/main" val="2739057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452718"/>
            <a:ext cx="7055380" cy="766482"/>
          </a:xfrm>
        </p:spPr>
        <p:txBody>
          <a:bodyPr/>
          <a:lstStyle/>
          <a:p>
            <a:r>
              <a:rPr lang="en-US" sz="2800" dirty="0"/>
              <a:t>Round Robin Scheduling (contd.)</a:t>
            </a:r>
            <a:endParaRPr lang="en-US" dirty="0"/>
          </a:p>
        </p:txBody>
      </p:sp>
      <p:sp>
        <p:nvSpPr>
          <p:cNvPr id="3" name="Content Placeholder 2"/>
          <p:cNvSpPr>
            <a:spLocks noGrp="1"/>
          </p:cNvSpPr>
          <p:nvPr>
            <p:ph idx="1"/>
          </p:nvPr>
        </p:nvSpPr>
        <p:spPr>
          <a:xfrm>
            <a:off x="2351700" y="1143001"/>
            <a:ext cx="6711654" cy="5105406"/>
          </a:xfrm>
        </p:spPr>
        <p:txBody>
          <a:bodyPr>
            <a:normAutofit fontScale="92500" lnSpcReduction="10000"/>
          </a:bodyPr>
          <a:lstStyle/>
          <a:p>
            <a:r>
              <a:rPr lang="en-US" dirty="0"/>
              <a:t>With time slicing, each task executes for a defined interval, or time slice, in an </a:t>
            </a:r>
            <a:r>
              <a:rPr lang="en-US" dirty="0" smtClean="0"/>
              <a:t>ongoing cycle</a:t>
            </a:r>
            <a:r>
              <a:rPr lang="en-US" dirty="0"/>
              <a:t>, which is the round robin. </a:t>
            </a:r>
            <a:endParaRPr lang="en-US" dirty="0" smtClean="0"/>
          </a:p>
          <a:p>
            <a:r>
              <a:rPr lang="en-US" dirty="0" smtClean="0"/>
              <a:t>A </a:t>
            </a:r>
            <a:r>
              <a:rPr lang="en-US" dirty="0"/>
              <a:t>run-time counter tracks the time slice for each </a:t>
            </a:r>
            <a:r>
              <a:rPr lang="en-US" dirty="0" smtClean="0"/>
              <a:t>task, incrementing </a:t>
            </a:r>
            <a:r>
              <a:rPr lang="en-US" dirty="0"/>
              <a:t>on every clock tick. When one task’s time slice completes, the counter </a:t>
            </a:r>
            <a:r>
              <a:rPr lang="en-US" dirty="0" smtClean="0"/>
              <a:t>is cleared</a:t>
            </a:r>
            <a:r>
              <a:rPr lang="en-US" dirty="0"/>
              <a:t>, and the task is placed at the end of the cycle. </a:t>
            </a:r>
            <a:endParaRPr lang="en-US" dirty="0" smtClean="0"/>
          </a:p>
          <a:p>
            <a:r>
              <a:rPr lang="en-US" dirty="0" smtClean="0"/>
              <a:t>Newly </a:t>
            </a:r>
            <a:r>
              <a:rPr lang="en-US" dirty="0"/>
              <a:t>added tasks of the same </a:t>
            </a:r>
            <a:r>
              <a:rPr lang="en-US" dirty="0" smtClean="0"/>
              <a:t>priority are </a:t>
            </a:r>
            <a:r>
              <a:rPr lang="en-US" dirty="0"/>
              <a:t>placed at the end of the cycle, with their run-time counters initialized to 0.</a:t>
            </a:r>
          </a:p>
          <a:p>
            <a:r>
              <a:rPr lang="en-US" dirty="0"/>
              <a:t>If a task in a round-robin cycle is preempted by a higher-priority task, its run-time </a:t>
            </a:r>
            <a:r>
              <a:rPr lang="en-US" dirty="0" smtClean="0"/>
              <a:t>count is </a:t>
            </a:r>
            <a:r>
              <a:rPr lang="en-US" dirty="0"/>
              <a:t>saved and then restored when the interrupted task is again eligible for execution. </a:t>
            </a:r>
          </a:p>
        </p:txBody>
      </p:sp>
    </p:spTree>
    <p:extLst>
      <p:ext uri="{BB962C8B-B14F-4D97-AF65-F5344CB8AC3E}">
        <p14:creationId xmlns:p14="http://schemas.microsoft.com/office/powerpoint/2010/main" val="1262073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Objects</a:t>
            </a:r>
            <a:endParaRPr lang="en-US" dirty="0"/>
          </a:p>
        </p:txBody>
      </p:sp>
      <p:sp>
        <p:nvSpPr>
          <p:cNvPr id="3" name="Content Placeholder 2"/>
          <p:cNvSpPr>
            <a:spLocks noGrp="1"/>
          </p:cNvSpPr>
          <p:nvPr>
            <p:ph idx="1"/>
          </p:nvPr>
        </p:nvSpPr>
        <p:spPr>
          <a:xfrm>
            <a:off x="2351700" y="1447801"/>
            <a:ext cx="7706700" cy="4800606"/>
          </a:xfrm>
        </p:spPr>
        <p:txBody>
          <a:bodyPr/>
          <a:lstStyle/>
          <a:p>
            <a:pPr marL="0" indent="0">
              <a:buNone/>
            </a:pPr>
            <a:r>
              <a:rPr lang="en-US" i="1" dirty="0">
                <a:solidFill>
                  <a:srgbClr val="FF0000"/>
                </a:solidFill>
              </a:rPr>
              <a:t>Kernel objects are special constructs that are the building blocks for application development</a:t>
            </a:r>
          </a:p>
          <a:p>
            <a:r>
              <a:rPr lang="en-US" dirty="0"/>
              <a:t>for real-time embedded systems. </a:t>
            </a:r>
            <a:r>
              <a:rPr lang="en-US" dirty="0" smtClean="0"/>
              <a:t>Examples: </a:t>
            </a:r>
          </a:p>
          <a:p>
            <a:pPr lvl="1"/>
            <a:r>
              <a:rPr lang="en-US" dirty="0" smtClean="0"/>
              <a:t>tasks, </a:t>
            </a:r>
          </a:p>
          <a:p>
            <a:pPr lvl="1"/>
            <a:r>
              <a:rPr lang="en-US" dirty="0" smtClean="0"/>
              <a:t>semaphores </a:t>
            </a:r>
          </a:p>
          <a:p>
            <a:pPr lvl="1"/>
            <a:r>
              <a:rPr lang="en-US" dirty="0" smtClean="0"/>
              <a:t>message queues.</a:t>
            </a:r>
            <a:endParaRPr lang="en-US" dirty="0"/>
          </a:p>
        </p:txBody>
      </p:sp>
    </p:spTree>
    <p:extLst>
      <p:ext uri="{BB962C8B-B14F-4D97-AF65-F5344CB8AC3E}">
        <p14:creationId xmlns:p14="http://schemas.microsoft.com/office/powerpoint/2010/main" val="9010434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452718"/>
            <a:ext cx="7055380" cy="537882"/>
          </a:xfrm>
        </p:spPr>
        <p:txBody>
          <a:bodyPr/>
          <a:lstStyle/>
          <a:p>
            <a:r>
              <a:rPr lang="en-US" sz="2800" dirty="0"/>
              <a:t>Objects (contd.)</a:t>
            </a:r>
            <a:endParaRPr lang="en-US" sz="2800" dirty="0"/>
          </a:p>
        </p:txBody>
      </p:sp>
      <p:sp>
        <p:nvSpPr>
          <p:cNvPr id="3" name="Content Placeholder 2"/>
          <p:cNvSpPr>
            <a:spLocks noGrp="1"/>
          </p:cNvSpPr>
          <p:nvPr>
            <p:ph idx="1"/>
          </p:nvPr>
        </p:nvSpPr>
        <p:spPr>
          <a:xfrm>
            <a:off x="2351700" y="990601"/>
            <a:ext cx="8011500" cy="5257806"/>
          </a:xfrm>
        </p:spPr>
        <p:txBody>
          <a:bodyPr/>
          <a:lstStyle/>
          <a:p>
            <a:r>
              <a:rPr lang="en-US" b="1" dirty="0"/>
              <a:t>Tasks—</a:t>
            </a:r>
            <a:r>
              <a:rPr lang="en-US" dirty="0"/>
              <a:t>are concurrent and independent threads of execution that can compete </a:t>
            </a:r>
            <a:r>
              <a:rPr lang="en-US" dirty="0" smtClean="0"/>
              <a:t>for CPU </a:t>
            </a:r>
            <a:r>
              <a:rPr lang="en-US" dirty="0"/>
              <a:t>execution time.</a:t>
            </a:r>
          </a:p>
          <a:p>
            <a:r>
              <a:rPr lang="en-US" b="1" dirty="0" smtClean="0"/>
              <a:t>Semaphores—</a:t>
            </a:r>
            <a:r>
              <a:rPr lang="en-US" dirty="0" smtClean="0"/>
              <a:t>are </a:t>
            </a:r>
            <a:r>
              <a:rPr lang="en-US" dirty="0"/>
              <a:t>token-like objects that can be incremented or decremented by </a:t>
            </a:r>
            <a:r>
              <a:rPr lang="en-US" dirty="0" smtClean="0"/>
              <a:t>tasks for </a:t>
            </a:r>
            <a:r>
              <a:rPr lang="en-US" dirty="0"/>
              <a:t>synchronization or mutual exclusion.</a:t>
            </a:r>
          </a:p>
          <a:p>
            <a:r>
              <a:rPr lang="en-US" b="1" dirty="0" smtClean="0"/>
              <a:t>Message </a:t>
            </a:r>
            <a:r>
              <a:rPr lang="en-US" b="1" dirty="0"/>
              <a:t>Queues—</a:t>
            </a:r>
            <a:r>
              <a:rPr lang="en-US" dirty="0"/>
              <a:t>are buffer-like data structures that can be used for </a:t>
            </a:r>
            <a:r>
              <a:rPr lang="en-US" dirty="0" smtClean="0"/>
              <a:t>synchronization, mutual </a:t>
            </a:r>
            <a:r>
              <a:rPr lang="en-US" dirty="0"/>
              <a:t>exclusion, and data exchange by passing messages between tasks.</a:t>
            </a:r>
          </a:p>
        </p:txBody>
      </p:sp>
      <p:sp>
        <p:nvSpPr>
          <p:cNvPr id="4" name="Rectangle 3"/>
          <p:cNvSpPr/>
          <p:nvPr/>
        </p:nvSpPr>
        <p:spPr>
          <a:xfrm>
            <a:off x="2172483" y="5512558"/>
            <a:ext cx="797349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concurrency, activity synchronization, and data communication.</a:t>
            </a:r>
          </a:p>
        </p:txBody>
      </p:sp>
    </p:spTree>
    <p:extLst>
      <p:ext uri="{BB962C8B-B14F-4D97-AF65-F5344CB8AC3E}">
        <p14:creationId xmlns:p14="http://schemas.microsoft.com/office/powerpoint/2010/main" val="726295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Services</a:t>
            </a:r>
            <a:endParaRPr lang="en-US" dirty="0"/>
          </a:p>
        </p:txBody>
      </p:sp>
      <p:sp>
        <p:nvSpPr>
          <p:cNvPr id="3" name="Content Placeholder 2"/>
          <p:cNvSpPr>
            <a:spLocks noGrp="1"/>
          </p:cNvSpPr>
          <p:nvPr>
            <p:ph idx="1"/>
          </p:nvPr>
        </p:nvSpPr>
        <p:spPr>
          <a:xfrm>
            <a:off x="2351700" y="1447801"/>
            <a:ext cx="7478100" cy="4800606"/>
          </a:xfrm>
        </p:spPr>
        <p:txBody>
          <a:bodyPr/>
          <a:lstStyle/>
          <a:p>
            <a:r>
              <a:rPr lang="en-US" b="1" dirty="0" smtClean="0"/>
              <a:t>operations that the kernel performs on an object </a:t>
            </a:r>
            <a:endParaRPr lang="en-US" dirty="0" smtClean="0"/>
          </a:p>
          <a:p>
            <a:endParaRPr lang="en-US" dirty="0"/>
          </a:p>
          <a:p>
            <a:r>
              <a:rPr lang="en-US" dirty="0" smtClean="0"/>
              <a:t>Examples:  </a:t>
            </a:r>
          </a:p>
          <a:p>
            <a:pPr lvl="1"/>
            <a:r>
              <a:rPr lang="en-US" dirty="0" smtClean="0"/>
              <a:t>Timer management</a:t>
            </a:r>
          </a:p>
          <a:p>
            <a:pPr lvl="1"/>
            <a:r>
              <a:rPr lang="en-US" dirty="0" smtClean="0"/>
              <a:t>interrupt handling</a:t>
            </a:r>
          </a:p>
          <a:p>
            <a:pPr lvl="1"/>
            <a:r>
              <a:rPr lang="en-US" dirty="0" smtClean="0"/>
              <a:t>Device I/O</a:t>
            </a:r>
          </a:p>
          <a:p>
            <a:pPr lvl="1"/>
            <a:r>
              <a:rPr lang="en-US" dirty="0" smtClean="0"/>
              <a:t>resource management.</a:t>
            </a:r>
            <a:endParaRPr lang="en-US" dirty="0"/>
          </a:p>
        </p:txBody>
      </p:sp>
    </p:spTree>
    <p:extLst>
      <p:ext uri="{BB962C8B-B14F-4D97-AF65-F5344CB8AC3E}">
        <p14:creationId xmlns:p14="http://schemas.microsoft.com/office/powerpoint/2010/main" val="2023109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characteristics of RTOS</a:t>
            </a:r>
            <a:endParaRPr lang="en-US" dirty="0"/>
          </a:p>
        </p:txBody>
      </p:sp>
      <p:sp>
        <p:nvSpPr>
          <p:cNvPr id="3" name="Content Placeholder 2"/>
          <p:cNvSpPr>
            <a:spLocks noGrp="1"/>
          </p:cNvSpPr>
          <p:nvPr>
            <p:ph idx="1"/>
          </p:nvPr>
        </p:nvSpPr>
        <p:spPr/>
        <p:txBody>
          <a:bodyPr/>
          <a:lstStyle/>
          <a:p>
            <a:r>
              <a:rPr lang="en-US" dirty="0" smtClean="0"/>
              <a:t>reliability</a:t>
            </a:r>
            <a:r>
              <a:rPr lang="en-US" dirty="0"/>
              <a:t>,</a:t>
            </a:r>
          </a:p>
          <a:p>
            <a:r>
              <a:rPr lang="en-US" dirty="0" smtClean="0"/>
              <a:t>predictability</a:t>
            </a:r>
            <a:r>
              <a:rPr lang="en-US" dirty="0"/>
              <a:t>,</a:t>
            </a:r>
          </a:p>
          <a:p>
            <a:r>
              <a:rPr lang="en-US" dirty="0" smtClean="0"/>
              <a:t>performance</a:t>
            </a:r>
            <a:r>
              <a:rPr lang="en-US" dirty="0"/>
              <a:t>,</a:t>
            </a:r>
          </a:p>
          <a:p>
            <a:r>
              <a:rPr lang="en-US" dirty="0" smtClean="0"/>
              <a:t>compactness</a:t>
            </a:r>
            <a:r>
              <a:rPr lang="en-US" dirty="0"/>
              <a:t>, and</a:t>
            </a:r>
          </a:p>
          <a:p>
            <a:r>
              <a:rPr lang="en-US" dirty="0" smtClean="0"/>
              <a:t>scalability</a:t>
            </a:r>
            <a:r>
              <a:rPr lang="en-US" dirty="0"/>
              <a:t>.</a:t>
            </a:r>
          </a:p>
        </p:txBody>
      </p:sp>
    </p:spTree>
    <p:extLst>
      <p:ext uri="{BB962C8B-B14F-4D97-AF65-F5344CB8AC3E}">
        <p14:creationId xmlns:p14="http://schemas.microsoft.com/office/powerpoint/2010/main" val="7154622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characteristics of </a:t>
            </a:r>
            <a:r>
              <a:rPr lang="en-US" sz="2800" dirty="0"/>
              <a:t>RTOS: </a:t>
            </a:r>
            <a:r>
              <a:rPr lang="en-US" b="1" dirty="0" smtClean="0"/>
              <a:t>Reliability</a:t>
            </a:r>
            <a:endParaRPr lang="en-US" b="1" dirty="0"/>
          </a:p>
        </p:txBody>
      </p:sp>
      <p:sp>
        <p:nvSpPr>
          <p:cNvPr id="3" name="Content Placeholder 2"/>
          <p:cNvSpPr>
            <a:spLocks noGrp="1"/>
          </p:cNvSpPr>
          <p:nvPr>
            <p:ph idx="1"/>
          </p:nvPr>
        </p:nvSpPr>
        <p:spPr>
          <a:xfrm>
            <a:off x="2351700" y="1447801"/>
            <a:ext cx="6711654" cy="4800606"/>
          </a:xfrm>
        </p:spPr>
        <p:txBody>
          <a:bodyPr/>
          <a:lstStyle/>
          <a:p>
            <a:r>
              <a:rPr lang="en-US" dirty="0"/>
              <a:t>a reliable </a:t>
            </a:r>
            <a:r>
              <a:rPr lang="en-US" dirty="0" smtClean="0"/>
              <a:t>system is </a:t>
            </a:r>
            <a:r>
              <a:rPr lang="en-US" dirty="0"/>
              <a:t>one that is available (continues to provide service) and does not </a:t>
            </a:r>
            <a:r>
              <a:rPr lang="en-US" dirty="0" smtClean="0"/>
              <a:t>fail</a:t>
            </a:r>
          </a:p>
          <a:p>
            <a:endParaRPr lang="en-US" dirty="0"/>
          </a:p>
        </p:txBody>
      </p:sp>
    </p:spTree>
    <p:extLst>
      <p:ext uri="{BB962C8B-B14F-4D97-AF65-F5344CB8AC3E}">
        <p14:creationId xmlns:p14="http://schemas.microsoft.com/office/powerpoint/2010/main" val="21264174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characteristics of RTOS</a:t>
            </a:r>
            <a:r>
              <a:rPr lang="en-US" sz="2000" dirty="0"/>
              <a:t>:</a:t>
            </a:r>
            <a:r>
              <a:rPr lang="en-US" sz="2800" dirty="0"/>
              <a:t> </a:t>
            </a:r>
            <a:r>
              <a:rPr lang="en-US" sz="3600" dirty="0"/>
              <a:t>Predictability </a:t>
            </a:r>
            <a:endParaRPr lang="en-US" sz="2800" dirty="0"/>
          </a:p>
        </p:txBody>
      </p:sp>
      <p:sp>
        <p:nvSpPr>
          <p:cNvPr id="3" name="Content Placeholder 2"/>
          <p:cNvSpPr>
            <a:spLocks noGrp="1"/>
          </p:cNvSpPr>
          <p:nvPr>
            <p:ph idx="1"/>
          </p:nvPr>
        </p:nvSpPr>
        <p:spPr>
          <a:xfrm>
            <a:off x="2351700" y="2052926"/>
            <a:ext cx="7782900" cy="4195481"/>
          </a:xfrm>
        </p:spPr>
        <p:txBody>
          <a:bodyPr>
            <a:normAutofit/>
          </a:bodyPr>
          <a:lstStyle/>
          <a:p>
            <a:r>
              <a:rPr lang="en-US" dirty="0" smtClean="0"/>
              <a:t>Meeting </a:t>
            </a:r>
            <a:r>
              <a:rPr lang="en-US" dirty="0"/>
              <a:t>time </a:t>
            </a:r>
            <a:r>
              <a:rPr lang="en-US" dirty="0" smtClean="0"/>
              <a:t>requirements is </a:t>
            </a:r>
            <a:r>
              <a:rPr lang="en-US" dirty="0"/>
              <a:t>key to ensuring proper </a:t>
            </a:r>
            <a:r>
              <a:rPr lang="en-US" dirty="0" smtClean="0"/>
              <a:t>operation</a:t>
            </a:r>
          </a:p>
          <a:p>
            <a:r>
              <a:rPr lang="en-US" dirty="0" smtClean="0"/>
              <a:t>The </a:t>
            </a:r>
            <a:r>
              <a:rPr lang="en-US" dirty="0"/>
              <a:t>RTOS </a:t>
            </a:r>
            <a:r>
              <a:rPr lang="en-US" dirty="0" smtClean="0"/>
              <a:t>needs </a:t>
            </a:r>
            <a:r>
              <a:rPr lang="en-US" dirty="0"/>
              <a:t>to be </a:t>
            </a:r>
            <a:r>
              <a:rPr lang="en-US" dirty="0" smtClean="0"/>
              <a:t>predictable to </a:t>
            </a:r>
            <a:r>
              <a:rPr lang="en-US" dirty="0"/>
              <a:t>a certain </a:t>
            </a:r>
            <a:r>
              <a:rPr lang="en-US" dirty="0" smtClean="0"/>
              <a:t>degree</a:t>
            </a:r>
            <a:r>
              <a:rPr lang="en-US" dirty="0"/>
              <a:t> </a:t>
            </a:r>
            <a:r>
              <a:rPr lang="en-US" dirty="0" smtClean="0"/>
              <a:t>to satisfy real time behavior</a:t>
            </a:r>
          </a:p>
          <a:p>
            <a:r>
              <a:rPr lang="en-US" dirty="0" smtClean="0"/>
              <a:t>The </a:t>
            </a:r>
            <a:r>
              <a:rPr lang="en-US" dirty="0"/>
              <a:t>predictable/deterministic behavior of </a:t>
            </a:r>
            <a:r>
              <a:rPr lang="en-US" dirty="0" smtClean="0"/>
              <a:t>RTOS will </a:t>
            </a:r>
            <a:r>
              <a:rPr lang="en-US" dirty="0"/>
              <a:t>give some of consistent information </a:t>
            </a:r>
            <a:r>
              <a:rPr lang="en-US" dirty="0" smtClean="0"/>
              <a:t>about the </a:t>
            </a:r>
            <a:r>
              <a:rPr lang="en-US" dirty="0"/>
              <a:t>response to different system calls</a:t>
            </a:r>
          </a:p>
          <a:p>
            <a:r>
              <a:rPr lang="en-US" dirty="0" smtClean="0"/>
              <a:t>In </a:t>
            </a:r>
            <a:r>
              <a:rPr lang="en-US" dirty="0"/>
              <a:t>good deterministic RTOS the variance </a:t>
            </a:r>
            <a:r>
              <a:rPr lang="en-US" dirty="0" smtClean="0"/>
              <a:t>of response </a:t>
            </a:r>
            <a:r>
              <a:rPr lang="en-US" dirty="0"/>
              <a:t>time to different system call should </a:t>
            </a:r>
            <a:r>
              <a:rPr lang="en-US" dirty="0" smtClean="0"/>
              <a:t>be very </a:t>
            </a:r>
            <a:r>
              <a:rPr lang="en-US" dirty="0"/>
              <a:t>small.</a:t>
            </a:r>
          </a:p>
        </p:txBody>
      </p:sp>
    </p:spTree>
    <p:extLst>
      <p:ext uri="{BB962C8B-B14F-4D97-AF65-F5344CB8AC3E}">
        <p14:creationId xmlns:p14="http://schemas.microsoft.com/office/powerpoint/2010/main" val="31207029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4878" y="235424"/>
            <a:ext cx="10018713" cy="1752599"/>
          </a:xfrm>
        </p:spPr>
        <p:txBody>
          <a:bodyPr/>
          <a:lstStyle/>
          <a:p>
            <a:r>
              <a:rPr lang="en-US" sz="2000" dirty="0"/>
              <a:t>characteristics of RTOS</a:t>
            </a:r>
            <a:r>
              <a:rPr lang="en-US" sz="2000" dirty="0"/>
              <a:t>:</a:t>
            </a:r>
            <a:r>
              <a:rPr lang="en-US" sz="2800" dirty="0"/>
              <a:t> </a:t>
            </a:r>
            <a:r>
              <a:rPr lang="en-US" sz="3600" dirty="0"/>
              <a:t>Performance</a:t>
            </a:r>
            <a:endParaRPr lang="en-US" sz="2800" dirty="0"/>
          </a:p>
        </p:txBody>
      </p:sp>
      <p:sp>
        <p:nvSpPr>
          <p:cNvPr id="3" name="Content Placeholder 2"/>
          <p:cNvSpPr>
            <a:spLocks noGrp="1"/>
          </p:cNvSpPr>
          <p:nvPr>
            <p:ph idx="1"/>
          </p:nvPr>
        </p:nvSpPr>
        <p:spPr>
          <a:xfrm>
            <a:off x="2297109" y="1562099"/>
            <a:ext cx="7782900" cy="5029206"/>
          </a:xfrm>
        </p:spPr>
        <p:txBody>
          <a:bodyPr>
            <a:normAutofit/>
          </a:bodyPr>
          <a:lstStyle/>
          <a:p>
            <a:r>
              <a:rPr lang="en-US" dirty="0" smtClean="0"/>
              <a:t>An embedded </a:t>
            </a:r>
            <a:r>
              <a:rPr lang="en-US" dirty="0"/>
              <a:t>system must perform fast enough to </a:t>
            </a:r>
            <a:r>
              <a:rPr lang="en-US" dirty="0" smtClean="0"/>
              <a:t>fulfill its </a:t>
            </a:r>
            <a:r>
              <a:rPr lang="en-US" dirty="0"/>
              <a:t>timing requirements. Typically, the more deadlines to be met—and the shorter </a:t>
            </a:r>
            <a:r>
              <a:rPr lang="en-US" dirty="0" smtClean="0"/>
              <a:t>the time </a:t>
            </a:r>
            <a:r>
              <a:rPr lang="en-US" dirty="0"/>
              <a:t>between them—the faster the system’s CPU must be. </a:t>
            </a:r>
            <a:endParaRPr lang="en-US" dirty="0" smtClean="0"/>
          </a:p>
          <a:p>
            <a:r>
              <a:rPr lang="en-US" dirty="0" smtClean="0"/>
              <a:t>Software </a:t>
            </a:r>
            <a:r>
              <a:rPr lang="en-US" dirty="0"/>
              <a:t>can also contribute to </a:t>
            </a:r>
            <a:r>
              <a:rPr lang="en-US" dirty="0" smtClean="0"/>
              <a:t>system performance</a:t>
            </a:r>
            <a:r>
              <a:rPr lang="en-US" dirty="0"/>
              <a:t>. </a:t>
            </a:r>
            <a:endParaRPr lang="en-US" dirty="0" smtClean="0"/>
          </a:p>
          <a:p>
            <a:r>
              <a:rPr lang="en-US" dirty="0" smtClean="0"/>
              <a:t>the </a:t>
            </a:r>
            <a:r>
              <a:rPr lang="en-US" dirty="0"/>
              <a:t>processor’s performance is expressed in million </a:t>
            </a:r>
            <a:r>
              <a:rPr lang="en-US" dirty="0" smtClean="0"/>
              <a:t>instructions per </a:t>
            </a:r>
            <a:r>
              <a:rPr lang="en-US" dirty="0"/>
              <a:t>second (</a:t>
            </a:r>
            <a:r>
              <a:rPr lang="en-US" b="1" dirty="0"/>
              <a:t>MIPS</a:t>
            </a:r>
            <a:r>
              <a:rPr lang="en-US" dirty="0"/>
              <a:t>).</a:t>
            </a:r>
          </a:p>
          <a:p>
            <a:r>
              <a:rPr lang="en-US" b="1" dirty="0"/>
              <a:t>Throughput</a:t>
            </a:r>
            <a:r>
              <a:rPr lang="en-US" dirty="0"/>
              <a:t> </a:t>
            </a:r>
            <a:r>
              <a:rPr lang="en-US" dirty="0" smtClean="0"/>
              <a:t>is </a:t>
            </a:r>
            <a:r>
              <a:rPr lang="en-US" dirty="0"/>
              <a:t>the rate at which a system can </a:t>
            </a:r>
            <a:r>
              <a:rPr lang="en-US" dirty="0" smtClean="0"/>
              <a:t>generate output </a:t>
            </a:r>
            <a:r>
              <a:rPr lang="en-US" dirty="0"/>
              <a:t>based on the inputs coming in. </a:t>
            </a:r>
            <a:r>
              <a:rPr lang="en-US" dirty="0" smtClean="0"/>
              <a:t>Data </a:t>
            </a:r>
            <a:r>
              <a:rPr lang="en-US" dirty="0"/>
              <a:t>transfer throughput is typically </a:t>
            </a:r>
            <a:r>
              <a:rPr lang="en-US" dirty="0" smtClean="0"/>
              <a:t>measured in </a:t>
            </a:r>
            <a:r>
              <a:rPr lang="en-US" dirty="0"/>
              <a:t>multiples of bits per second (bps).</a:t>
            </a:r>
          </a:p>
        </p:txBody>
      </p:sp>
    </p:spTree>
    <p:extLst>
      <p:ext uri="{BB962C8B-B14F-4D97-AF65-F5344CB8AC3E}">
        <p14:creationId xmlns:p14="http://schemas.microsoft.com/office/powerpoint/2010/main" val="9905239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characteristics of RTOS</a:t>
            </a:r>
            <a:r>
              <a:rPr lang="en-US" sz="2000" dirty="0"/>
              <a:t>:</a:t>
            </a:r>
            <a:r>
              <a:rPr lang="en-US" sz="2800" dirty="0"/>
              <a:t> </a:t>
            </a:r>
            <a:r>
              <a:rPr lang="en-US" sz="3600" dirty="0"/>
              <a:t>Compactnes</a:t>
            </a:r>
            <a:r>
              <a:rPr lang="en-US" sz="3600" dirty="0"/>
              <a:t>s</a:t>
            </a:r>
            <a:endParaRPr lang="en-US" sz="2800" dirty="0"/>
          </a:p>
        </p:txBody>
      </p:sp>
      <p:sp>
        <p:nvSpPr>
          <p:cNvPr id="3" name="Content Placeholder 2"/>
          <p:cNvSpPr>
            <a:spLocks noGrp="1"/>
          </p:cNvSpPr>
          <p:nvPr>
            <p:ph idx="1"/>
          </p:nvPr>
        </p:nvSpPr>
        <p:spPr>
          <a:xfrm>
            <a:off x="2351700" y="1219201"/>
            <a:ext cx="7782900" cy="5029206"/>
          </a:xfrm>
        </p:spPr>
        <p:txBody>
          <a:bodyPr>
            <a:normAutofit/>
          </a:bodyPr>
          <a:lstStyle/>
          <a:p>
            <a:r>
              <a:rPr lang="en-US" dirty="0"/>
              <a:t>Application design constraints and cost constraints help determine how compact </a:t>
            </a:r>
            <a:r>
              <a:rPr lang="en-US" dirty="0" smtClean="0"/>
              <a:t>an embedded </a:t>
            </a:r>
            <a:r>
              <a:rPr lang="en-US" dirty="0"/>
              <a:t>system can be. </a:t>
            </a:r>
            <a:endParaRPr lang="en-US" dirty="0" smtClean="0"/>
          </a:p>
          <a:p>
            <a:r>
              <a:rPr lang="en-US" dirty="0" smtClean="0"/>
              <a:t>Example: </a:t>
            </a:r>
          </a:p>
          <a:p>
            <a:pPr lvl="1"/>
            <a:r>
              <a:rPr lang="en-US" dirty="0" smtClean="0"/>
              <a:t>a </a:t>
            </a:r>
            <a:r>
              <a:rPr lang="en-US" dirty="0"/>
              <a:t>cell phone clearly must be small, portable, </a:t>
            </a:r>
            <a:r>
              <a:rPr lang="en-US" dirty="0" smtClean="0"/>
              <a:t>and low cost</a:t>
            </a:r>
          </a:p>
          <a:p>
            <a:pPr lvl="1"/>
            <a:r>
              <a:rPr lang="en-US" dirty="0" smtClean="0"/>
              <a:t>So limit </a:t>
            </a:r>
            <a:r>
              <a:rPr lang="en-US" dirty="0"/>
              <a:t>system memory, which </a:t>
            </a:r>
            <a:r>
              <a:rPr lang="en-US" dirty="0" smtClean="0"/>
              <a:t>limits the size of </a:t>
            </a:r>
            <a:r>
              <a:rPr lang="en-US" dirty="0"/>
              <a:t>the application and operating </a:t>
            </a:r>
            <a:r>
              <a:rPr lang="en-US" dirty="0" smtClean="0"/>
              <a:t>system</a:t>
            </a:r>
            <a:endParaRPr lang="en-US" dirty="0"/>
          </a:p>
          <a:p>
            <a:r>
              <a:rPr lang="en-US" dirty="0"/>
              <a:t>In such embedded systems, where hardware real estate is limited due to size and </a:t>
            </a:r>
            <a:r>
              <a:rPr lang="en-US" dirty="0" smtClean="0"/>
              <a:t>costs, </a:t>
            </a:r>
            <a:r>
              <a:rPr lang="en-US" b="1" dirty="0" smtClean="0"/>
              <a:t>the </a:t>
            </a:r>
            <a:r>
              <a:rPr lang="en-US" b="1" dirty="0"/>
              <a:t>RTOS clearly must be small and efficient. </a:t>
            </a:r>
          </a:p>
        </p:txBody>
      </p:sp>
    </p:spTree>
    <p:extLst>
      <p:ext uri="{BB962C8B-B14F-4D97-AF65-F5344CB8AC3E}">
        <p14:creationId xmlns:p14="http://schemas.microsoft.com/office/powerpoint/2010/main" val="31550874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9469" y="342901"/>
            <a:ext cx="10018713" cy="1752599"/>
          </a:xfrm>
        </p:spPr>
        <p:txBody>
          <a:bodyPr/>
          <a:lstStyle/>
          <a:p>
            <a:r>
              <a:rPr lang="en-US" sz="2000" dirty="0"/>
              <a:t>characteristics of RTOS</a:t>
            </a:r>
            <a:r>
              <a:rPr lang="en-US" sz="2000" dirty="0"/>
              <a:t>:</a:t>
            </a:r>
            <a:r>
              <a:rPr lang="en-US" sz="2800" dirty="0"/>
              <a:t> </a:t>
            </a:r>
            <a:r>
              <a:rPr lang="en-US" sz="3600" dirty="0"/>
              <a:t>Scalability</a:t>
            </a:r>
            <a:endParaRPr lang="en-US" sz="2800" dirty="0"/>
          </a:p>
        </p:txBody>
      </p:sp>
      <p:sp>
        <p:nvSpPr>
          <p:cNvPr id="3" name="Content Placeholder 2"/>
          <p:cNvSpPr>
            <a:spLocks noGrp="1"/>
          </p:cNvSpPr>
          <p:nvPr>
            <p:ph idx="1"/>
          </p:nvPr>
        </p:nvSpPr>
        <p:spPr>
          <a:xfrm>
            <a:off x="2351700" y="1219201"/>
            <a:ext cx="7782900" cy="5029206"/>
          </a:xfrm>
        </p:spPr>
        <p:txBody>
          <a:bodyPr>
            <a:normAutofit/>
          </a:bodyPr>
          <a:lstStyle/>
          <a:p>
            <a:r>
              <a:rPr lang="en-US" dirty="0" smtClean="0"/>
              <a:t>RTOS must be able to scale up or down to meet the application specific requirements</a:t>
            </a:r>
          </a:p>
          <a:p>
            <a:r>
              <a:rPr lang="en-US" dirty="0"/>
              <a:t>Depending on how </a:t>
            </a:r>
            <a:r>
              <a:rPr lang="en-US" dirty="0" smtClean="0"/>
              <a:t>much functionality </a:t>
            </a:r>
            <a:r>
              <a:rPr lang="en-US" dirty="0"/>
              <a:t>is required, an RTOS should be capable of adding or deleting </a:t>
            </a:r>
            <a:r>
              <a:rPr lang="en-US" dirty="0" smtClean="0"/>
              <a:t>modular components</a:t>
            </a:r>
            <a:r>
              <a:rPr lang="en-US" dirty="0"/>
              <a:t>, including file systems and protocol stacks</a:t>
            </a:r>
            <a:r>
              <a:rPr lang="en-US" dirty="0" smtClean="0"/>
              <a:t>.</a:t>
            </a:r>
          </a:p>
          <a:p>
            <a:pPr marL="0" indent="0">
              <a:buNone/>
            </a:pPr>
            <a:r>
              <a:rPr lang="en-US" b="1" dirty="0" smtClean="0">
                <a:solidFill>
                  <a:schemeClr val="accent6">
                    <a:lumMod val="40000"/>
                    <a:lumOff val="60000"/>
                  </a:schemeClr>
                </a:solidFill>
              </a:rPr>
              <a:t>Example: </a:t>
            </a:r>
          </a:p>
          <a:p>
            <a:r>
              <a:rPr lang="en-US" dirty="0"/>
              <a:t>Suppose that a development team wants to use an RTOS for the </a:t>
            </a:r>
            <a:r>
              <a:rPr lang="en-US" dirty="0" smtClean="0"/>
              <a:t>design of </a:t>
            </a:r>
            <a:r>
              <a:rPr lang="en-US" dirty="0"/>
              <a:t>a cellular phone project and a base station project. If an RTOS scales well, the </a:t>
            </a:r>
            <a:r>
              <a:rPr lang="en-US" dirty="0" smtClean="0"/>
              <a:t>same RTOS </a:t>
            </a:r>
            <a:r>
              <a:rPr lang="en-US" dirty="0"/>
              <a:t>can be used in both</a:t>
            </a:r>
            <a:endParaRPr lang="en-US" b="1" dirty="0">
              <a:solidFill>
                <a:schemeClr val="accent6">
                  <a:lumMod val="40000"/>
                  <a:lumOff val="60000"/>
                </a:schemeClr>
              </a:solidFill>
            </a:endParaRPr>
          </a:p>
        </p:txBody>
      </p:sp>
    </p:spTree>
    <p:extLst>
      <p:ext uri="{BB962C8B-B14F-4D97-AF65-F5344CB8AC3E}">
        <p14:creationId xmlns:p14="http://schemas.microsoft.com/office/powerpoint/2010/main" val="17230969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1586</TotalTime>
  <Words>2056</Words>
  <Application>Microsoft Office PowerPoint</Application>
  <PresentationFormat>Widescreen</PresentationFormat>
  <Paragraphs>240</Paragraphs>
  <Slides>46</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Corbel</vt:lpstr>
      <vt:lpstr>Sabon-Roman</vt:lpstr>
      <vt:lpstr>Wingdings</vt:lpstr>
      <vt:lpstr>Wingdings 3</vt:lpstr>
      <vt:lpstr>Parallax</vt:lpstr>
      <vt:lpstr>Introduction to Real Time Systems and RTOS</vt:lpstr>
      <vt:lpstr>Introduction to Real Time Embedded Systems</vt:lpstr>
      <vt:lpstr>Example</vt:lpstr>
      <vt:lpstr>What is real about “real time”</vt:lpstr>
      <vt:lpstr>Real Time System</vt:lpstr>
      <vt:lpstr>Structure of Real Time System</vt:lpstr>
      <vt:lpstr>Example: Real time weapons defense system</vt:lpstr>
      <vt:lpstr>Example: Real time weapons defense system</vt:lpstr>
      <vt:lpstr>PowerPoint Presentation</vt:lpstr>
      <vt:lpstr>Hard vs Soft Real time systems </vt:lpstr>
      <vt:lpstr>Hard Real Time System</vt:lpstr>
      <vt:lpstr>Soft Real Time System</vt:lpstr>
      <vt:lpstr>More Examples</vt:lpstr>
      <vt:lpstr>Real Time Operating System</vt:lpstr>
      <vt:lpstr>Introduction to RTOS</vt:lpstr>
      <vt:lpstr>History</vt:lpstr>
      <vt:lpstr>GPOS vs RTOS</vt:lpstr>
      <vt:lpstr>GPOS vs RTOS</vt:lpstr>
      <vt:lpstr>Components of RTOS</vt:lpstr>
      <vt:lpstr>Main components of kernel</vt:lpstr>
      <vt:lpstr>Scheduler</vt:lpstr>
      <vt:lpstr>1. Schedulable Entities</vt:lpstr>
      <vt:lpstr>Schedulable Entities (contd.)</vt:lpstr>
      <vt:lpstr>2. Multitasking</vt:lpstr>
      <vt:lpstr>3. Context Switching</vt:lpstr>
      <vt:lpstr>Context Switching contd.</vt:lpstr>
      <vt:lpstr>PowerPoint Presentation</vt:lpstr>
      <vt:lpstr>4. The Dispatcher</vt:lpstr>
      <vt:lpstr>The Dispatcher contd.</vt:lpstr>
      <vt:lpstr>PowerPoint Presentation</vt:lpstr>
      <vt:lpstr>5. Scheduling Algorithms</vt:lpstr>
      <vt:lpstr>Scheduling Algorithms Preemptive Priority-Based Scheduling</vt:lpstr>
      <vt:lpstr>Preemptive Scheduling</vt:lpstr>
      <vt:lpstr>Preemptive Scheduling (contd.)</vt:lpstr>
      <vt:lpstr>Scheduling Algorithms Round Robin Scheduling</vt:lpstr>
      <vt:lpstr>Round Robin Scheduling</vt:lpstr>
      <vt:lpstr>Round Robin Scheduling (contd.)</vt:lpstr>
      <vt:lpstr>Objects</vt:lpstr>
      <vt:lpstr>Objects (contd.)</vt:lpstr>
      <vt:lpstr>Services</vt:lpstr>
      <vt:lpstr>Key characteristics of RTOS</vt:lpstr>
      <vt:lpstr>characteristics of RTOS: Reliability</vt:lpstr>
      <vt:lpstr>characteristics of RTOS: Predictability </vt:lpstr>
      <vt:lpstr>characteristics of RTOS: Performance</vt:lpstr>
      <vt:lpstr>characteristics of RTOS: Compactness</vt:lpstr>
      <vt:lpstr>characteristics of RTOS: Scalability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Misagh.s</dc:creator>
  <cp:lastModifiedBy>Tooba Javed</cp:lastModifiedBy>
  <cp:revision>481</cp:revision>
  <dcterms:created xsi:type="dcterms:W3CDTF">2016-04-05T15:14:57Z</dcterms:created>
  <dcterms:modified xsi:type="dcterms:W3CDTF">2018-11-19T10:00:43Z</dcterms:modified>
</cp:coreProperties>
</file>