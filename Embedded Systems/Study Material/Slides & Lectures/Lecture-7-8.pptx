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57" r:id="rId3"/>
    <p:sldId id="259" r:id="rId4"/>
    <p:sldId id="260" r:id="rId5"/>
    <p:sldId id="261" r:id="rId6"/>
    <p:sldId id="262" r:id="rId7"/>
    <p:sldId id="277" r:id="rId8"/>
    <p:sldId id="268" r:id="rId9"/>
    <p:sldId id="269" r:id="rId10"/>
    <p:sldId id="279" r:id="rId11"/>
    <p:sldId id="280" r:id="rId12"/>
    <p:sldId id="264" r:id="rId13"/>
    <p:sldId id="281" r:id="rId14"/>
    <p:sldId id="270" r:id="rId15"/>
    <p:sldId id="267" r:id="rId16"/>
    <p:sldId id="271" r:id="rId17"/>
    <p:sldId id="276" r:id="rId18"/>
    <p:sldId id="272"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85" autoAdjust="0"/>
    <p:restoredTop sz="94660"/>
  </p:normalViewPr>
  <p:slideViewPr>
    <p:cSldViewPr>
      <p:cViewPr varScale="1">
        <p:scale>
          <a:sx n="65" d="100"/>
          <a:sy n="65" d="100"/>
        </p:scale>
        <p:origin x="1530" y="78"/>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7D5372-658B-46B3-AD77-1190378C91D1}" type="datetimeFigureOut">
              <a:rPr lang="en-US" smtClean="0"/>
              <a:pPr/>
              <a:t>9/25/2018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9EEADB-72FD-4B75-9D3E-2EFCA2A147C7}" type="slidenum">
              <a:rPr lang="en-US" smtClean="0"/>
              <a:pPr/>
              <a:t>‹#›</a:t>
            </a:fld>
            <a:endParaRPr lang="en-US"/>
          </a:p>
        </p:txBody>
      </p:sp>
    </p:spTree>
    <p:extLst>
      <p:ext uri="{BB962C8B-B14F-4D97-AF65-F5344CB8AC3E}">
        <p14:creationId xmlns:p14="http://schemas.microsoft.com/office/powerpoint/2010/main" val="3677375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7</a:t>
            </a:fld>
            <a:endParaRPr lang="en-US"/>
          </a:p>
        </p:txBody>
      </p:sp>
    </p:spTree>
    <p:extLst>
      <p:ext uri="{BB962C8B-B14F-4D97-AF65-F5344CB8AC3E}">
        <p14:creationId xmlns:p14="http://schemas.microsoft.com/office/powerpoint/2010/main" val="126043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562E31-ABB4-433D-83B7-B3206775FE61}" type="datetime1">
              <a:rPr lang="en-US" smtClean="0"/>
              <a:t>9/25/2018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3279789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88C3BA-551C-4C6D-9EFF-8DE6401AFE95}" type="datetime1">
              <a:rPr lang="en-US" smtClean="0"/>
              <a:t>9/25/2018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248870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1E5F413-AEF9-48ED-8DB5-F52A2B8675D9}" type="datetime1">
              <a:rPr lang="en-US" smtClean="0"/>
              <a:t>9/25/2018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423682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CA3003-BFBF-441E-A2AA-0E1696AEB29B}" type="datetime1">
              <a:rPr lang="en-US" smtClean="0"/>
              <a:t>9/25/2018</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4251724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F16D54A-71BD-4AAC-ACF2-AC3E7CA7D71A}" type="datetime1">
              <a:rPr lang="en-US" smtClean="0"/>
              <a:t>9/25/2018</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992629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0B5D62-35DF-40FE-A90E-D15A412381A0}" type="datetime1">
              <a:rPr lang="en-US" smtClean="0"/>
              <a:t>9/25/2018</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4039162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95A2E-B59B-4844-AE72-5C0947A586F2}" type="datetime1">
              <a:rPr lang="en-US" smtClean="0"/>
              <a:t>9/25/2018</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203207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68CE1138-3446-4320-9EA9-2D717A9BA4B3}" type="datetime1">
              <a:rPr lang="en-US" smtClean="0"/>
              <a:t>9/25/2018</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2679201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27C40AA7-6E59-4907-82DC-93CFC2030651}" type="datetime1">
              <a:rPr lang="en-US" smtClean="0"/>
              <a:t>9/25/2018</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239533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DE1614-28DD-4BD9-8904-93D834392D0D}" type="datetime1">
              <a:rPr lang="en-US" smtClean="0"/>
              <a:t>9/25/2018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2676719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780DB9-5EBD-45C5-88AE-EA784B709059}" type="datetime1">
              <a:rPr lang="en-US" smtClean="0"/>
              <a:t>9/25/2018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5424D7-BD2A-43FE-ABC2-1B3798821EEA}" type="slidenum">
              <a:rPr lang="en-US" smtClean="0"/>
              <a:pPr/>
              <a:t>‹#›</a:t>
            </a:fld>
            <a:endParaRPr lang="en-US"/>
          </a:p>
        </p:txBody>
      </p:sp>
    </p:spTree>
    <p:extLst>
      <p:ext uri="{BB962C8B-B14F-4D97-AF65-F5344CB8AC3E}">
        <p14:creationId xmlns:p14="http://schemas.microsoft.com/office/powerpoint/2010/main" val="198078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9AB28C4-FE4C-4304-82ED-884275B19E0F}" type="datetime1">
              <a:rPr lang="en-US" smtClean="0"/>
              <a:t>9/25/2018</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25424D7-BD2A-43FE-ABC2-1B3798821EEA}" type="slidenum">
              <a:rPr lang="en-US" smtClean="0"/>
              <a:pPr/>
              <a:t>‹#›</a:t>
            </a:fld>
            <a:endParaRPr lang="en-US"/>
          </a:p>
        </p:txBody>
      </p:sp>
    </p:spTree>
    <p:extLst>
      <p:ext uri="{BB962C8B-B14F-4D97-AF65-F5344CB8AC3E}">
        <p14:creationId xmlns:p14="http://schemas.microsoft.com/office/powerpoint/2010/main" val="13340423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i2.wp.com/armofthings.com/wp-content/uploads/2015/11/PUR.jp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9412" y="304800"/>
            <a:ext cx="5765175" cy="2301240"/>
          </a:xfrm>
        </p:spPr>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cap="none"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Embedded Systems</a:t>
            </a:r>
            <a:br>
              <a:rPr lang="en-US" sz="3600" cap="none"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2000" cap="none" dirty="0" smtClean="0">
                <a:ln w="18415" cmpd="sng">
                  <a:solidFill>
                    <a:srgbClr val="FFFFFF"/>
                  </a:solidFill>
                  <a:prstDash val="solid"/>
                </a:ln>
              </a:rPr>
              <a:t>I/O of TM4C123HG6PM</a:t>
            </a:r>
            <a:endParaRPr lang="en-US" sz="3600" cap="none" dirty="0">
              <a:ln w="11430"/>
            </a:endParaRPr>
          </a:p>
        </p:txBody>
      </p:sp>
      <p:sp>
        <p:nvSpPr>
          <p:cNvPr id="3" name="Subtitle 2"/>
          <p:cNvSpPr>
            <a:spLocks noGrp="1"/>
          </p:cNvSpPr>
          <p:nvPr>
            <p:ph type="subTitle" idx="1"/>
          </p:nvPr>
        </p:nvSpPr>
        <p:spPr>
          <a:xfrm>
            <a:off x="2464424" y="457200"/>
            <a:ext cx="4215150" cy="685800"/>
          </a:xfrm>
        </p:spPr>
        <p:txBody>
          <a:bodyPr>
            <a:normAutofit lnSpcReduction="10000"/>
          </a:bodyPr>
          <a:lstStyle/>
          <a:p>
            <a:pPr algn="ctr"/>
            <a:r>
              <a:rPr lang="en-US" dirty="0" smtClean="0"/>
              <a:t>Fall 2018</a:t>
            </a:r>
          </a:p>
          <a:p>
            <a:pPr algn="ctr"/>
            <a:r>
              <a:rPr lang="en-US" dirty="0" smtClean="0"/>
              <a:t>NUCES – FAST </a:t>
            </a:r>
            <a:endParaRPr lang="en-US" dirty="0"/>
          </a:p>
        </p:txBody>
      </p:sp>
      <p:pic>
        <p:nvPicPr>
          <p:cNvPr id="4" name="Picture 3"/>
          <p:cNvPicPr>
            <a:picLocks noChangeAspect="1"/>
          </p:cNvPicPr>
          <p:nvPr/>
        </p:nvPicPr>
        <p:blipFill>
          <a:blip r:embed="rId2"/>
          <a:stretch>
            <a:fillRect/>
          </a:stretch>
        </p:blipFill>
        <p:spPr>
          <a:xfrm>
            <a:off x="152399" y="2758440"/>
            <a:ext cx="8839200" cy="3407925"/>
          </a:xfrm>
          <a:prstGeom prst="rect">
            <a:avLst/>
          </a:prstGeom>
          <a:effectLst>
            <a:softEdge rad="127000"/>
          </a:effectLst>
        </p:spPr>
      </p:pic>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02536" y="533400"/>
            <a:ext cx="7938928" cy="5867400"/>
          </a:xfrm>
          <a:prstGeom prst="rect">
            <a:avLst/>
          </a:prstGeom>
        </p:spPr>
      </p:pic>
    </p:spTree>
    <p:extLst>
      <p:ext uri="{BB962C8B-B14F-4D97-AF65-F5344CB8AC3E}">
        <p14:creationId xmlns:p14="http://schemas.microsoft.com/office/powerpoint/2010/main" val="9279069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Memory Mapping (revisited)</a:t>
            </a:r>
            <a:endParaRPr lang="en-US" b="1" dirty="0"/>
          </a:p>
        </p:txBody>
      </p:sp>
      <p:pic>
        <p:nvPicPr>
          <p:cNvPr id="5" name="Picture 7" descr="F2-1_MemoryMap.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357436"/>
            <a:ext cx="2833687" cy="499891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6" name="Content Placeholder 8" descr="F2-6_GpioMemMap.jpg"/>
          <p:cNvPicPr>
            <a:picLocks/>
          </p:cNvPicPr>
          <p:nvPr/>
        </p:nvPicPr>
        <p:blipFill>
          <a:blip r:embed="rId3">
            <a:extLst>
              <a:ext uri="{28A0092B-C50C-407E-A947-70E740481C1C}">
                <a14:useLocalDpi xmlns:a14="http://schemas.microsoft.com/office/drawing/2010/main" val="0"/>
              </a:ext>
            </a:extLst>
          </a:blip>
          <a:srcRect/>
          <a:stretch>
            <a:fillRect/>
          </a:stretch>
        </p:blipFill>
        <p:spPr>
          <a:xfrm>
            <a:off x="3286125" y="2152473"/>
            <a:ext cx="5781675" cy="3629025"/>
          </a:xfrm>
          <a:prstGeom prst="rect">
            <a:avLst/>
          </a:prstGeom>
        </p:spPr>
      </p:pic>
      <p:sp>
        <p:nvSpPr>
          <p:cNvPr id="7" name="Oval 6"/>
          <p:cNvSpPr/>
          <p:nvPr/>
        </p:nvSpPr>
        <p:spPr>
          <a:xfrm>
            <a:off x="8515350" y="5562600"/>
            <a:ext cx="628650" cy="381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251712" y="5497424"/>
            <a:ext cx="828675" cy="381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251712" y="5825963"/>
            <a:ext cx="2658551" cy="369332"/>
          </a:xfrm>
          <a:prstGeom prst="rect">
            <a:avLst/>
          </a:prstGeom>
          <a:noFill/>
        </p:spPr>
        <p:txBody>
          <a:bodyPr wrap="square" rtlCol="0">
            <a:spAutoFit/>
          </a:bodyPr>
          <a:lstStyle/>
          <a:p>
            <a:r>
              <a:rPr lang="en-US" b="1" i="1" dirty="0" smtClean="0"/>
              <a:t>Base address</a:t>
            </a:r>
            <a:endParaRPr lang="en-US" b="1" i="1" dirty="0"/>
          </a:p>
        </p:txBody>
      </p:sp>
    </p:spTree>
    <p:extLst>
      <p:ext uri="{BB962C8B-B14F-4D97-AF65-F5344CB8AC3E}">
        <p14:creationId xmlns:p14="http://schemas.microsoft.com/office/powerpoint/2010/main" val="11138645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Basic Concept of I/O: Reading from Input Port</a:t>
            </a:r>
            <a:endParaRPr lang="en-US" b="1" dirty="0"/>
          </a:p>
        </p:txBody>
      </p:sp>
      <p:pic>
        <p:nvPicPr>
          <p:cNvPr id="1026" name="Picture 2" descr="http://users.ece.utexas.edu/~valvano/Volume1/E-Book/C6_MicrocontrollerPorts_files/image005.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237" y="2514600"/>
            <a:ext cx="7245526" cy="1981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949236" y="4719546"/>
            <a:ext cx="7432763" cy="646331"/>
          </a:xfrm>
          <a:prstGeom prst="rect">
            <a:avLst/>
          </a:prstGeom>
        </p:spPr>
        <p:txBody>
          <a:bodyPr wrap="square">
            <a:spAutoFit/>
          </a:bodyPr>
          <a:lstStyle/>
          <a:p>
            <a:r>
              <a:rPr lang="en-US" dirty="0">
                <a:solidFill>
                  <a:srgbClr val="000000"/>
                </a:solidFill>
                <a:latin typeface="Times New Roman" panose="02020603050405020304" pitchFamily="18" charset="0"/>
              </a:rPr>
              <a:t>The LM4F/TM4C family of microcontrollers has 5V-tolerant digital inputs, meaning an input high signal can be any voltage from 2.0 to 5.0 V.</a:t>
            </a:r>
            <a:endParaRPr lang="en-US" dirty="0"/>
          </a:p>
        </p:txBody>
      </p:sp>
    </p:spTree>
    <p:extLst>
      <p:ext uri="{BB962C8B-B14F-4D97-AF65-F5344CB8AC3E}">
        <p14:creationId xmlns:p14="http://schemas.microsoft.com/office/powerpoint/2010/main" val="26635500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Basic Concept of I/O: Writing to Output Port</a:t>
            </a:r>
            <a:endParaRPr lang="en-US" b="1" dirty="0"/>
          </a:p>
        </p:txBody>
      </p:sp>
      <p:sp>
        <p:nvSpPr>
          <p:cNvPr id="5" name="Rectangle 4"/>
          <p:cNvSpPr/>
          <p:nvPr/>
        </p:nvSpPr>
        <p:spPr>
          <a:xfrm>
            <a:off x="949236" y="4191000"/>
            <a:ext cx="7432763" cy="2308324"/>
          </a:xfrm>
          <a:prstGeom prst="rect">
            <a:avLst/>
          </a:prstGeom>
        </p:spPr>
        <p:txBody>
          <a:bodyPr wrap="square">
            <a:spAutoFit/>
          </a:bodyPr>
          <a:lstStyle/>
          <a:p>
            <a:pPr marL="285750" indent="-285750">
              <a:buFont typeface="Arial" panose="020B0604020202020204" pitchFamily="34" charset="0"/>
              <a:buChar char="•"/>
            </a:pPr>
            <a:r>
              <a:rPr lang="en-US" dirty="0" smtClean="0">
                <a:solidFill>
                  <a:srgbClr val="000000"/>
                </a:solidFill>
                <a:latin typeface="Times New Roman" panose="02020603050405020304" pitchFamily="18" charset="0"/>
              </a:rPr>
              <a:t>Readable Output port in TM4C: </a:t>
            </a:r>
            <a:r>
              <a:rPr lang="en-US" dirty="0" smtClean="0"/>
              <a:t>participate </a:t>
            </a:r>
            <a:r>
              <a:rPr lang="en-US" dirty="0"/>
              <a:t>in both the read and write cycles very much like a regular </a:t>
            </a:r>
            <a:r>
              <a:rPr lang="en-US" dirty="0" smtClean="0"/>
              <a:t>memory</a:t>
            </a:r>
          </a:p>
          <a:p>
            <a:pPr marL="285750" indent="-285750">
              <a:buFont typeface="Arial" panose="020B0604020202020204" pitchFamily="34" charset="0"/>
              <a:buChar char="•"/>
            </a:pPr>
            <a:r>
              <a:rPr lang="en-US" dirty="0" smtClean="0"/>
              <a:t>A </a:t>
            </a:r>
            <a:r>
              <a:rPr lang="en-US" dirty="0"/>
              <a:t>write cycle to the port address will affect the values on the output pins. In particular, the microcontroller places information on the data bus and that information is clocked into the D flip-flops. Since it is a readable output, a read cycle access from the port address returns the current values existing on the port pins. </a:t>
            </a:r>
            <a:endParaRPr lang="en-US" dirty="0" smtClean="0">
              <a:solidFill>
                <a:srgbClr val="000000"/>
              </a:solidFill>
              <a:latin typeface="Times New Roman" panose="02020603050405020304" pitchFamily="18" charset="0"/>
            </a:endParaRPr>
          </a:p>
          <a:p>
            <a:endParaRPr lang="en-US" dirty="0"/>
          </a:p>
        </p:txBody>
      </p:sp>
      <p:pic>
        <p:nvPicPr>
          <p:cNvPr id="3074" name="Picture 2" descr="http://users.ece.utexas.edu/~valvano/Volume1/E-Book/C6_MicrocontrollerPorts_files/image006.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690689"/>
            <a:ext cx="5886450" cy="22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405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Configuring direction of port</a:t>
            </a:r>
            <a:endParaRPr lang="en-US" b="1" dirty="0"/>
          </a:p>
        </p:txBody>
      </p:sp>
      <p:pic>
        <p:nvPicPr>
          <p:cNvPr id="4098" name="Picture 2" descr="http://users.ece.utexas.edu/~valvano/Volume1/E-Book/C6_MicrocontrollerPorts_files/image007.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30" y="1690689"/>
            <a:ext cx="7950970" cy="3741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0657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initialize GPIO</a:t>
            </a:r>
            <a:endParaRPr lang="en-US" dirty="0"/>
          </a:p>
        </p:txBody>
      </p:sp>
      <p:sp>
        <p:nvSpPr>
          <p:cNvPr id="3" name="Content Placeholder 2"/>
          <p:cNvSpPr txBox="1">
            <a:spLocks/>
          </p:cNvSpPr>
          <p:nvPr/>
        </p:nvSpPr>
        <p:spPr>
          <a:xfrm>
            <a:off x="628650" y="1690689"/>
            <a:ext cx="7886700" cy="435133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buFont typeface="+mj-lt"/>
              <a:buAutoNum type="arabicPeriod"/>
            </a:pPr>
            <a:r>
              <a:rPr lang="en-US" dirty="0" smtClean="0">
                <a:solidFill>
                  <a:srgbClr val="FF0000"/>
                </a:solidFill>
              </a:rPr>
              <a:t>Enable clock  for the port and wait for its stabilizing </a:t>
            </a:r>
          </a:p>
          <a:p>
            <a:pPr marL="457200" indent="-457200">
              <a:buFont typeface="+mj-lt"/>
              <a:buAutoNum type="arabicPeriod"/>
            </a:pPr>
            <a:r>
              <a:rPr lang="en-US" dirty="0" smtClean="0">
                <a:solidFill>
                  <a:srgbClr val="FF0000"/>
                </a:solidFill>
              </a:rPr>
              <a:t>Unlock port (needed only for PD7 and PF0)</a:t>
            </a:r>
          </a:p>
          <a:p>
            <a:pPr marL="457200" indent="-457200">
              <a:buFont typeface="+mj-lt"/>
              <a:buAutoNum type="arabicPeriod"/>
            </a:pPr>
            <a:r>
              <a:rPr lang="en-US" dirty="0" smtClean="0"/>
              <a:t>Disable analog function of the pin (by default disabled, so we can skip this step)</a:t>
            </a:r>
          </a:p>
          <a:p>
            <a:pPr marL="457200" indent="-457200">
              <a:buFont typeface="+mj-lt"/>
              <a:buAutoNum type="arabicPeriod"/>
            </a:pPr>
            <a:r>
              <a:rPr lang="en-US" dirty="0" smtClean="0"/>
              <a:t>Clear PCTL register to select regular digital I/O </a:t>
            </a:r>
            <a:r>
              <a:rPr lang="en-US" dirty="0"/>
              <a:t>(by default </a:t>
            </a:r>
            <a:r>
              <a:rPr lang="en-US" dirty="0" smtClean="0"/>
              <a:t>cleared, </a:t>
            </a:r>
            <a:r>
              <a:rPr lang="en-US" dirty="0"/>
              <a:t>so we can skip this step)</a:t>
            </a:r>
            <a:endParaRPr lang="en-US" dirty="0" smtClean="0"/>
          </a:p>
          <a:p>
            <a:pPr marL="457200" indent="-457200">
              <a:buFont typeface="+mj-lt"/>
              <a:buAutoNum type="arabicPeriod"/>
            </a:pPr>
            <a:r>
              <a:rPr lang="en-US" dirty="0" smtClean="0">
                <a:solidFill>
                  <a:srgbClr val="FF0000"/>
                </a:solidFill>
              </a:rPr>
              <a:t>Set direction of pin</a:t>
            </a:r>
          </a:p>
          <a:p>
            <a:pPr marL="457200" indent="-457200">
              <a:buFont typeface="+mj-lt"/>
              <a:buAutoNum type="arabicPeriod"/>
            </a:pPr>
            <a:r>
              <a:rPr lang="en-US" dirty="0" smtClean="0"/>
              <a:t>Disable alternate function of port (</a:t>
            </a:r>
            <a:r>
              <a:rPr lang="en-US" dirty="0"/>
              <a:t>by default disabled, so we can skip this step)</a:t>
            </a:r>
            <a:endParaRPr lang="en-US" dirty="0" smtClean="0"/>
          </a:p>
          <a:p>
            <a:pPr marL="457200" indent="-457200">
              <a:buFont typeface="+mj-lt"/>
              <a:buAutoNum type="arabicPeriod"/>
            </a:pPr>
            <a:r>
              <a:rPr lang="en-US" dirty="0" smtClean="0">
                <a:solidFill>
                  <a:srgbClr val="FF0000"/>
                </a:solidFill>
              </a:rPr>
              <a:t>Enable changes to digital port</a:t>
            </a:r>
          </a:p>
          <a:p>
            <a:pPr marL="457200" indent="-457200">
              <a:buFont typeface="+mj-lt"/>
              <a:buAutoNum type="arabicPeriod"/>
            </a:pPr>
            <a:r>
              <a:rPr lang="en-US" dirty="0" smtClean="0">
                <a:solidFill>
                  <a:srgbClr val="FF0000"/>
                </a:solidFill>
              </a:rPr>
              <a:t>Enable digital function of the pins </a:t>
            </a:r>
          </a:p>
          <a:p>
            <a:pPr marL="457200" indent="-457200">
              <a:buFont typeface="+mj-lt"/>
              <a:buAutoNum type="arabicPeriod"/>
            </a:pPr>
            <a:r>
              <a:rPr lang="en-US" dirty="0" smtClean="0"/>
              <a:t>Enable/disable </a:t>
            </a:r>
            <a:r>
              <a:rPr lang="en-US" dirty="0" err="1" smtClean="0"/>
              <a:t>Pullup</a:t>
            </a:r>
            <a:r>
              <a:rPr lang="en-US" dirty="0" smtClean="0"/>
              <a:t> resistor (depends on scenario)</a:t>
            </a:r>
          </a:p>
          <a:p>
            <a:pPr marL="0" indent="0">
              <a:buNone/>
            </a:pPr>
            <a:r>
              <a:rPr lang="en-US" b="1" i="1" dirty="0" smtClean="0">
                <a:solidFill>
                  <a:srgbClr val="FF0000"/>
                </a:solidFill>
              </a:rPr>
              <a:t>Enabling clock should be the first step, rest of the steps can be in any order</a:t>
            </a:r>
          </a:p>
          <a:p>
            <a:pPr marL="457200" indent="-457200">
              <a:buFont typeface="+mj-lt"/>
              <a:buAutoNum type="arabicPeriod"/>
            </a:pPr>
            <a:endParaRPr lang="en-US" dirty="0" smtClean="0"/>
          </a:p>
        </p:txBody>
      </p:sp>
    </p:spTree>
    <p:extLst>
      <p:ext uri="{BB962C8B-B14F-4D97-AF65-F5344CB8AC3E}">
        <p14:creationId xmlns:p14="http://schemas.microsoft.com/office/powerpoint/2010/main" val="2885102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400" dirty="0" smtClean="0"/>
              <a:t> </a:t>
            </a:r>
            <a:br>
              <a:rPr lang="en-US" sz="2400" dirty="0" smtClean="0"/>
            </a:br>
            <a:r>
              <a:rPr lang="en-US" sz="2400" b="1" dirty="0" smtClean="0"/>
              <a:t>The GPIO Clock enable for all the I/O ports</a:t>
            </a:r>
            <a:br>
              <a:rPr lang="en-US" sz="2400" b="1" dirty="0" smtClean="0"/>
            </a:br>
            <a:r>
              <a:rPr lang="en-US" sz="1800" b="1" dirty="0" smtClean="0"/>
              <a:t>(</a:t>
            </a:r>
            <a:r>
              <a:rPr lang="en-US" sz="1800" dirty="0" smtClean="0"/>
              <a:t>RCGCGPIO (Run mode Clock Gating Control) Register </a:t>
            </a:r>
            <a:r>
              <a:rPr lang="en-US" sz="1800" b="1" dirty="0" smtClean="0"/>
              <a:t>)</a:t>
            </a:r>
            <a:r>
              <a:rPr lang="en-US" sz="2000" dirty="0" smtClean="0"/>
              <a:t/>
            </a:r>
            <a:br>
              <a:rPr lang="en-US" sz="2000" dirty="0" smtClean="0"/>
            </a:br>
            <a:endParaRPr lang="en-US" sz="2000" dirty="0"/>
          </a:p>
        </p:txBody>
      </p:sp>
      <p:sp>
        <p:nvSpPr>
          <p:cNvPr id="1945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mtClean="0">
                <a:solidFill>
                  <a:schemeClr val="bg1"/>
                </a:solidFill>
              </a:rPr>
              <a:t>Produced by Sh. Yaghni</a:t>
            </a:r>
          </a:p>
        </p:txBody>
      </p:sp>
      <p:sp>
        <p:nvSpPr>
          <p:cNvPr id="1946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B078315-F221-4EE2-8367-DF4E2FBB5387}" type="slidenum">
              <a:rPr lang="ar-SA" altLang="en-US">
                <a:solidFill>
                  <a:schemeClr val="bg1"/>
                </a:solidFill>
              </a:rPr>
              <a:pPr eaLnBrk="1" hangingPunct="1"/>
              <a:t>8</a:t>
            </a:fld>
            <a:endParaRPr lang="en-US" altLang="en-US">
              <a:solidFill>
                <a:schemeClr val="bg1"/>
              </a:solidFill>
            </a:endParaRPr>
          </a:p>
        </p:txBody>
      </p:sp>
      <p:sp>
        <p:nvSpPr>
          <p:cNvPr id="19461" name="Content Placeholder 5"/>
          <p:cNvSpPr>
            <a:spLocks noGrp="1"/>
          </p:cNvSpPr>
          <p:nvPr>
            <p:ph idx="1"/>
          </p:nvPr>
        </p:nvSpPr>
        <p:spPr/>
        <p:txBody>
          <a:bodyPr/>
          <a:lstStyle/>
          <a:p>
            <a:pPr>
              <a:buFont typeface="Wingdings" panose="05000000000000000000" pitchFamily="2" charset="2"/>
              <a:buNone/>
            </a:pPr>
            <a:r>
              <a:rPr lang="en-US" altLang="en-US" dirty="0" smtClean="0"/>
              <a:t>   </a:t>
            </a:r>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lgn="ctr">
              <a:buFont typeface="Wingdings" panose="05000000000000000000" pitchFamily="2" charset="2"/>
              <a:buNone/>
            </a:pPr>
            <a:endParaRPr lang="en-US" altLang="en-US" dirty="0" smtClean="0"/>
          </a:p>
        </p:txBody>
      </p:sp>
      <p:pic>
        <p:nvPicPr>
          <p:cNvPr id="19462" name="Picture 7" descr="F2-8_RCGCGPI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125" y="1676400"/>
            <a:ext cx="7132638"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838200" y="4114800"/>
            <a:ext cx="7543800" cy="203132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Clock is enable for each port using </a:t>
            </a:r>
            <a:r>
              <a:rPr lang="en-US" b="1" dirty="0" smtClean="0"/>
              <a:t>SYSTCL_RCGCGPIO_R</a:t>
            </a:r>
            <a:r>
              <a:rPr lang="en-US" dirty="0" smtClean="0"/>
              <a:t> port</a:t>
            </a:r>
          </a:p>
          <a:p>
            <a:pPr marL="285750" indent="-285750">
              <a:buFont typeface="Arial" panose="020B0604020202020204" pitchFamily="34" charset="0"/>
              <a:buChar char="•"/>
            </a:pPr>
            <a:r>
              <a:rPr lang="en-US" dirty="0" smtClean="0"/>
              <a:t>Clock is disabled to save power</a:t>
            </a:r>
          </a:p>
          <a:p>
            <a:pPr marL="285750" indent="-285750">
              <a:buFont typeface="Arial" panose="020B0604020202020204" pitchFamily="34" charset="0"/>
              <a:buChar char="•"/>
            </a:pPr>
            <a:r>
              <a:rPr lang="en-US" dirty="0" smtClean="0"/>
              <a:t>Register is 32 bit wide </a:t>
            </a:r>
          </a:p>
          <a:p>
            <a:pPr marL="285750" indent="-285750">
              <a:buFont typeface="Arial" panose="020B0604020202020204" pitchFamily="34" charset="0"/>
              <a:buChar char="•"/>
            </a:pPr>
            <a:r>
              <a:rPr lang="en-US" dirty="0" smtClean="0"/>
              <a:t>For </a:t>
            </a:r>
            <a:r>
              <a:rPr lang="en-US" dirty="0"/>
              <a:t>enabling the clock we deals only with the last 8 bits. </a:t>
            </a:r>
            <a:endParaRPr lang="en-US" dirty="0" smtClean="0"/>
          </a:p>
          <a:p>
            <a:pPr marL="285750" indent="-285750">
              <a:buFont typeface="Arial" panose="020B0604020202020204" pitchFamily="34" charset="0"/>
              <a:buChar char="•"/>
            </a:pPr>
            <a:r>
              <a:rPr lang="en-US" dirty="0" smtClean="0"/>
              <a:t>After enabling, wait for stabilizing of clock by waiting for its respective status bit </a:t>
            </a:r>
            <a:r>
              <a:rPr lang="en-US" b="1" dirty="0"/>
              <a:t>SYSCTL_PRGPIO_R</a:t>
            </a:r>
            <a:r>
              <a:rPr lang="en-US" dirty="0" smtClean="0"/>
              <a:t> to be true </a:t>
            </a:r>
          </a:p>
          <a:p>
            <a:r>
              <a:rPr lang="en-US" b="1" dirty="0" smtClean="0"/>
              <a:t>	</a:t>
            </a:r>
            <a:endParaRPr lang="en-US" dirty="0"/>
          </a:p>
        </p:txBody>
      </p:sp>
    </p:spTree>
    <p:extLst>
      <p:ext uri="{BB962C8B-B14F-4D97-AF65-F5344CB8AC3E}">
        <p14:creationId xmlns:p14="http://schemas.microsoft.com/office/powerpoint/2010/main" val="16159647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LOCK register</a:t>
            </a:r>
            <a:endParaRPr lang="en-US" b="1" dirty="0"/>
          </a:p>
        </p:txBody>
      </p:sp>
      <p:sp>
        <p:nvSpPr>
          <p:cNvPr id="5" name="Content Placeholder 4"/>
          <p:cNvSpPr>
            <a:spLocks noGrp="1"/>
          </p:cNvSpPr>
          <p:nvPr>
            <p:ph idx="1"/>
          </p:nvPr>
        </p:nvSpPr>
        <p:spPr/>
        <p:txBody>
          <a:bodyPr/>
          <a:lstStyle/>
          <a:p>
            <a:r>
              <a:rPr lang="en-US" dirty="0" smtClean="0"/>
              <a:t>After enabling clock, we have to unlock ports by writing a special value to LOCK register</a:t>
            </a:r>
          </a:p>
          <a:p>
            <a:r>
              <a:rPr lang="en-US" b="1" dirty="0" err="1" smtClean="0"/>
              <a:t>GPIO_PORTx_LOCK_R</a:t>
            </a:r>
            <a:r>
              <a:rPr lang="en-US" b="1" dirty="0" smtClean="0"/>
              <a:t> = </a:t>
            </a:r>
            <a:r>
              <a:rPr lang="en-US" b="1" dirty="0"/>
              <a:t>0x4C4F434B</a:t>
            </a:r>
          </a:p>
        </p:txBody>
      </p:sp>
    </p:spTree>
    <p:extLst>
      <p:ext uri="{BB962C8B-B14F-4D97-AF65-F5344CB8AC3E}">
        <p14:creationId xmlns:p14="http://schemas.microsoft.com/office/powerpoint/2010/main" val="33126570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AMSEL register</a:t>
            </a:r>
            <a:endParaRPr lang="en-US" b="1" dirty="0"/>
          </a:p>
        </p:txBody>
      </p:sp>
      <p:sp>
        <p:nvSpPr>
          <p:cNvPr id="3" name="Content Placeholder 2"/>
          <p:cNvSpPr>
            <a:spLocks noGrp="1"/>
          </p:cNvSpPr>
          <p:nvPr>
            <p:ph idx="1"/>
          </p:nvPr>
        </p:nvSpPr>
        <p:spPr/>
        <p:txBody>
          <a:bodyPr/>
          <a:lstStyle/>
          <a:p>
            <a:r>
              <a:rPr lang="en-US" dirty="0" smtClean="0"/>
              <a:t>Enable/disable Analog function of port by writing 1/0 to respective pins</a:t>
            </a:r>
          </a:p>
          <a:p>
            <a:r>
              <a:rPr lang="en-US" dirty="0" smtClean="0"/>
              <a:t>Example: </a:t>
            </a:r>
          </a:p>
          <a:p>
            <a:pPr marL="0" indent="0">
              <a:buNone/>
            </a:pPr>
            <a:r>
              <a:rPr lang="en-US" b="1" dirty="0" smtClean="0"/>
              <a:t>		GPIO_PORTF_AMSEL_R </a:t>
            </a:r>
            <a:r>
              <a:rPr lang="en-US" b="1" dirty="0"/>
              <a:t>= 0x00; </a:t>
            </a:r>
            <a:endParaRPr lang="en-US" dirty="0"/>
          </a:p>
        </p:txBody>
      </p:sp>
    </p:spTree>
    <p:extLst>
      <p:ext uri="{BB962C8B-B14F-4D97-AF65-F5344CB8AC3E}">
        <p14:creationId xmlns:p14="http://schemas.microsoft.com/office/powerpoint/2010/main" val="747488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PCTL register</a:t>
            </a:r>
            <a:endParaRPr lang="en-US" b="1" dirty="0"/>
          </a:p>
        </p:txBody>
      </p:sp>
      <p:sp>
        <p:nvSpPr>
          <p:cNvPr id="3" name="Content Placeholder 2"/>
          <p:cNvSpPr>
            <a:spLocks noGrp="1"/>
          </p:cNvSpPr>
          <p:nvPr>
            <p:ph idx="1"/>
          </p:nvPr>
        </p:nvSpPr>
        <p:spPr/>
        <p:txBody>
          <a:bodyPr/>
          <a:lstStyle/>
          <a:p>
            <a:r>
              <a:rPr lang="pt-BR" dirty="0" smtClean="0"/>
              <a:t>For selecting regular digital I/O clear the bits </a:t>
            </a:r>
          </a:p>
          <a:p>
            <a:r>
              <a:rPr lang="pt-BR" b="1" dirty="0" smtClean="0"/>
              <a:t>Example:</a:t>
            </a:r>
          </a:p>
          <a:p>
            <a:pPr marL="0" indent="0">
              <a:buNone/>
            </a:pPr>
            <a:r>
              <a:rPr lang="pt-BR" b="1" dirty="0" smtClean="0"/>
              <a:t>	GPIO_PORTF_PCTL_R </a:t>
            </a:r>
            <a:r>
              <a:rPr lang="pt-BR" b="1" dirty="0"/>
              <a:t>= 0x00000000;</a:t>
            </a:r>
            <a:endParaRPr lang="en-US" dirty="0"/>
          </a:p>
        </p:txBody>
      </p:sp>
    </p:spTree>
    <p:extLst>
      <p:ext uri="{BB962C8B-B14F-4D97-AF65-F5344CB8AC3E}">
        <p14:creationId xmlns:p14="http://schemas.microsoft.com/office/powerpoint/2010/main" val="15903341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400" b="1" dirty="0" smtClean="0"/>
              <a:t/>
            </a:r>
            <a:br>
              <a:rPr lang="en-US" sz="2400" b="1" dirty="0" smtClean="0"/>
            </a:br>
            <a:r>
              <a:rPr lang="en-US" sz="2400" b="1" dirty="0" smtClean="0"/>
              <a:t>Direction Register</a:t>
            </a:r>
            <a:br>
              <a:rPr lang="en-US" sz="2400" b="1" dirty="0" smtClean="0"/>
            </a:br>
            <a:r>
              <a:rPr lang="en-US" sz="1800" b="1" dirty="0" smtClean="0"/>
              <a:t>(</a:t>
            </a:r>
            <a:r>
              <a:rPr lang="en-US" sz="1800" dirty="0" smtClean="0"/>
              <a:t>GPIODIR Register</a:t>
            </a:r>
            <a:r>
              <a:rPr lang="en-US" sz="1800" b="1" dirty="0" smtClean="0"/>
              <a:t>)</a:t>
            </a:r>
            <a:r>
              <a:rPr lang="en-US" sz="2000" dirty="0" smtClean="0"/>
              <a:t/>
            </a:r>
            <a:br>
              <a:rPr lang="en-US" sz="2000" dirty="0" smtClean="0"/>
            </a:br>
            <a:endParaRPr lang="en-US" sz="2000" dirty="0"/>
          </a:p>
        </p:txBody>
      </p:sp>
      <p:sp>
        <p:nvSpPr>
          <p:cNvPr id="1638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mtClean="0">
                <a:solidFill>
                  <a:schemeClr val="bg1"/>
                </a:solidFill>
              </a:rPr>
              <a:t>Produced by Sh. Yaghni</a:t>
            </a:r>
          </a:p>
        </p:txBody>
      </p:sp>
      <p:sp>
        <p:nvSpPr>
          <p:cNvPr id="1638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293FB77-0D8C-4DF8-A5AB-9B4F49386915}" type="slidenum">
              <a:rPr lang="ar-SA" altLang="en-US">
                <a:solidFill>
                  <a:schemeClr val="bg1"/>
                </a:solidFill>
              </a:rPr>
              <a:pPr eaLnBrk="1" hangingPunct="1"/>
              <a:t>12</a:t>
            </a:fld>
            <a:endParaRPr lang="en-US" altLang="en-US">
              <a:solidFill>
                <a:schemeClr val="bg1"/>
              </a:solidFill>
            </a:endParaRPr>
          </a:p>
        </p:txBody>
      </p:sp>
      <p:sp>
        <p:nvSpPr>
          <p:cNvPr id="16389" name="Content Placeholder 5"/>
          <p:cNvSpPr>
            <a:spLocks noGrp="1"/>
          </p:cNvSpPr>
          <p:nvPr>
            <p:ph idx="1"/>
          </p:nvPr>
        </p:nvSpPr>
        <p:spPr/>
        <p:txBody>
          <a:bodyPr/>
          <a:lstStyle/>
          <a:p>
            <a:pPr>
              <a:buFont typeface="Wingdings" panose="05000000000000000000" pitchFamily="2" charset="2"/>
              <a:buNone/>
            </a:pPr>
            <a:r>
              <a:rPr lang="en-US" altLang="en-US" dirty="0" smtClean="0"/>
              <a:t>   </a:t>
            </a:r>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lgn="ctr">
              <a:buFont typeface="Wingdings" panose="05000000000000000000" pitchFamily="2" charset="2"/>
              <a:buNone/>
            </a:pPr>
            <a:endParaRPr lang="en-US" altLang="en-US" dirty="0"/>
          </a:p>
          <a:p>
            <a:r>
              <a:rPr lang="en-US" altLang="en-US" dirty="0" smtClean="0"/>
              <a:t>It is 8 bit wide register</a:t>
            </a:r>
          </a:p>
        </p:txBody>
      </p:sp>
      <p:pic>
        <p:nvPicPr>
          <p:cNvPr id="16390" name="Picture 6" descr="F2-6_Di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588" y="1814513"/>
            <a:ext cx="671830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28650" y="4800600"/>
            <a:ext cx="7234238" cy="646331"/>
          </a:xfrm>
          <a:prstGeom prst="rect">
            <a:avLst/>
          </a:prstGeom>
          <a:noFill/>
        </p:spPr>
        <p:txBody>
          <a:bodyPr wrap="square" rtlCol="0">
            <a:spAutoFit/>
          </a:bodyPr>
          <a:lstStyle/>
          <a:p>
            <a:r>
              <a:rPr lang="en-US" dirty="0" smtClean="0"/>
              <a:t>Example: </a:t>
            </a:r>
          </a:p>
          <a:p>
            <a:r>
              <a:rPr lang="en-US" b="1" dirty="0" smtClean="0"/>
              <a:t>GPIO_PORTF_DIR_R</a:t>
            </a:r>
            <a:r>
              <a:rPr lang="en-US" dirty="0" smtClean="0"/>
              <a:t> =0b00001101 </a:t>
            </a:r>
            <a:endParaRPr lang="en-US" dirty="0"/>
          </a:p>
        </p:txBody>
      </p:sp>
    </p:spTree>
    <p:extLst>
      <p:ext uri="{BB962C8B-B14F-4D97-AF65-F5344CB8AC3E}">
        <p14:creationId xmlns:p14="http://schemas.microsoft.com/office/powerpoint/2010/main" val="4566742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Alternate Function register</a:t>
            </a:r>
            <a:endParaRPr lang="en-US" b="1" dirty="0"/>
          </a:p>
        </p:txBody>
      </p:sp>
      <p:sp>
        <p:nvSpPr>
          <p:cNvPr id="3" name="Content Placeholder 2"/>
          <p:cNvSpPr>
            <a:spLocks noGrp="1"/>
          </p:cNvSpPr>
          <p:nvPr>
            <p:ph idx="1"/>
          </p:nvPr>
        </p:nvSpPr>
        <p:spPr/>
        <p:txBody>
          <a:bodyPr/>
          <a:lstStyle/>
          <a:p>
            <a:r>
              <a:rPr lang="en-US" dirty="0" smtClean="0"/>
              <a:t>To disable alternate function of port, clear the bits of AFSEL register</a:t>
            </a:r>
          </a:p>
          <a:p>
            <a:r>
              <a:rPr lang="en-US" b="1" dirty="0" smtClean="0"/>
              <a:t>Example: </a:t>
            </a:r>
          </a:p>
          <a:p>
            <a:pPr marL="342900" lvl="1" indent="0">
              <a:buNone/>
            </a:pPr>
            <a:r>
              <a:rPr lang="en-US" b="1" dirty="0" smtClean="0"/>
              <a:t>GPIO_PORTF_AFSEL_R </a:t>
            </a:r>
            <a:r>
              <a:rPr lang="en-US" b="1" dirty="0"/>
              <a:t>= 0x00;</a:t>
            </a:r>
            <a:endParaRPr lang="en-US" dirty="0"/>
          </a:p>
        </p:txBody>
      </p:sp>
    </p:spTree>
    <p:extLst>
      <p:ext uri="{BB962C8B-B14F-4D97-AF65-F5344CB8AC3E}">
        <p14:creationId xmlns:p14="http://schemas.microsoft.com/office/powerpoint/2010/main" val="29731909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GPIO COMMIT register (CR)</a:t>
            </a:r>
            <a:endParaRPr lang="en-US" dirty="0"/>
          </a:p>
        </p:txBody>
      </p:sp>
      <p:sp>
        <p:nvSpPr>
          <p:cNvPr id="3" name="Content Placeholder 2"/>
          <p:cNvSpPr>
            <a:spLocks noGrp="1"/>
          </p:cNvSpPr>
          <p:nvPr>
            <p:ph idx="1"/>
          </p:nvPr>
        </p:nvSpPr>
        <p:spPr/>
        <p:txBody>
          <a:bodyPr/>
          <a:lstStyle/>
          <a:p>
            <a:r>
              <a:rPr lang="en-US" dirty="0" smtClean="0"/>
              <a:t>By writing </a:t>
            </a:r>
            <a:r>
              <a:rPr lang="en-US" dirty="0"/>
              <a:t>1 to the respective bit field of this register allows us to </a:t>
            </a:r>
            <a:r>
              <a:rPr lang="en-US" dirty="0" smtClean="0"/>
              <a:t>make changes to the respective pins of the </a:t>
            </a:r>
            <a:r>
              <a:rPr lang="en-US" dirty="0"/>
              <a:t>port</a:t>
            </a:r>
            <a:r>
              <a:rPr lang="en-US" dirty="0" smtClean="0"/>
              <a:t>.</a:t>
            </a:r>
            <a:br>
              <a:rPr lang="en-US" dirty="0" smtClean="0"/>
            </a:br>
            <a:endParaRPr lang="en-US" dirty="0" smtClean="0"/>
          </a:p>
          <a:p>
            <a:r>
              <a:rPr lang="en-US" b="1" dirty="0" err="1" smtClean="0"/>
              <a:t>GPIO_PORTx_CR_R</a:t>
            </a:r>
            <a:endParaRPr lang="en-US" b="1" dirty="0"/>
          </a:p>
        </p:txBody>
      </p:sp>
    </p:spTree>
    <p:extLst>
      <p:ext uri="{BB962C8B-B14F-4D97-AF65-F5344CB8AC3E}">
        <p14:creationId xmlns:p14="http://schemas.microsoft.com/office/powerpoint/2010/main" val="33172968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400" b="1" dirty="0" smtClean="0"/>
              <a:t/>
            </a:r>
            <a:br>
              <a:rPr lang="en-US" sz="2400" b="1" dirty="0" smtClean="0"/>
            </a:br>
            <a:r>
              <a:rPr lang="en-US" sz="2400" b="1" dirty="0" smtClean="0"/>
              <a:t>The GPIO Digital Enable Register: to use I/O pin as digital</a:t>
            </a:r>
            <a:br>
              <a:rPr lang="en-US" sz="2400" b="1" dirty="0" smtClean="0"/>
            </a:br>
            <a:r>
              <a:rPr lang="en-US" sz="1800" b="1" dirty="0" smtClean="0"/>
              <a:t>(</a:t>
            </a:r>
            <a:r>
              <a:rPr lang="en-US" sz="1800" dirty="0" smtClean="0"/>
              <a:t>GPIODEN Register</a:t>
            </a:r>
            <a:r>
              <a:rPr lang="en-US" sz="1800" b="1" dirty="0" smtClean="0"/>
              <a:t>)</a:t>
            </a:r>
            <a:r>
              <a:rPr lang="en-US" sz="2000" dirty="0" smtClean="0"/>
              <a:t/>
            </a:r>
            <a:br>
              <a:rPr lang="en-US" sz="2000" dirty="0" smtClean="0"/>
            </a:br>
            <a:endParaRPr lang="en-US" sz="2000" dirty="0"/>
          </a:p>
        </p:txBody>
      </p:sp>
      <p:sp>
        <p:nvSpPr>
          <p:cNvPr id="1843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mtClean="0">
                <a:solidFill>
                  <a:schemeClr val="bg1"/>
                </a:solidFill>
              </a:rPr>
              <a:t>Produced by Sh. Yaghni</a:t>
            </a:r>
          </a:p>
        </p:txBody>
      </p:sp>
      <p:sp>
        <p:nvSpPr>
          <p:cNvPr id="1843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3393AE-D87B-49A9-A172-CD963BB1B6C0}" type="slidenum">
              <a:rPr lang="ar-SA" altLang="en-US">
                <a:solidFill>
                  <a:schemeClr val="bg1"/>
                </a:solidFill>
              </a:rPr>
              <a:pPr eaLnBrk="1" hangingPunct="1"/>
              <a:t>15</a:t>
            </a:fld>
            <a:endParaRPr lang="en-US" altLang="en-US">
              <a:solidFill>
                <a:schemeClr val="bg1"/>
              </a:solidFill>
            </a:endParaRPr>
          </a:p>
        </p:txBody>
      </p:sp>
      <p:sp>
        <p:nvSpPr>
          <p:cNvPr id="18437" name="Content Placeholder 5"/>
          <p:cNvSpPr>
            <a:spLocks noGrp="1"/>
          </p:cNvSpPr>
          <p:nvPr>
            <p:ph idx="1"/>
          </p:nvPr>
        </p:nvSpPr>
        <p:spPr/>
        <p:txBody>
          <a:bodyPr/>
          <a:lstStyle/>
          <a:p>
            <a:pPr>
              <a:buFont typeface="Wingdings" panose="05000000000000000000" pitchFamily="2" charset="2"/>
              <a:buNone/>
            </a:pPr>
            <a:r>
              <a:rPr lang="en-US" altLang="en-US" dirty="0" smtClean="0"/>
              <a:t>   </a:t>
            </a:r>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pPr>
              <a:buFont typeface="Wingdings" panose="05000000000000000000" pitchFamily="2" charset="2"/>
              <a:buNone/>
            </a:pPr>
            <a:endParaRPr lang="en-US" altLang="en-US" dirty="0" smtClean="0"/>
          </a:p>
          <a:p>
            <a:r>
              <a:rPr lang="en-US" altLang="en-US" b="1" dirty="0" smtClean="0"/>
              <a:t>Register Name: </a:t>
            </a:r>
          </a:p>
          <a:p>
            <a:pPr marL="0" indent="0">
              <a:buNone/>
            </a:pPr>
            <a:r>
              <a:rPr lang="en-US" altLang="en-US" b="1" dirty="0" smtClean="0"/>
              <a:t>	</a:t>
            </a:r>
            <a:r>
              <a:rPr lang="en-US" altLang="en-US" b="1" dirty="0" err="1" smtClean="0"/>
              <a:t>GPIO_PORTx_DEN_R</a:t>
            </a:r>
            <a:r>
              <a:rPr lang="en-US" altLang="en-US" b="1" dirty="0" smtClean="0"/>
              <a:t> </a:t>
            </a:r>
          </a:p>
        </p:txBody>
      </p:sp>
      <p:pic>
        <p:nvPicPr>
          <p:cNvPr id="18438" name="Picture 6" descr="F2-7_GPIODE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125" y="2166938"/>
            <a:ext cx="7864475" cy="177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1152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PULL UP RESISTOR (PUR)</a:t>
            </a:r>
            <a:endParaRPr lang="en-US" b="1" dirty="0"/>
          </a:p>
        </p:txBody>
      </p:sp>
      <p:sp>
        <p:nvSpPr>
          <p:cNvPr id="3" name="Content Placeholder 2"/>
          <p:cNvSpPr>
            <a:spLocks noGrp="1"/>
          </p:cNvSpPr>
          <p:nvPr>
            <p:ph idx="1"/>
          </p:nvPr>
        </p:nvSpPr>
        <p:spPr/>
        <p:txBody>
          <a:bodyPr/>
          <a:lstStyle/>
          <a:p>
            <a:r>
              <a:rPr lang="en-US" dirty="0" smtClean="0"/>
              <a:t>This </a:t>
            </a:r>
            <a:r>
              <a:rPr lang="en-US" dirty="0"/>
              <a:t>microcontroller has in built pull-up </a:t>
            </a:r>
            <a:r>
              <a:rPr lang="en-US" dirty="0" smtClean="0"/>
              <a:t>resistor which are used when required </a:t>
            </a:r>
          </a:p>
          <a:p>
            <a:r>
              <a:rPr lang="en-US" dirty="0" smtClean="0"/>
              <a:t>Pull up resistors are enabled by setting respective pin in </a:t>
            </a:r>
            <a:r>
              <a:rPr lang="en-US" b="1" dirty="0" err="1" smtClean="0"/>
              <a:t>GPIO_PORTx_PUR_R</a:t>
            </a:r>
            <a:endParaRPr lang="en-US" b="1" dirty="0" smtClean="0"/>
          </a:p>
          <a:p>
            <a:r>
              <a:rPr lang="en-US" dirty="0" smtClean="0"/>
              <a:t>Instead </a:t>
            </a:r>
            <a:r>
              <a:rPr lang="en-US" dirty="0"/>
              <a:t>of using pull-up we are also allowed for using pull-down register by writing 1 to the </a:t>
            </a:r>
            <a:r>
              <a:rPr lang="en-US" b="1" dirty="0"/>
              <a:t>PDR </a:t>
            </a:r>
            <a:r>
              <a:rPr lang="en-US" dirty="0"/>
              <a:t>register instead of </a:t>
            </a:r>
            <a:r>
              <a:rPr lang="en-US" b="1" dirty="0"/>
              <a:t>PUR</a:t>
            </a:r>
            <a:r>
              <a:rPr lang="en-US" dirty="0"/>
              <a:t>. </a:t>
            </a:r>
            <a:br>
              <a:rPr lang="en-US" dirty="0"/>
            </a:br>
            <a:r>
              <a:rPr lang="en-US" dirty="0">
                <a:hlinkClick r:id="rId2"/>
              </a:rPr>
              <a:t/>
            </a:r>
            <a:br>
              <a:rPr lang="en-US" dirty="0">
                <a:hlinkClick r:id="rId2"/>
              </a:rPr>
            </a:br>
            <a:endParaRPr lang="en-US" dirty="0"/>
          </a:p>
        </p:txBody>
      </p:sp>
    </p:spTree>
    <p:extLst>
      <p:ext uri="{BB962C8B-B14F-4D97-AF65-F5344CB8AC3E}">
        <p14:creationId xmlns:p14="http://schemas.microsoft.com/office/powerpoint/2010/main" val="18798643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400" b="1" dirty="0" smtClean="0"/>
              <a:t/>
            </a:r>
            <a:br>
              <a:rPr lang="en-US" sz="2400" b="1" dirty="0" smtClean="0"/>
            </a:br>
            <a:r>
              <a:rPr lang="en-US" sz="2400" b="1" dirty="0" smtClean="0"/>
              <a:t>Data Register </a:t>
            </a:r>
            <a:r>
              <a:rPr lang="en-US" sz="2400" dirty="0" smtClean="0"/>
              <a:t>(</a:t>
            </a:r>
            <a:r>
              <a:rPr lang="en-US" sz="2400" b="1" dirty="0" smtClean="0"/>
              <a:t>GPIODATA) in TI ARM</a:t>
            </a:r>
            <a:br>
              <a:rPr lang="en-US" sz="2400" b="1" dirty="0" smtClean="0"/>
            </a:br>
            <a:r>
              <a:rPr lang="en-US" sz="1800" b="1" dirty="0" smtClean="0"/>
              <a:t>(</a:t>
            </a:r>
            <a:r>
              <a:rPr lang="en-US" sz="1800" dirty="0" smtClean="0"/>
              <a:t>GPIOData Register)</a:t>
            </a:r>
            <a:r>
              <a:rPr lang="en-US" sz="2000" dirty="0" smtClean="0"/>
              <a:t/>
            </a:r>
            <a:br>
              <a:rPr lang="en-US" sz="2000" dirty="0" smtClean="0"/>
            </a:br>
            <a:endParaRPr lang="en-US" sz="2000" dirty="0"/>
          </a:p>
        </p:txBody>
      </p:sp>
      <p:sp>
        <p:nvSpPr>
          <p:cNvPr id="133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mtClean="0">
                <a:solidFill>
                  <a:schemeClr val="bg1"/>
                </a:solidFill>
              </a:rPr>
              <a:t>Produced by Sh. Yaghni</a:t>
            </a:r>
          </a:p>
        </p:txBody>
      </p:sp>
      <p:sp>
        <p:nvSpPr>
          <p:cNvPr id="1331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3B4D7-6EDA-47E9-BA21-031E70FF9B69}" type="slidenum">
              <a:rPr lang="ar-SA" altLang="en-US">
                <a:solidFill>
                  <a:schemeClr val="bg1"/>
                </a:solidFill>
              </a:rPr>
              <a:pPr eaLnBrk="1" hangingPunct="1"/>
              <a:t>17</a:t>
            </a:fld>
            <a:endParaRPr lang="en-US" altLang="en-US">
              <a:solidFill>
                <a:schemeClr val="bg1"/>
              </a:solidFill>
            </a:endParaRPr>
          </a:p>
        </p:txBody>
      </p:sp>
      <p:sp>
        <p:nvSpPr>
          <p:cNvPr id="13317" name="Content Placeholder 5"/>
          <p:cNvSpPr>
            <a:spLocks noGrp="1"/>
          </p:cNvSpPr>
          <p:nvPr>
            <p:ph idx="1"/>
          </p:nvPr>
        </p:nvSpPr>
        <p:spPr/>
        <p:txBody>
          <a:bodyPr/>
          <a:lstStyle/>
          <a:p>
            <a:pPr>
              <a:buFont typeface="Wingdings" panose="05000000000000000000" pitchFamily="2" charset="2"/>
              <a:buNone/>
            </a:pPr>
            <a:r>
              <a:rPr lang="en-US" altLang="en-US" smtClean="0"/>
              <a:t> </a:t>
            </a:r>
          </a:p>
        </p:txBody>
      </p:sp>
      <p:pic>
        <p:nvPicPr>
          <p:cNvPr id="13318" name="Picture 6" descr="F2-5_Dat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675" y="2700338"/>
            <a:ext cx="71755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33400" y="4419600"/>
            <a:ext cx="5867400" cy="646331"/>
          </a:xfrm>
          <a:prstGeom prst="rect">
            <a:avLst/>
          </a:prstGeom>
          <a:noFill/>
        </p:spPr>
        <p:txBody>
          <a:bodyPr wrap="square" rtlCol="0">
            <a:spAutoFit/>
          </a:bodyPr>
          <a:lstStyle/>
          <a:p>
            <a:r>
              <a:rPr lang="en-US" altLang="en-US" b="1" dirty="0"/>
              <a:t>Register Name: </a:t>
            </a:r>
          </a:p>
          <a:p>
            <a:r>
              <a:rPr lang="en-US" dirty="0" err="1" smtClean="0"/>
              <a:t>GPIO_PORTx_DATA_R</a:t>
            </a:r>
            <a:endParaRPr lang="en-US" dirty="0"/>
          </a:p>
        </p:txBody>
      </p:sp>
    </p:spTree>
    <p:extLst>
      <p:ext uri="{BB962C8B-B14F-4D97-AF65-F5344CB8AC3E}">
        <p14:creationId xmlns:p14="http://schemas.microsoft.com/office/powerpoint/2010/main" val="2302310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pic>
        <p:nvPicPr>
          <p:cNvPr id="4" name="Picture 3"/>
          <p:cNvPicPr>
            <a:picLocks noChangeAspect="1"/>
          </p:cNvPicPr>
          <p:nvPr/>
        </p:nvPicPr>
        <p:blipFill>
          <a:blip r:embed="rId2"/>
          <a:stretch>
            <a:fillRect/>
          </a:stretch>
        </p:blipFill>
        <p:spPr>
          <a:xfrm>
            <a:off x="1066800" y="1671024"/>
            <a:ext cx="6213329" cy="3805238"/>
          </a:xfrm>
          <a:prstGeom prst="rect">
            <a:avLst/>
          </a:prstGeom>
        </p:spPr>
      </p:pic>
    </p:spTree>
    <p:extLst>
      <p:ext uri="{BB962C8B-B14F-4D97-AF65-F5344CB8AC3E}">
        <p14:creationId xmlns:p14="http://schemas.microsoft.com/office/powerpoint/2010/main" val="18838247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LEDs and switches on TIVA Launchpad</a:t>
            </a:r>
            <a:endParaRPr lang="en-US" dirty="0"/>
          </a:p>
        </p:txBody>
      </p:sp>
      <p:pic>
        <p:nvPicPr>
          <p:cNvPr id="3" name="Picture 2"/>
          <p:cNvPicPr>
            <a:picLocks noChangeAspect="1"/>
          </p:cNvPicPr>
          <p:nvPr/>
        </p:nvPicPr>
        <p:blipFill>
          <a:blip r:embed="rId2"/>
          <a:stretch>
            <a:fillRect/>
          </a:stretch>
        </p:blipFill>
        <p:spPr>
          <a:xfrm>
            <a:off x="557212" y="1552575"/>
            <a:ext cx="8029575" cy="3752850"/>
          </a:xfrm>
          <a:prstGeom prst="rect">
            <a:avLst/>
          </a:prstGeom>
        </p:spPr>
      </p:pic>
    </p:spTree>
    <p:extLst>
      <p:ext uri="{BB962C8B-B14F-4D97-AF65-F5344CB8AC3E}">
        <p14:creationId xmlns:p14="http://schemas.microsoft.com/office/powerpoint/2010/main" val="18790266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761" y="152400"/>
            <a:ext cx="7886700" cy="701674"/>
          </a:xfrm>
        </p:spPr>
        <p:txBody>
          <a:bodyPr/>
          <a:lstStyle/>
          <a:p>
            <a:r>
              <a:rPr lang="en-US" b="1" dirty="0" smtClean="0"/>
              <a:t>Exercise: Toggle Blue LED with SW1</a:t>
            </a:r>
            <a:endParaRPr lang="en-US" b="1" dirty="0"/>
          </a:p>
        </p:txBody>
      </p:sp>
      <p:sp>
        <p:nvSpPr>
          <p:cNvPr id="4" name="TextBox 3"/>
          <p:cNvSpPr txBox="1"/>
          <p:nvPr/>
        </p:nvSpPr>
        <p:spPr>
          <a:xfrm>
            <a:off x="381000" y="854074"/>
            <a:ext cx="8610600" cy="5632311"/>
          </a:xfrm>
          <a:prstGeom prst="rect">
            <a:avLst/>
          </a:prstGeom>
          <a:noFill/>
        </p:spPr>
        <p:txBody>
          <a:bodyPr wrap="square" rtlCol="0">
            <a:spAutoFit/>
          </a:bodyPr>
          <a:lstStyle/>
          <a:p>
            <a:r>
              <a:rPr lang="en-US" b="1" dirty="0"/>
              <a:t>#include &lt;</a:t>
            </a:r>
            <a:r>
              <a:rPr lang="en-US" b="1" dirty="0" err="1"/>
              <a:t>stdio.h</a:t>
            </a:r>
            <a:r>
              <a:rPr lang="en-US" b="1" dirty="0"/>
              <a:t>&gt;</a:t>
            </a:r>
          </a:p>
          <a:p>
            <a:r>
              <a:rPr lang="en-US" b="1" dirty="0" smtClean="0"/>
              <a:t>#</a:t>
            </a:r>
            <a:r>
              <a:rPr lang="en-US" b="1" dirty="0"/>
              <a:t>include "</a:t>
            </a:r>
            <a:r>
              <a:rPr lang="en-US" b="1" dirty="0" err="1"/>
              <a:t>inc</a:t>
            </a:r>
            <a:r>
              <a:rPr lang="en-US" b="1" dirty="0"/>
              <a:t>/tm4c123gh6pm.h"</a:t>
            </a:r>
          </a:p>
          <a:p>
            <a:r>
              <a:rPr lang="en-US" b="1" dirty="0" smtClean="0"/>
              <a:t>#</a:t>
            </a:r>
            <a:r>
              <a:rPr lang="en-US" b="1" dirty="0"/>
              <a:t>define SW1 (GPIO_PORTF_DATA_R&amp;0x10)</a:t>
            </a:r>
          </a:p>
          <a:p>
            <a:r>
              <a:rPr lang="en-US" b="1" dirty="0" smtClean="0"/>
              <a:t>void </a:t>
            </a:r>
            <a:r>
              <a:rPr lang="en-US" b="1" dirty="0" err="1"/>
              <a:t>PortF_Init</a:t>
            </a:r>
            <a:r>
              <a:rPr lang="en-US" b="1" dirty="0"/>
              <a:t>(void){</a:t>
            </a:r>
          </a:p>
          <a:p>
            <a:r>
              <a:rPr lang="en-US" dirty="0"/>
              <a:t>SYSCTL_RCGCGPIO_R |= 0x00000020; // </a:t>
            </a:r>
            <a:r>
              <a:rPr lang="en-US" dirty="0" smtClean="0"/>
              <a:t>activate </a:t>
            </a:r>
            <a:r>
              <a:rPr lang="en-US" dirty="0"/>
              <a:t>clock for Port F</a:t>
            </a:r>
          </a:p>
          <a:p>
            <a:r>
              <a:rPr lang="en-US" b="1" dirty="0"/>
              <a:t>while((SYSCTL_PRGPIO_R&amp;0x00000020) == 0){};// ready?</a:t>
            </a:r>
          </a:p>
          <a:p>
            <a:r>
              <a:rPr lang="en-US" dirty="0"/>
              <a:t>GPIO_PORTF_LOCK_R = 0x4C4F434B; // </a:t>
            </a:r>
            <a:r>
              <a:rPr lang="en-US" dirty="0" smtClean="0"/>
              <a:t>unlock </a:t>
            </a:r>
            <a:r>
              <a:rPr lang="en-US" dirty="0"/>
              <a:t>GPIO Port F</a:t>
            </a:r>
          </a:p>
          <a:p>
            <a:r>
              <a:rPr lang="en-US" dirty="0"/>
              <a:t>GPIO_PORTF_CR_R = </a:t>
            </a:r>
            <a:r>
              <a:rPr lang="en-US" dirty="0" smtClean="0"/>
              <a:t>0x14; </a:t>
            </a:r>
            <a:r>
              <a:rPr lang="en-US" dirty="0"/>
              <a:t>// allow changes to </a:t>
            </a:r>
            <a:r>
              <a:rPr lang="en-US" dirty="0" smtClean="0"/>
              <a:t>PF2 &amp; PF4</a:t>
            </a:r>
            <a:endParaRPr lang="en-US" dirty="0"/>
          </a:p>
          <a:p>
            <a:r>
              <a:rPr lang="en-US" dirty="0"/>
              <a:t>GPIO_PORTF_DIR_R = 0x04; // </a:t>
            </a:r>
            <a:r>
              <a:rPr lang="en-US" dirty="0" smtClean="0"/>
              <a:t>PF4 </a:t>
            </a:r>
            <a:r>
              <a:rPr lang="en-US" dirty="0"/>
              <a:t>in, PF2 out</a:t>
            </a:r>
          </a:p>
          <a:p>
            <a:r>
              <a:rPr lang="en-US" dirty="0"/>
              <a:t>GPIO_PORTF_PUR_R = </a:t>
            </a:r>
            <a:r>
              <a:rPr lang="en-US" dirty="0" smtClean="0"/>
              <a:t>0x10; </a:t>
            </a:r>
            <a:r>
              <a:rPr lang="en-US" dirty="0"/>
              <a:t>// enable pull-up on </a:t>
            </a:r>
            <a:r>
              <a:rPr lang="en-US" dirty="0" smtClean="0"/>
              <a:t>PF4</a:t>
            </a:r>
            <a:endParaRPr lang="en-US" dirty="0"/>
          </a:p>
          <a:p>
            <a:r>
              <a:rPr lang="pt-BR" dirty="0"/>
              <a:t>GPIO_PORTF_DEN_R = </a:t>
            </a:r>
            <a:r>
              <a:rPr lang="pt-BR" dirty="0" smtClean="0"/>
              <a:t>0x14; </a:t>
            </a:r>
            <a:r>
              <a:rPr lang="pt-BR" dirty="0"/>
              <a:t>// </a:t>
            </a:r>
            <a:r>
              <a:rPr lang="pt-BR" dirty="0" smtClean="0"/>
              <a:t> </a:t>
            </a:r>
            <a:r>
              <a:rPr lang="pt-BR" dirty="0"/>
              <a:t>enable digital I/O on </a:t>
            </a:r>
            <a:r>
              <a:rPr lang="pt-BR" dirty="0" smtClean="0"/>
              <a:t>PF2 &amp; PF4</a:t>
            </a:r>
            <a:r>
              <a:rPr lang="en-US" dirty="0" smtClean="0"/>
              <a:t>}</a:t>
            </a:r>
            <a:endParaRPr lang="en-US" dirty="0"/>
          </a:p>
          <a:p>
            <a:endParaRPr lang="en-US" dirty="0"/>
          </a:p>
          <a:p>
            <a:r>
              <a:rPr lang="en-US" b="1" dirty="0"/>
              <a:t>void main(void)</a:t>
            </a:r>
          </a:p>
          <a:p>
            <a:r>
              <a:rPr lang="en-US" dirty="0" smtClean="0"/>
              <a:t>{</a:t>
            </a:r>
            <a:r>
              <a:rPr lang="en-US" dirty="0" err="1" smtClean="0"/>
              <a:t>PortF_Init</a:t>
            </a:r>
            <a:r>
              <a:rPr lang="en-US" dirty="0"/>
              <a:t>();</a:t>
            </a:r>
          </a:p>
          <a:p>
            <a:r>
              <a:rPr lang="en-US" b="1" dirty="0"/>
              <a:t>while(1</a:t>
            </a:r>
            <a:r>
              <a:rPr lang="en-US" b="1" dirty="0" smtClean="0"/>
              <a:t>)</a:t>
            </a:r>
            <a:r>
              <a:rPr lang="en-US" dirty="0" smtClean="0"/>
              <a:t>{</a:t>
            </a:r>
            <a:endParaRPr lang="en-US" dirty="0"/>
          </a:p>
          <a:p>
            <a:r>
              <a:rPr lang="en-US" b="1" dirty="0"/>
              <a:t>if (!SW1</a:t>
            </a:r>
            <a:r>
              <a:rPr lang="en-US" b="1" dirty="0" smtClean="0"/>
              <a:t>)</a:t>
            </a:r>
            <a:endParaRPr lang="en-US" b="1" dirty="0"/>
          </a:p>
          <a:p>
            <a:r>
              <a:rPr lang="en-US" dirty="0"/>
              <a:t>   </a:t>
            </a:r>
            <a:r>
              <a:rPr lang="en-US" dirty="0" smtClean="0"/>
              <a:t>GPIO_PORTF_DATA_R=GPIO_PORTF_DATA_R^0x04;</a:t>
            </a:r>
          </a:p>
          <a:p>
            <a:r>
              <a:rPr lang="en-US" dirty="0" smtClean="0"/>
              <a:t>}</a:t>
            </a:r>
            <a:endParaRPr lang="en-US" dirty="0"/>
          </a:p>
          <a:p>
            <a:r>
              <a:rPr lang="en-US" dirty="0"/>
              <a:t>}</a:t>
            </a:r>
          </a:p>
          <a:p>
            <a:endParaRPr lang="en-US" dirty="0"/>
          </a:p>
        </p:txBody>
      </p:sp>
    </p:spTree>
    <p:extLst>
      <p:ext uri="{BB962C8B-B14F-4D97-AF65-F5344CB8AC3E}">
        <p14:creationId xmlns:p14="http://schemas.microsoft.com/office/powerpoint/2010/main" val="30647403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8204</TotalTime>
  <Words>629</Words>
  <Application>Microsoft Office PowerPoint</Application>
  <PresentationFormat>On-screen Show (4:3)</PresentationFormat>
  <Paragraphs>110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Embedded Systems I/O of TM4C123HG6PM</vt:lpstr>
      <vt:lpstr>PowerPoint Presentation</vt:lpstr>
      <vt:lpstr>Memory Mapping (revisited)</vt:lpstr>
      <vt:lpstr>Basic Concept of I/O: Reading from Input Port</vt:lpstr>
      <vt:lpstr>Basic Concept of I/O: Writing to Output Port</vt:lpstr>
      <vt:lpstr>Configuring direction of port</vt:lpstr>
      <vt:lpstr>Steps to initialize GPIO</vt:lpstr>
      <vt:lpstr>  The GPIO Clock enable for all the I/O ports (RCGCGPIO (Run mode Clock Gating Control) Register ) </vt:lpstr>
      <vt:lpstr>LOCK register</vt:lpstr>
      <vt:lpstr>AMSEL register</vt:lpstr>
      <vt:lpstr>PCTL register</vt:lpstr>
      <vt:lpstr> Direction Register (GPIODIR Register) </vt:lpstr>
      <vt:lpstr>Alternate Function register</vt:lpstr>
      <vt:lpstr>GPIO COMMIT register (CR)</vt:lpstr>
      <vt:lpstr> The GPIO Digital Enable Register: to use I/O pin as digital (GPIODEN Register) </vt:lpstr>
      <vt:lpstr>PULL UP RESISTOR (PUR)</vt:lpstr>
      <vt:lpstr> Data Register (GPIODATA) in TI ARM (GPIOData Register) </vt:lpstr>
      <vt:lpstr>Example</vt:lpstr>
      <vt:lpstr>LEDs and switches on TIVA Launchpad</vt:lpstr>
      <vt:lpstr>Exercise: Toggle Blue LED with SW1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 Analysis – I</dc:title>
  <dc:creator>tooba</dc:creator>
  <cp:lastModifiedBy>Tooba Javed</cp:lastModifiedBy>
  <cp:revision>307</cp:revision>
  <dcterms:created xsi:type="dcterms:W3CDTF">2014-08-22T09:03:09Z</dcterms:created>
  <dcterms:modified xsi:type="dcterms:W3CDTF">2018-09-25T08:19:03Z</dcterms:modified>
</cp:coreProperties>
</file>