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4" r:id="rId6"/>
    <p:sldId id="263" r:id="rId7"/>
  </p:sldIdLst>
  <p:sldSz cx="9144000" cy="6858000" type="screen4x3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5" autoAdjust="0"/>
    <p:restoredTop sz="94660"/>
  </p:normalViewPr>
  <p:slideViewPr>
    <p:cSldViewPr>
      <p:cViewPr varScale="1">
        <p:scale>
          <a:sx n="69" d="100"/>
          <a:sy n="69" d="100"/>
        </p:scale>
        <p:origin x="1488" y="6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357D5372-658B-46B3-AD77-1190378C91D1}" type="datetimeFigureOut">
              <a:rPr lang="en-US" smtClean="0"/>
              <a:pPr/>
              <a:t>12/30/2018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769EEADB-72FD-4B75-9D3E-2EFCA2A147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75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Modulo (mod or %) operation gives the remainder: (a mod n) is the remainder when a is divided by n. </a:t>
            </a:r>
          </a:p>
          <a:p>
            <a:endParaRPr lang="en-US" altLang="en-US" smtClean="0"/>
          </a:p>
          <a:p>
            <a:r>
              <a:rPr lang="en-US" altLang="en-US" smtClean="0"/>
              <a:t>When a &lt; n, (a mod n) is simply a.</a:t>
            </a:r>
          </a:p>
          <a:p>
            <a:endParaRPr lang="en-US" altLang="en-US" smtClean="0"/>
          </a:p>
          <a:p>
            <a:r>
              <a:rPr lang="en-US" altLang="en-US" smtClean="0"/>
              <a:t>When current_value reaches 0, then the next value is [(0-1)mod (n+1)] = -1 mod (n+1) = n</a:t>
            </a:r>
          </a:p>
          <a:p>
            <a:r>
              <a:rPr lang="en-US" altLang="en-US" smtClean="0"/>
              <a:t>That is the counter gets reset to max value n after it reaches 0.  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47321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4838" indent="-309553" defTabSz="1047321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238212" indent="-247642" defTabSz="1047321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733497" indent="-247642" defTabSz="1047321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228781" indent="-247642" defTabSz="1047321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724066" indent="-247642" defTabSz="104732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3219351" indent="-247642" defTabSz="104732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714636" indent="-247642" defTabSz="104732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4209920" indent="-247642" defTabSz="104732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68C577B-5936-487D-9CD6-5ECD58738004}" type="slidenum">
              <a:rPr lang="en-US" altLang="en-US" sz="1400"/>
              <a:pPr/>
              <a:t>2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287358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RELOAD value is the value to load into the counter (reset) every time it hits zero, i.e. the </a:t>
            </a:r>
            <a:r>
              <a:rPr lang="en-US" altLang="en-US" i="1" smtClean="0"/>
              <a:t>n</a:t>
            </a:r>
            <a:r>
              <a:rPr lang="en-US" altLang="en-US" smtClean="0"/>
              <a:t> value from the previous slide</a:t>
            </a:r>
          </a:p>
        </p:txBody>
      </p:sp>
    </p:spTree>
    <p:extLst>
      <p:ext uri="{BB962C8B-B14F-4D97-AF65-F5344CB8AC3E}">
        <p14:creationId xmlns:p14="http://schemas.microsoft.com/office/powerpoint/2010/main" val="1355520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8E92EEE-9D96-4569-BD3D-C88D4F1ECC9D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5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2E31-ABB4-433D-83B7-B3206775FE61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8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C3BA-551C-4C6D-9EFF-8DE6401AFE95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5F413-AEF9-48ED-8DB5-F52A2B8675D9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2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3003-BFBF-441E-A2AA-0E1696AEB29B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2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D54A-71BD-4AAC-ACF2-AC3E7CA7D71A}" type="datetime1">
              <a:rPr lang="en-US" smtClean="0"/>
              <a:t>12/30/2018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2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5D62-35DF-40FE-A90E-D15A412381A0}" type="datetime1">
              <a:rPr lang="en-US" smtClean="0"/>
              <a:t>12/30/2018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6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5A2E-B59B-4844-AE72-5C0947A586F2}" type="datetime1">
              <a:rPr lang="en-US" smtClean="0"/>
              <a:t>12/30/2018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7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1138-3446-4320-9EA9-2D717A9BA4B3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01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0AA7-6E59-4907-82DC-93CFC2030651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1614-28DD-4BD9-8904-93D834392D0D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80DB9-5EBD-45C5-88AE-EA784B709059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8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B28C4-FE4C-4304-82ED-884275B19E0F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4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9412" y="304800"/>
            <a:ext cx="5765175" cy="2301240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cap="none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Embedded Systems</a:t>
            </a:r>
            <a:br>
              <a:rPr lang="en-US" sz="3600" cap="none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r>
              <a:rPr lang="en-US" sz="2000" cap="none" dirty="0" err="1" smtClean="0">
                <a:ln w="18415" cmpd="sng">
                  <a:solidFill>
                    <a:srgbClr val="FFFFFF"/>
                  </a:solidFill>
                  <a:prstDash val="solid"/>
                </a:ln>
              </a:rPr>
              <a:t>systick</a:t>
            </a:r>
            <a:r>
              <a:rPr lang="en-US" sz="2000" cap="none" dirty="0" smtClean="0">
                <a:ln w="18415" cmpd="sng">
                  <a:solidFill>
                    <a:srgbClr val="FFFFFF"/>
                  </a:solidFill>
                  <a:prstDash val="solid"/>
                </a:ln>
              </a:rPr>
              <a:t> timer + PLL</a:t>
            </a:r>
            <a:endParaRPr lang="en-US" sz="3600" cap="none" dirty="0">
              <a:ln w="1143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4424" y="457200"/>
            <a:ext cx="4215150" cy="6858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 smtClean="0"/>
              <a:t>Fall 2018</a:t>
            </a:r>
          </a:p>
          <a:p>
            <a:pPr algn="ctr"/>
            <a:r>
              <a:rPr lang="en-US" dirty="0" smtClean="0"/>
              <a:t>NUCES – FAST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2758440"/>
            <a:ext cx="8839200" cy="3407925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SysTick Timer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23875" y="1443038"/>
            <a:ext cx="7924800" cy="4572000"/>
          </a:xfrm>
        </p:spPr>
        <p:txBody>
          <a:bodyPr/>
          <a:lstStyle/>
          <a:p>
            <a:pPr eaLnBrk="1" hangingPunct="1"/>
            <a:r>
              <a:rPr lang="en-US" altLang="en-US" smtClean="0"/>
              <a:t>Timer/Counter operation</a:t>
            </a:r>
          </a:p>
          <a:p>
            <a:pPr lvl="1" eaLnBrk="1" hangingPunct="1"/>
            <a:r>
              <a:rPr lang="en-US" altLang="en-US" smtClean="0"/>
              <a:t>24-bit counter </a:t>
            </a:r>
            <a:r>
              <a:rPr lang="en-US" altLang="en-US" i="1" smtClean="0"/>
              <a:t>decrements</a:t>
            </a:r>
            <a:r>
              <a:rPr lang="en-US" altLang="en-US" smtClean="0"/>
              <a:t> at bus clock frequency</a:t>
            </a:r>
          </a:p>
          <a:p>
            <a:pPr lvl="2" eaLnBrk="1" hangingPunct="1"/>
            <a:r>
              <a:rPr lang="en-US" altLang="en-US" smtClean="0"/>
              <a:t>With 80 MHz bus clock, decrements every 12.5 ns</a:t>
            </a:r>
          </a:p>
          <a:p>
            <a:pPr lvl="1" eaLnBrk="1" hangingPunct="1"/>
            <a:r>
              <a:rPr lang="en-US" altLang="en-US" smtClean="0"/>
              <a:t>Counting is from </a:t>
            </a:r>
            <a:r>
              <a:rPr lang="en-US" altLang="en-US" i="1" smtClean="0"/>
              <a:t>n</a:t>
            </a:r>
            <a:r>
              <a:rPr lang="en-US" altLang="en-US" smtClean="0"/>
              <a:t> </a:t>
            </a:r>
            <a:r>
              <a:rPr lang="en-US" altLang="en-US" smtClean="0">
                <a:sym typeface="Wingdings" panose="05000000000000000000" pitchFamily="2" charset="2"/>
              </a:rPr>
              <a:t> 0</a:t>
            </a:r>
          </a:p>
          <a:p>
            <a:pPr lvl="2" eaLnBrk="1" hangingPunct="1"/>
            <a:r>
              <a:rPr lang="en-US" altLang="en-US" smtClean="0"/>
              <a:t>Setting </a:t>
            </a:r>
            <a:r>
              <a:rPr lang="en-US" altLang="en-US" i="1" smtClean="0"/>
              <a:t>n</a:t>
            </a:r>
            <a:r>
              <a:rPr lang="en-US" altLang="en-US" smtClean="0"/>
              <a:t> appropriately will make the counter a modulo </a:t>
            </a:r>
            <a:r>
              <a:rPr lang="en-US" altLang="en-US" i="1" smtClean="0"/>
              <a:t>n</a:t>
            </a:r>
            <a:r>
              <a:rPr lang="en-US" altLang="en-US" smtClean="0"/>
              <a:t>+1 counter. That is:</a:t>
            </a:r>
          </a:p>
          <a:p>
            <a:pPr lvl="3" eaLnBrk="1" hangingPunct="1"/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next_value = (current_value-1) mod (n+1)</a:t>
            </a:r>
          </a:p>
          <a:p>
            <a:pPr lvl="3" eaLnBrk="1" hangingPunct="1"/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Sequence: n,n-1,n-2,n-3… 2,1,0,n,n-1…</a:t>
            </a:r>
          </a:p>
        </p:txBody>
      </p:sp>
    </p:spTree>
    <p:extLst>
      <p:ext uri="{BB962C8B-B14F-4D97-AF65-F5344CB8AC3E}">
        <p14:creationId xmlns:p14="http://schemas.microsoft.com/office/powerpoint/2010/main" val="386834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SysTick Timer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2690813"/>
            <a:ext cx="7848600" cy="34353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Initialization (4 steps)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 smtClean="0"/>
              <a:t>Step1</a:t>
            </a:r>
            <a:r>
              <a:rPr lang="en-US" altLang="en-US" sz="2000" dirty="0" smtClean="0"/>
              <a:t>: Clear ENABLE to stop counter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 smtClean="0"/>
              <a:t>Step2</a:t>
            </a:r>
            <a:r>
              <a:rPr lang="en-US" altLang="en-US" sz="2000" dirty="0" smtClean="0"/>
              <a:t>: Specify the RELOAD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 smtClean="0"/>
              <a:t>Step3</a:t>
            </a:r>
            <a:r>
              <a:rPr lang="en-US" altLang="en-US" sz="2000" dirty="0" smtClean="0"/>
              <a:t>: Clear the counter via NVIC_ST_CURRENT_R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 smtClean="0"/>
              <a:t>Step4</a:t>
            </a:r>
            <a:r>
              <a:rPr lang="en-US" altLang="en-US" sz="2000" dirty="0" smtClean="0"/>
              <a:t>: Set NVIC_ST_CTRL_R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CLK_SRC = 1 (bus clock is the only option)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INTEN = 0 for no interrupts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ENABLE = 1 to enable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</p:txBody>
      </p:sp>
      <p:graphicFrame>
        <p:nvGraphicFramePr>
          <p:cNvPr id="22532" name="Object 8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0771176"/>
              </p:ext>
            </p:extLst>
          </p:nvPr>
        </p:nvGraphicFramePr>
        <p:xfrm>
          <a:off x="228600" y="1390650"/>
          <a:ext cx="868680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Document" r:id="rId4" imgW="5783601" imgH="731848" progId="Word.Document.8">
                  <p:embed/>
                </p:oleObj>
              </mc:Choice>
              <mc:Fallback>
                <p:oleObj name="Document" r:id="rId4" imgW="5783601" imgH="731848" progId="Word.Document.8">
                  <p:embed/>
                  <p:pic>
                    <p:nvPicPr>
                      <p:cNvPr id="22532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90650"/>
                        <a:ext cx="8686800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10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8625" y="152400"/>
            <a:ext cx="7886700" cy="4683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 smtClean="0"/>
              <a:t>SysTick</a:t>
            </a:r>
            <a:r>
              <a:rPr lang="en-US" altLang="en-US" dirty="0" smtClean="0"/>
              <a:t> Timer in C</a:t>
            </a: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428625" y="474111"/>
            <a:ext cx="8334375" cy="64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q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o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Ø"/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200" b="1" dirty="0" smtClean="0"/>
              <a:t>void </a:t>
            </a:r>
            <a:r>
              <a:rPr lang="en-US" sz="1200" b="1" dirty="0" err="1"/>
              <a:t>SysTick_Init</a:t>
            </a:r>
            <a:r>
              <a:rPr lang="en-US" sz="1200" b="1" dirty="0"/>
              <a:t>(void</a:t>
            </a:r>
            <a:r>
              <a:rPr lang="en-US" sz="1200" b="1" dirty="0" smtClean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200" dirty="0" smtClean="0"/>
              <a:t>{</a:t>
            </a:r>
            <a:endParaRPr lang="en-US" sz="1200" dirty="0"/>
          </a:p>
          <a:p>
            <a:pPr>
              <a:buNone/>
            </a:pPr>
            <a:r>
              <a:rPr lang="en-US" sz="1200" dirty="0"/>
              <a:t> NVIC_ST_CTRL_R = 0; </a:t>
            </a:r>
            <a:r>
              <a:rPr lang="en-US" sz="1200" dirty="0" smtClean="0"/>
              <a:t>			// 1</a:t>
            </a:r>
            <a:r>
              <a:rPr lang="en-US" sz="1200" dirty="0"/>
              <a:t>) disable </a:t>
            </a:r>
            <a:r>
              <a:rPr lang="en-US" sz="1200" dirty="0" err="1"/>
              <a:t>SysTick</a:t>
            </a:r>
            <a:r>
              <a:rPr lang="en-US" sz="1200" dirty="0"/>
              <a:t> during setup</a:t>
            </a:r>
          </a:p>
          <a:p>
            <a:pPr>
              <a:buNone/>
            </a:pPr>
            <a:r>
              <a:rPr lang="en-US" sz="1200" dirty="0"/>
              <a:t> NVIC_ST_RELOAD_R = 0x00FFFFFF; </a:t>
            </a:r>
            <a:r>
              <a:rPr lang="en-US" sz="1200" dirty="0" smtClean="0"/>
              <a:t>		// </a:t>
            </a:r>
            <a:r>
              <a:rPr lang="en-US" sz="1200" dirty="0"/>
              <a:t>2) maximum reload value</a:t>
            </a:r>
          </a:p>
          <a:p>
            <a:pPr>
              <a:buNone/>
            </a:pPr>
            <a:r>
              <a:rPr lang="en-US" sz="1200" dirty="0"/>
              <a:t> NVIC_ST_CURRENT_R = 0; </a:t>
            </a:r>
            <a:r>
              <a:rPr lang="en-US" sz="1200" dirty="0" smtClean="0"/>
              <a:t>			// </a:t>
            </a:r>
            <a:r>
              <a:rPr lang="en-US" sz="1200" dirty="0"/>
              <a:t>3) any write to CURRENT clears it</a:t>
            </a:r>
          </a:p>
          <a:p>
            <a:pPr>
              <a:buNone/>
            </a:pPr>
            <a:r>
              <a:rPr lang="en-US" sz="1200" dirty="0"/>
              <a:t> NVIC_ST_CTRL_R = 0x00000005; </a:t>
            </a:r>
            <a:r>
              <a:rPr lang="en-US" sz="1200" dirty="0" smtClean="0"/>
              <a:t>		// </a:t>
            </a:r>
            <a:r>
              <a:rPr lang="en-US" sz="1200" dirty="0"/>
              <a:t>4) enable </a:t>
            </a:r>
            <a:r>
              <a:rPr lang="en-US" sz="1200" dirty="0" err="1"/>
              <a:t>SysTick</a:t>
            </a:r>
            <a:r>
              <a:rPr lang="en-US" sz="1200" dirty="0"/>
              <a:t> with core clock</a:t>
            </a:r>
          </a:p>
          <a:p>
            <a:pPr>
              <a:buNone/>
            </a:pPr>
            <a:r>
              <a:rPr lang="en-US" sz="1200" dirty="0"/>
              <a:t>}</a:t>
            </a:r>
            <a:endParaRPr lang="en-US" alt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200" dirty="0" smtClean="0"/>
              <a:t>					// </a:t>
            </a:r>
            <a:r>
              <a:rPr lang="en-US" sz="1200" dirty="0"/>
              <a:t>The delay parameter is in units of the </a:t>
            </a:r>
            <a:r>
              <a:rPr lang="en-US" sz="1200" dirty="0" smtClean="0"/>
              <a:t>16</a:t>
            </a:r>
          </a:p>
          <a:p>
            <a:pPr>
              <a:buNone/>
            </a:pPr>
            <a:r>
              <a:rPr lang="en-US" sz="1200" dirty="0" smtClean="0"/>
              <a:t>					//MHz </a:t>
            </a:r>
            <a:r>
              <a:rPr lang="en-US" sz="1200" dirty="0"/>
              <a:t>core clock(62.5 </a:t>
            </a:r>
            <a:r>
              <a:rPr lang="en-US" sz="1200" u="sng" dirty="0"/>
              <a:t>ns)</a:t>
            </a:r>
          </a:p>
          <a:p>
            <a:pPr>
              <a:buNone/>
            </a:pPr>
            <a:r>
              <a:rPr lang="en-US" sz="1200" b="1" dirty="0"/>
              <a:t>void </a:t>
            </a:r>
            <a:r>
              <a:rPr lang="en-US" sz="1200" b="1" dirty="0" err="1"/>
              <a:t>SysTick_Wait</a:t>
            </a:r>
            <a:r>
              <a:rPr lang="en-US" sz="1200" b="1" dirty="0"/>
              <a:t>(uint32_t </a:t>
            </a:r>
            <a:r>
              <a:rPr lang="en-US" sz="1200" b="1" dirty="0" err="1" smtClean="0"/>
              <a:t>reloadvalue</a:t>
            </a:r>
            <a:r>
              <a:rPr lang="en-US" sz="1200" b="1" dirty="0" smtClean="0"/>
              <a:t>)</a:t>
            </a:r>
          </a:p>
          <a:p>
            <a:pPr>
              <a:buNone/>
            </a:pPr>
            <a:r>
              <a:rPr lang="en-US" sz="1200" dirty="0" smtClean="0"/>
              <a:t>{</a:t>
            </a:r>
            <a:endParaRPr lang="en-US" sz="1200" dirty="0"/>
          </a:p>
          <a:p>
            <a:pPr>
              <a:buNone/>
            </a:pPr>
            <a:r>
              <a:rPr lang="en-US" sz="1200" dirty="0"/>
              <a:t> </a:t>
            </a:r>
            <a:r>
              <a:rPr lang="en-US" sz="1200" dirty="0" smtClean="0"/>
              <a:t>NVIC_ST_RELOAD_R </a:t>
            </a:r>
            <a:r>
              <a:rPr lang="en-US" sz="1200" dirty="0"/>
              <a:t>= </a:t>
            </a:r>
            <a:r>
              <a:rPr lang="en-US" sz="1200" dirty="0" smtClean="0"/>
              <a:t>reloadvalue-1</a:t>
            </a:r>
            <a:r>
              <a:rPr lang="en-US" sz="1200" dirty="0"/>
              <a:t>;  </a:t>
            </a:r>
            <a:r>
              <a:rPr lang="en-US" sz="1200" dirty="0" smtClean="0"/>
              <a:t>		// </a:t>
            </a:r>
            <a:r>
              <a:rPr lang="en-US" sz="1200" dirty="0"/>
              <a:t>number of counts</a:t>
            </a:r>
          </a:p>
          <a:p>
            <a:pPr>
              <a:buNone/>
            </a:pPr>
            <a:r>
              <a:rPr lang="en-US" sz="1200" dirty="0" smtClean="0"/>
              <a:t> </a:t>
            </a:r>
            <a:r>
              <a:rPr lang="en-US" sz="1200" dirty="0"/>
              <a:t>NVIC_ST_CURRENT_R = 0;       </a:t>
            </a:r>
            <a:r>
              <a:rPr lang="en-US" sz="1200" dirty="0" smtClean="0"/>
              <a:t>			// </a:t>
            </a:r>
            <a:r>
              <a:rPr lang="en-US" sz="1200" dirty="0"/>
              <a:t>any write to CURRENT clears it</a:t>
            </a:r>
          </a:p>
          <a:p>
            <a:pPr>
              <a:buNone/>
            </a:pPr>
            <a:r>
              <a:rPr lang="en-US" sz="1200" dirty="0" smtClean="0">
                <a:solidFill>
                  <a:srgbClr val="FF0000"/>
                </a:solidFill>
              </a:rPr>
              <a:t> </a:t>
            </a:r>
            <a:r>
              <a:rPr lang="en-US" sz="1200" b="1" dirty="0" smtClean="0">
                <a:solidFill>
                  <a:srgbClr val="FF0000"/>
                </a:solidFill>
              </a:rPr>
              <a:t>while</a:t>
            </a:r>
            <a:r>
              <a:rPr lang="en-US" sz="1200" b="1" dirty="0">
                <a:solidFill>
                  <a:srgbClr val="FF0000"/>
                </a:solidFill>
              </a:rPr>
              <a:t>((NVIC_ST_CTRL_R&amp;0x00010000)==0</a:t>
            </a:r>
            <a:r>
              <a:rPr lang="en-US" sz="1200" b="1" dirty="0" smtClean="0">
                <a:solidFill>
                  <a:srgbClr val="FF0000"/>
                </a:solidFill>
              </a:rPr>
              <a:t>)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smtClean="0"/>
              <a:t>	//</a:t>
            </a:r>
            <a:r>
              <a:rPr lang="en-US" sz="1200" dirty="0"/>
              <a:t>polling 16</a:t>
            </a:r>
            <a:r>
              <a:rPr lang="en-US" sz="1200" baseline="30000" dirty="0"/>
              <a:t>th</a:t>
            </a:r>
            <a:r>
              <a:rPr lang="en-US" sz="1200" dirty="0"/>
              <a:t> bit of NVIC_ST_CTRL_R </a:t>
            </a:r>
            <a:endParaRPr lang="en-US" sz="1200" b="1" dirty="0" smtClean="0"/>
          </a:p>
          <a:p>
            <a:pPr>
              <a:buNone/>
            </a:pPr>
            <a:r>
              <a:rPr lang="en-US" sz="1200" dirty="0" smtClean="0"/>
              <a:t>{ </a:t>
            </a:r>
            <a:r>
              <a:rPr lang="en-US" sz="1200" b="1" dirty="0" smtClean="0"/>
              <a:t>					</a:t>
            </a:r>
            <a:endParaRPr lang="en-US" sz="1200" dirty="0" smtClean="0"/>
          </a:p>
          <a:p>
            <a:pPr>
              <a:buNone/>
            </a:pPr>
            <a:r>
              <a:rPr lang="en-US" sz="1200" dirty="0"/>
              <a:t>	</a:t>
            </a:r>
            <a:r>
              <a:rPr lang="en-US" sz="1200" dirty="0" smtClean="0"/>
              <a:t>	</a:t>
            </a: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		</a:t>
            </a:r>
            <a:r>
              <a:rPr lang="en-US" sz="1200" smtClean="0"/>
              <a:t>	</a:t>
            </a:r>
            <a:r>
              <a:rPr lang="en-US" sz="1200" smtClean="0"/>
              <a:t>		// </a:t>
            </a:r>
            <a:r>
              <a:rPr lang="en-US" sz="1200" dirty="0"/>
              <a:t>wait for flag</a:t>
            </a:r>
          </a:p>
          <a:p>
            <a:pPr>
              <a:buNone/>
            </a:pPr>
            <a:r>
              <a:rPr lang="en-US" sz="1200" dirty="0" smtClean="0"/>
              <a:t>}</a:t>
            </a: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 smtClean="0"/>
              <a:t>					// </a:t>
            </a:r>
            <a:r>
              <a:rPr lang="en-US" sz="1200" dirty="0"/>
              <a:t>Call this routine to wait for delay*500us</a:t>
            </a:r>
          </a:p>
          <a:p>
            <a:pPr>
              <a:buNone/>
            </a:pPr>
            <a:r>
              <a:rPr lang="en-US" sz="1200" b="1" dirty="0"/>
              <a:t>void </a:t>
            </a:r>
            <a:r>
              <a:rPr lang="en-US" sz="1200" b="1" dirty="0" smtClean="0"/>
              <a:t>SysTick_Wait500us (</a:t>
            </a:r>
            <a:r>
              <a:rPr lang="en-US" sz="1200" b="1" dirty="0"/>
              <a:t>uint32_t delay</a:t>
            </a:r>
            <a:r>
              <a:rPr lang="en-US" sz="1200" b="1" dirty="0" smtClean="0"/>
              <a:t>)</a:t>
            </a:r>
          </a:p>
          <a:p>
            <a:pPr>
              <a:buNone/>
            </a:pPr>
            <a:r>
              <a:rPr lang="en-US" sz="1200" dirty="0" smtClean="0"/>
              <a:t>{</a:t>
            </a:r>
            <a:endParaRPr lang="en-US" sz="1200" dirty="0"/>
          </a:p>
          <a:p>
            <a:pPr>
              <a:buNone/>
            </a:pPr>
            <a:r>
              <a:rPr lang="en-US" sz="1200" dirty="0"/>
              <a:t> unsigned long </a:t>
            </a:r>
            <a:r>
              <a:rPr lang="en-US" sz="1200" dirty="0" err="1"/>
              <a:t>i</a:t>
            </a:r>
            <a:r>
              <a:rPr lang="en-US" sz="1200" dirty="0"/>
              <a:t>;</a:t>
            </a:r>
          </a:p>
          <a:p>
            <a:pPr>
              <a:buNone/>
            </a:pPr>
            <a:r>
              <a:rPr lang="en-US" sz="1200" dirty="0"/>
              <a:t> </a:t>
            </a:r>
            <a:r>
              <a:rPr lang="en-US" sz="1200" dirty="0" smtClean="0"/>
              <a:t>for (</a:t>
            </a:r>
            <a:r>
              <a:rPr lang="en-US" sz="1200" dirty="0" err="1"/>
              <a:t>i</a:t>
            </a:r>
            <a:r>
              <a:rPr lang="en-US" sz="1200" dirty="0"/>
              <a:t>=0; </a:t>
            </a:r>
            <a:r>
              <a:rPr lang="en-US" sz="1200" dirty="0" err="1"/>
              <a:t>i</a:t>
            </a:r>
            <a:r>
              <a:rPr lang="en-US" sz="1200" dirty="0"/>
              <a:t>&lt;delay; </a:t>
            </a:r>
            <a:r>
              <a:rPr lang="en-US" sz="1200" dirty="0" err="1"/>
              <a:t>i</a:t>
            </a:r>
            <a:r>
              <a:rPr lang="en-US" sz="1200" dirty="0" smtClean="0"/>
              <a:t>++)</a:t>
            </a:r>
          </a:p>
          <a:p>
            <a:pPr>
              <a:buNone/>
            </a:pPr>
            <a:r>
              <a:rPr lang="en-US" sz="1200" dirty="0" smtClean="0"/>
              <a:t>{					</a:t>
            </a:r>
            <a:endParaRPr lang="en-US" sz="1200" dirty="0"/>
          </a:p>
          <a:p>
            <a:pPr>
              <a:buNone/>
            </a:pPr>
            <a:r>
              <a:rPr lang="en-US" sz="1200" dirty="0"/>
              <a:t>   </a:t>
            </a:r>
            <a:r>
              <a:rPr lang="en-US" sz="1200" dirty="0" err="1" smtClean="0"/>
              <a:t>SysTick_Wait</a:t>
            </a:r>
            <a:r>
              <a:rPr lang="en-US" sz="1200" dirty="0" smtClean="0"/>
              <a:t>(8000</a:t>
            </a:r>
            <a:r>
              <a:rPr lang="en-US" sz="1200" dirty="0"/>
              <a:t>); </a:t>
            </a:r>
            <a:r>
              <a:rPr lang="en-US" sz="1200" dirty="0" smtClean="0"/>
              <a:t>				// </a:t>
            </a:r>
            <a:r>
              <a:rPr lang="en-US" sz="1200" dirty="0"/>
              <a:t>wait </a:t>
            </a:r>
            <a:r>
              <a:rPr lang="en-US" sz="1200" dirty="0" smtClean="0"/>
              <a:t>500us for a crystal of 16MHz</a:t>
            </a:r>
          </a:p>
          <a:p>
            <a:pPr>
              <a:buNone/>
            </a:pPr>
            <a:r>
              <a:rPr lang="en-US" sz="1200" dirty="0"/>
              <a:t>	</a:t>
            </a:r>
            <a:r>
              <a:rPr lang="en-US" sz="1200" dirty="0" smtClean="0"/>
              <a:t>				// n = 8000</a:t>
            </a:r>
            <a:endParaRPr lang="en-US" sz="1200" dirty="0"/>
          </a:p>
          <a:p>
            <a:pPr>
              <a:buNone/>
            </a:pPr>
            <a:r>
              <a:rPr lang="en-US" sz="1200" dirty="0" smtClean="0"/>
              <a:t>}</a:t>
            </a:r>
          </a:p>
          <a:p>
            <a:pPr>
              <a:buNone/>
            </a:pPr>
            <a:r>
              <a:rPr lang="en-US" sz="12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152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Locked Loop -  PLL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Allows the software to adjust the execution speed of computer</a:t>
            </a:r>
          </a:p>
          <a:p>
            <a:r>
              <a:rPr lang="en-US" dirty="0" smtClean="0"/>
              <a:t>Choice of frequency involves tradeoff between software execution speed and electrical power</a:t>
            </a:r>
          </a:p>
          <a:p>
            <a:r>
              <a:rPr lang="en-US" dirty="0" smtClean="0"/>
              <a:t>Slowing down the bus clock will require less power to operate and generate less heat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2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79" y="1938337"/>
            <a:ext cx="7598821" cy="404495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Locked Loop (PLL)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81800" y="52578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Sysdiv</a:t>
            </a:r>
            <a:r>
              <a:rPr lang="en-US" dirty="0" smtClean="0"/>
              <a:t> = 7 bits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8650" y="6096000"/>
            <a:ext cx="8058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Clock is divided by n+1, for example, to get 80MHz from 400MHz PLL, we need to divide by 5 so n =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38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9828</TotalTime>
  <Words>316</Words>
  <Application>Microsoft Office PowerPoint</Application>
  <PresentationFormat>On-screen Show (4:3)</PresentationFormat>
  <Paragraphs>66</Paragraphs>
  <Slides>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MS PGothic</vt:lpstr>
      <vt:lpstr>Arial</vt:lpstr>
      <vt:lpstr>Calibri</vt:lpstr>
      <vt:lpstr>Calibri Light</vt:lpstr>
      <vt:lpstr>Courier New</vt:lpstr>
      <vt:lpstr>Times New Roman</vt:lpstr>
      <vt:lpstr>Verdana</vt:lpstr>
      <vt:lpstr>Wingdings</vt:lpstr>
      <vt:lpstr>Office Theme</vt:lpstr>
      <vt:lpstr>Document</vt:lpstr>
      <vt:lpstr>Embedded Systems systick timer + PLL</vt:lpstr>
      <vt:lpstr>SysTick Timer</vt:lpstr>
      <vt:lpstr>SysTick Timer</vt:lpstr>
      <vt:lpstr>SysTick Timer in C</vt:lpstr>
      <vt:lpstr>Phase Locked Loop -  PLL </vt:lpstr>
      <vt:lpstr>Phase Locked Loop (PLL)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Analysis – I</dc:title>
  <dc:creator>tooba</dc:creator>
  <cp:lastModifiedBy>Ayesha Javed</cp:lastModifiedBy>
  <cp:revision>335</cp:revision>
  <cp:lastPrinted>2018-12-30T12:40:05Z</cp:lastPrinted>
  <dcterms:created xsi:type="dcterms:W3CDTF">2014-08-22T09:03:09Z</dcterms:created>
  <dcterms:modified xsi:type="dcterms:W3CDTF">2018-12-30T12:41:56Z</dcterms:modified>
</cp:coreProperties>
</file>