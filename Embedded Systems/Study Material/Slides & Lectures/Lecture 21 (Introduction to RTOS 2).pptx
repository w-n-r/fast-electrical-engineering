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35"/>
  </p:notesMasterIdLst>
  <p:sldIdLst>
    <p:sldId id="315" r:id="rId2"/>
    <p:sldId id="362" r:id="rId3"/>
    <p:sldId id="363" r:id="rId4"/>
    <p:sldId id="364" r:id="rId5"/>
    <p:sldId id="365" r:id="rId6"/>
    <p:sldId id="366" r:id="rId7"/>
    <p:sldId id="367" r:id="rId8"/>
    <p:sldId id="393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7" r:id="rId29"/>
    <p:sldId id="388" r:id="rId30"/>
    <p:sldId id="389" r:id="rId31"/>
    <p:sldId id="390" r:id="rId32"/>
    <p:sldId id="391" r:id="rId33"/>
    <p:sldId id="3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74453" autoAdjust="0"/>
  </p:normalViewPr>
  <p:slideViewPr>
    <p:cSldViewPr snapToGrid="0">
      <p:cViewPr varScale="1">
        <p:scale>
          <a:sx n="54" d="100"/>
          <a:sy n="54" d="100"/>
        </p:scale>
        <p:origin x="11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12/30/2018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20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digital solar-powered calculator might reset itself if it does not get enough light, yet the calculator might still be considered acceptable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telecom switch cannot reset during operation without incurring high associated costs for down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13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Response</a:t>
            </a:r>
            <a:r>
              <a:rPr lang="en-US" baseline="0" dirty="0" smtClean="0"/>
              <a:t> time of a system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5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r>
              <a:rPr lang="en-US" baseline="0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60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initialization or startup task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—initializes the system and creates and starts system tasks,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idle task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—uses up processor idle cycles when no other activity is present,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 task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—logs system messages,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exception-handling task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—handles exceptions, and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debug agent task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—allows debugging with a host debugger.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 assigns priority to system task from its reserved priorities pool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 tasks should avoid using these priorities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2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IDLE task</a:t>
            </a:r>
            <a:r>
              <a:rPr lang="en-US" baseline="0" dirty="0" smtClean="0"/>
              <a:t> can be replaced by user defined routine. For example, user may replace it with some power </a:t>
            </a:r>
            <a:r>
              <a:rPr lang="en-US" baseline="0" smtClean="0"/>
              <a:t>saving routine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 a task can move from running to ready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50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9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12/30/2018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12/30/2018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12/30/2018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Lecture 21, Embedded Systems, F18</a:t>
            </a:r>
            <a:endParaRPr lang="en-US" sz="6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RTOS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6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characteristics of RTOS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reliability</a:t>
            </a:r>
            <a:r>
              <a:rPr lang="en-US" dirty="0"/>
              <a:t>,</a:t>
            </a:r>
          </a:p>
          <a:p>
            <a:r>
              <a:rPr lang="en-US" dirty="0" smtClean="0"/>
              <a:t>predictability</a:t>
            </a:r>
            <a:r>
              <a:rPr lang="en-US" dirty="0"/>
              <a:t>,</a:t>
            </a:r>
          </a:p>
          <a:p>
            <a:r>
              <a:rPr lang="en-US" dirty="0" smtClean="0"/>
              <a:t>performance</a:t>
            </a:r>
            <a:r>
              <a:rPr lang="en-US" dirty="0"/>
              <a:t>,</a:t>
            </a:r>
          </a:p>
          <a:p>
            <a:r>
              <a:rPr lang="en-US" dirty="0" smtClean="0"/>
              <a:t>compactness</a:t>
            </a:r>
            <a:r>
              <a:rPr lang="en-US" dirty="0"/>
              <a:t>, and</a:t>
            </a:r>
          </a:p>
          <a:p>
            <a:r>
              <a:rPr lang="en-US" dirty="0" smtClean="0"/>
              <a:t>scalability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46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characteristics of RTOS: </a:t>
            </a:r>
            <a:r>
              <a:rPr lang="en-US" b="1" dirty="0" smtClean="0"/>
              <a:t>Reliability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447801"/>
            <a:ext cx="6711654" cy="4800606"/>
          </a:xfrm>
        </p:spPr>
        <p:txBody>
          <a:bodyPr/>
          <a:lstStyle/>
          <a:p>
            <a:r>
              <a:rPr lang="en-US" dirty="0"/>
              <a:t>a reliable </a:t>
            </a:r>
            <a:r>
              <a:rPr lang="en-US" dirty="0" smtClean="0"/>
              <a:t>system is </a:t>
            </a:r>
            <a:r>
              <a:rPr lang="en-US" dirty="0"/>
              <a:t>one that is available (continues to provide service) and does not </a:t>
            </a:r>
            <a:r>
              <a:rPr lang="en-US" dirty="0" smtClean="0"/>
              <a:t>fail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41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characteristics of RTOS:</a:t>
            </a:r>
            <a:r>
              <a:rPr lang="en-US" sz="2800" dirty="0"/>
              <a:t> </a:t>
            </a:r>
            <a:r>
              <a:rPr lang="en-US" sz="3600" dirty="0"/>
              <a:t>Predictability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2052926"/>
            <a:ext cx="7782900" cy="4195481"/>
          </a:xfrm>
        </p:spPr>
        <p:txBody>
          <a:bodyPr>
            <a:normAutofit/>
          </a:bodyPr>
          <a:lstStyle/>
          <a:p>
            <a:r>
              <a:rPr lang="en-US" dirty="0" smtClean="0"/>
              <a:t>Meeting </a:t>
            </a:r>
            <a:r>
              <a:rPr lang="en-US" dirty="0"/>
              <a:t>time </a:t>
            </a:r>
            <a:r>
              <a:rPr lang="en-US" dirty="0" smtClean="0"/>
              <a:t>requirements is </a:t>
            </a:r>
            <a:r>
              <a:rPr lang="en-US" dirty="0"/>
              <a:t>key to ensuring proper </a:t>
            </a:r>
            <a:r>
              <a:rPr lang="en-US" dirty="0" smtClean="0"/>
              <a:t>operation</a:t>
            </a:r>
          </a:p>
          <a:p>
            <a:r>
              <a:rPr lang="en-US" dirty="0" smtClean="0"/>
              <a:t>The </a:t>
            </a:r>
            <a:r>
              <a:rPr lang="en-US" dirty="0"/>
              <a:t>RTOS </a:t>
            </a:r>
            <a:r>
              <a:rPr lang="en-US" dirty="0" smtClean="0"/>
              <a:t>needs </a:t>
            </a:r>
            <a:r>
              <a:rPr lang="en-US" dirty="0"/>
              <a:t>to be </a:t>
            </a:r>
            <a:r>
              <a:rPr lang="en-US" dirty="0" smtClean="0"/>
              <a:t>predictable to </a:t>
            </a:r>
            <a:r>
              <a:rPr lang="en-US" dirty="0"/>
              <a:t>a certain </a:t>
            </a:r>
            <a:r>
              <a:rPr lang="en-US" dirty="0" smtClean="0"/>
              <a:t>degree</a:t>
            </a:r>
            <a:r>
              <a:rPr lang="en-US" dirty="0"/>
              <a:t> </a:t>
            </a:r>
            <a:r>
              <a:rPr lang="en-US" dirty="0" smtClean="0"/>
              <a:t>to satisfy real time behavior</a:t>
            </a:r>
          </a:p>
          <a:p>
            <a:r>
              <a:rPr lang="en-US" dirty="0" smtClean="0"/>
              <a:t>The </a:t>
            </a:r>
            <a:r>
              <a:rPr lang="en-US" dirty="0"/>
              <a:t>predictable/deterministic behavior of </a:t>
            </a:r>
            <a:r>
              <a:rPr lang="en-US" dirty="0" smtClean="0"/>
              <a:t>RTOS will </a:t>
            </a:r>
            <a:r>
              <a:rPr lang="en-US" dirty="0"/>
              <a:t>give some of consistent information </a:t>
            </a:r>
            <a:r>
              <a:rPr lang="en-US" dirty="0" smtClean="0"/>
              <a:t>about the </a:t>
            </a:r>
            <a:r>
              <a:rPr lang="en-US" dirty="0"/>
              <a:t>response to different system calls</a:t>
            </a:r>
          </a:p>
          <a:p>
            <a:r>
              <a:rPr lang="en-US" dirty="0" smtClean="0"/>
              <a:t>In </a:t>
            </a:r>
            <a:r>
              <a:rPr lang="en-US" dirty="0"/>
              <a:t>good deterministic RTOS the variance </a:t>
            </a:r>
            <a:r>
              <a:rPr lang="en-US" dirty="0" smtClean="0"/>
              <a:t>of response </a:t>
            </a:r>
            <a:r>
              <a:rPr lang="en-US" dirty="0"/>
              <a:t>time to different system call should </a:t>
            </a:r>
            <a:r>
              <a:rPr lang="en-US" dirty="0" smtClean="0"/>
              <a:t>be very </a:t>
            </a:r>
            <a:r>
              <a:rPr lang="en-US" dirty="0"/>
              <a:t>small.</a:t>
            </a:r>
          </a:p>
        </p:txBody>
      </p:sp>
    </p:spTree>
    <p:extLst>
      <p:ext uri="{BB962C8B-B14F-4D97-AF65-F5344CB8AC3E}">
        <p14:creationId xmlns:p14="http://schemas.microsoft.com/office/powerpoint/2010/main" val="312070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878" y="235424"/>
            <a:ext cx="10018713" cy="1752599"/>
          </a:xfrm>
        </p:spPr>
        <p:txBody>
          <a:bodyPr/>
          <a:lstStyle/>
          <a:p>
            <a:r>
              <a:rPr lang="en-US" sz="2000" dirty="0"/>
              <a:t>characteristics of RTOS:</a:t>
            </a:r>
            <a:r>
              <a:rPr lang="en-US" sz="2800" dirty="0"/>
              <a:t> </a:t>
            </a:r>
            <a:r>
              <a:rPr lang="en-US" sz="3600" dirty="0"/>
              <a:t>Performance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7109" y="1562099"/>
            <a:ext cx="7782900" cy="5029206"/>
          </a:xfrm>
        </p:spPr>
        <p:txBody>
          <a:bodyPr>
            <a:normAutofit/>
          </a:bodyPr>
          <a:lstStyle/>
          <a:p>
            <a:r>
              <a:rPr lang="en-US" dirty="0" smtClean="0"/>
              <a:t>An embedded </a:t>
            </a:r>
            <a:r>
              <a:rPr lang="en-US" dirty="0"/>
              <a:t>system must perform fast enough to </a:t>
            </a:r>
            <a:r>
              <a:rPr lang="en-US" dirty="0" smtClean="0"/>
              <a:t>fulfill its </a:t>
            </a:r>
            <a:r>
              <a:rPr lang="en-US" dirty="0"/>
              <a:t>timing requirements. Typically, the more deadlines to be met—and the shorter </a:t>
            </a:r>
            <a:r>
              <a:rPr lang="en-US" dirty="0" smtClean="0"/>
              <a:t>the time </a:t>
            </a:r>
            <a:r>
              <a:rPr lang="en-US" dirty="0"/>
              <a:t>between them—the faster the system’s CPU must be. </a:t>
            </a:r>
            <a:endParaRPr lang="en-US" dirty="0" smtClean="0"/>
          </a:p>
          <a:p>
            <a:r>
              <a:rPr lang="en-US" dirty="0" smtClean="0"/>
              <a:t>Software </a:t>
            </a:r>
            <a:r>
              <a:rPr lang="en-US" dirty="0"/>
              <a:t>can also contribute to </a:t>
            </a:r>
            <a:r>
              <a:rPr lang="en-US" dirty="0" smtClean="0"/>
              <a:t>system performance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processor’s performance is expressed in million </a:t>
            </a:r>
            <a:r>
              <a:rPr lang="en-US" dirty="0" smtClean="0"/>
              <a:t>instructions per </a:t>
            </a:r>
            <a:r>
              <a:rPr lang="en-US" dirty="0"/>
              <a:t>second (</a:t>
            </a:r>
            <a:r>
              <a:rPr lang="en-US" b="1" dirty="0"/>
              <a:t>MIPS</a:t>
            </a:r>
            <a:r>
              <a:rPr lang="en-US" dirty="0"/>
              <a:t>).</a:t>
            </a:r>
          </a:p>
          <a:p>
            <a:r>
              <a:rPr lang="en-US" b="1" dirty="0"/>
              <a:t>Throughput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the rate at which a system can </a:t>
            </a:r>
            <a:r>
              <a:rPr lang="en-US" dirty="0" smtClean="0"/>
              <a:t>generate output </a:t>
            </a:r>
            <a:r>
              <a:rPr lang="en-US" dirty="0"/>
              <a:t>based on the inputs coming in. </a:t>
            </a:r>
            <a:r>
              <a:rPr lang="en-US" dirty="0" smtClean="0"/>
              <a:t>Data </a:t>
            </a:r>
            <a:r>
              <a:rPr lang="en-US" dirty="0"/>
              <a:t>transfer throughput is typically </a:t>
            </a:r>
            <a:r>
              <a:rPr lang="en-US" dirty="0" smtClean="0"/>
              <a:t>measured in </a:t>
            </a:r>
            <a:r>
              <a:rPr lang="en-US" dirty="0"/>
              <a:t>multiples of bits per second (bps).</a:t>
            </a:r>
          </a:p>
        </p:txBody>
      </p:sp>
    </p:spTree>
    <p:extLst>
      <p:ext uri="{BB962C8B-B14F-4D97-AF65-F5344CB8AC3E}">
        <p14:creationId xmlns:p14="http://schemas.microsoft.com/office/powerpoint/2010/main" val="99052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characteristics of RTOS:</a:t>
            </a:r>
            <a:r>
              <a:rPr lang="en-US" sz="2800" dirty="0"/>
              <a:t> </a:t>
            </a:r>
            <a:r>
              <a:rPr lang="en-US" sz="3600" dirty="0"/>
              <a:t>Compactness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219201"/>
            <a:ext cx="7782900" cy="5029206"/>
          </a:xfrm>
        </p:spPr>
        <p:txBody>
          <a:bodyPr>
            <a:normAutofit/>
          </a:bodyPr>
          <a:lstStyle/>
          <a:p>
            <a:r>
              <a:rPr lang="en-US" dirty="0"/>
              <a:t>Application design constraints and cost constraints help determine how compact </a:t>
            </a:r>
            <a:r>
              <a:rPr lang="en-US" dirty="0" smtClean="0"/>
              <a:t>an embedded </a:t>
            </a:r>
            <a:r>
              <a:rPr lang="en-US" dirty="0"/>
              <a:t>system can be. </a:t>
            </a:r>
            <a:endParaRPr lang="en-US" dirty="0" smtClean="0"/>
          </a:p>
          <a:p>
            <a:r>
              <a:rPr lang="en-US" dirty="0" smtClean="0"/>
              <a:t>Example: 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cell phone clearly must be small, portable, </a:t>
            </a:r>
            <a:r>
              <a:rPr lang="en-US" dirty="0" smtClean="0"/>
              <a:t>and low cost</a:t>
            </a:r>
          </a:p>
          <a:p>
            <a:pPr lvl="1"/>
            <a:r>
              <a:rPr lang="en-US" dirty="0" smtClean="0"/>
              <a:t>So limit </a:t>
            </a:r>
            <a:r>
              <a:rPr lang="en-US" dirty="0"/>
              <a:t>system memory, which </a:t>
            </a:r>
            <a:r>
              <a:rPr lang="en-US" dirty="0" smtClean="0"/>
              <a:t>limits the size of </a:t>
            </a:r>
            <a:r>
              <a:rPr lang="en-US" dirty="0"/>
              <a:t>the application and operating </a:t>
            </a:r>
            <a:r>
              <a:rPr lang="en-US" dirty="0" smtClean="0"/>
              <a:t>system</a:t>
            </a:r>
            <a:endParaRPr lang="en-US" dirty="0"/>
          </a:p>
          <a:p>
            <a:r>
              <a:rPr lang="en-US" dirty="0"/>
              <a:t>In such embedded systems, where hardware real estate is limited due to size and </a:t>
            </a:r>
            <a:r>
              <a:rPr lang="en-US" dirty="0" smtClean="0"/>
              <a:t>costs, </a:t>
            </a:r>
            <a:r>
              <a:rPr lang="en-US" b="1" dirty="0" smtClean="0"/>
              <a:t>the </a:t>
            </a:r>
            <a:r>
              <a:rPr lang="en-US" b="1" dirty="0"/>
              <a:t>RTOS clearly must be small and efficient. </a:t>
            </a:r>
          </a:p>
        </p:txBody>
      </p:sp>
    </p:spTree>
    <p:extLst>
      <p:ext uri="{BB962C8B-B14F-4D97-AF65-F5344CB8AC3E}">
        <p14:creationId xmlns:p14="http://schemas.microsoft.com/office/powerpoint/2010/main" val="315508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469" y="342901"/>
            <a:ext cx="10018713" cy="1752599"/>
          </a:xfrm>
        </p:spPr>
        <p:txBody>
          <a:bodyPr/>
          <a:lstStyle/>
          <a:p>
            <a:r>
              <a:rPr lang="en-US" sz="2000" dirty="0"/>
              <a:t>characteristics of RTOS:</a:t>
            </a:r>
            <a:r>
              <a:rPr lang="en-US" sz="2800" dirty="0"/>
              <a:t> </a:t>
            </a:r>
            <a:r>
              <a:rPr lang="en-US" sz="3600" dirty="0"/>
              <a:t>Scalability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219201"/>
            <a:ext cx="7782900" cy="5029206"/>
          </a:xfrm>
        </p:spPr>
        <p:txBody>
          <a:bodyPr>
            <a:normAutofit/>
          </a:bodyPr>
          <a:lstStyle/>
          <a:p>
            <a:r>
              <a:rPr lang="en-US" dirty="0" smtClean="0"/>
              <a:t>RTOS must be able to scale up or down to meet the application specific requirements</a:t>
            </a:r>
          </a:p>
          <a:p>
            <a:r>
              <a:rPr lang="en-US" dirty="0"/>
              <a:t>Depending on how </a:t>
            </a:r>
            <a:r>
              <a:rPr lang="en-US" dirty="0" smtClean="0"/>
              <a:t>much functionality </a:t>
            </a:r>
            <a:r>
              <a:rPr lang="en-US" dirty="0"/>
              <a:t>is required, an RTOS should be capable of adding or deleting </a:t>
            </a:r>
            <a:r>
              <a:rPr lang="en-US" dirty="0" smtClean="0"/>
              <a:t>modular components</a:t>
            </a:r>
            <a:r>
              <a:rPr lang="en-US" dirty="0"/>
              <a:t>, including file systems and protocol stacks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Example: </a:t>
            </a:r>
          </a:p>
          <a:p>
            <a:r>
              <a:rPr lang="en-US" dirty="0"/>
              <a:t>Suppose that a development team wants to use an RTOS for the </a:t>
            </a:r>
            <a:r>
              <a:rPr lang="en-US" dirty="0" smtClean="0"/>
              <a:t>design of </a:t>
            </a:r>
            <a:r>
              <a:rPr lang="en-US" dirty="0"/>
              <a:t>a cellular phone project and a base station project. If an RTOS scales well, the </a:t>
            </a:r>
            <a:r>
              <a:rPr lang="en-US" dirty="0" smtClean="0"/>
              <a:t>same RTOS </a:t>
            </a:r>
            <a:r>
              <a:rPr lang="en-US" dirty="0"/>
              <a:t>can be used in both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09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– 5: Tasks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7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software </a:t>
            </a:r>
            <a:r>
              <a:rPr lang="en-US" dirty="0" smtClean="0">
                <a:sym typeface="Wingdings" panose="05000000000000000000" pitchFamily="2" charset="2"/>
              </a:rPr>
              <a:t> sequential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For Real Time Embedded systems  we need concurrency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65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 a Task?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853248"/>
            <a:ext cx="6346396" cy="1676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i="1" dirty="0"/>
              <a:t>A task is an independent thread of execution that can compete with other concurrent tasks for processor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205474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762001"/>
            <a:ext cx="5981700" cy="479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7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676401"/>
            <a:ext cx="6711654" cy="4572006"/>
          </a:xfrm>
        </p:spPr>
        <p:txBody>
          <a:bodyPr/>
          <a:lstStyle/>
          <a:p>
            <a:r>
              <a:rPr lang="en-US" b="1" dirty="0" smtClean="0"/>
              <a:t>System tasks</a:t>
            </a:r>
          </a:p>
          <a:p>
            <a:endParaRPr lang="en-US" b="1" dirty="0" smtClean="0"/>
          </a:p>
          <a:p>
            <a:r>
              <a:rPr lang="en-US" b="1" dirty="0" smtClean="0"/>
              <a:t>Application Tasks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19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447801"/>
            <a:ext cx="7554300" cy="48006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initialization </a:t>
            </a:r>
            <a:r>
              <a:rPr lang="en-US" b="1" dirty="0"/>
              <a:t>or startup </a:t>
            </a:r>
            <a:r>
              <a:rPr lang="en-US" b="1" dirty="0" smtClean="0"/>
              <a:t>task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idle task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logging task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exception-handling task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debug </a:t>
            </a:r>
            <a:r>
              <a:rPr lang="en-US" b="1" dirty="0"/>
              <a:t>agent </a:t>
            </a:r>
            <a:r>
              <a:rPr lang="en-US" b="1" dirty="0" smtClean="0"/>
              <a:t>task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System tasks have reserved priority levels </a:t>
            </a:r>
            <a:endParaRPr lang="en-US" b="1" i="1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04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IDLE Task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Created at startup</a:t>
            </a:r>
          </a:p>
          <a:p>
            <a:r>
              <a:rPr lang="en-US" dirty="0" smtClean="0"/>
              <a:t>Lowest priority</a:t>
            </a:r>
          </a:p>
          <a:p>
            <a:r>
              <a:rPr lang="en-US" dirty="0" smtClean="0"/>
              <a:t>Endless loop</a:t>
            </a:r>
          </a:p>
          <a:p>
            <a:r>
              <a:rPr lang="en-US" dirty="0" smtClean="0"/>
              <a:t>Use idle cycles of processor</a:t>
            </a:r>
          </a:p>
          <a:p>
            <a:r>
              <a:rPr lang="en-US" dirty="0" smtClean="0"/>
              <a:t>Can be replaced by user configured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Kernel initialization </a:t>
            </a:r>
          </a:p>
          <a:p>
            <a:r>
              <a:rPr lang="en-US" dirty="0" smtClean="0"/>
              <a:t>creates required tasks</a:t>
            </a:r>
          </a:p>
          <a:p>
            <a:r>
              <a:rPr lang="en-US" dirty="0" smtClean="0"/>
              <a:t>Jumps to predefined entry point</a:t>
            </a:r>
          </a:p>
          <a:p>
            <a:r>
              <a:rPr lang="en-US" dirty="0" smtClean="0"/>
              <a:t>Other tasks can be created and executed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0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States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any time a task is in one of the following states</a:t>
            </a:r>
          </a:p>
          <a:p>
            <a:pPr lvl="1"/>
            <a:r>
              <a:rPr lang="en-US" dirty="0" smtClean="0"/>
              <a:t>READY </a:t>
            </a:r>
          </a:p>
          <a:p>
            <a:pPr lvl="1"/>
            <a:r>
              <a:rPr lang="en-US" dirty="0" smtClean="0"/>
              <a:t>RUNNING</a:t>
            </a:r>
          </a:p>
          <a:p>
            <a:pPr lvl="1"/>
            <a:r>
              <a:rPr lang="en-US" dirty="0" smtClean="0"/>
              <a:t>BLOCKED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3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09600"/>
            <a:ext cx="7519374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9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Ready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2052926"/>
            <a:ext cx="6711654" cy="29762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When Task is created and made ready to run, it is in ready state</a:t>
            </a:r>
          </a:p>
          <a:p>
            <a:endParaRPr lang="en-US" dirty="0" smtClean="0"/>
          </a:p>
          <a:p>
            <a:r>
              <a:rPr lang="en-US" dirty="0"/>
              <a:t>Task actively competes with all other </a:t>
            </a:r>
            <a:r>
              <a:rPr lang="en-US" dirty="0" smtClean="0"/>
              <a:t>ready tasks </a:t>
            </a:r>
            <a:r>
              <a:rPr lang="en-US" dirty="0"/>
              <a:t>for the processor’s execution time</a:t>
            </a:r>
          </a:p>
          <a:p>
            <a:endParaRPr lang="en-US" dirty="0" smtClean="0"/>
          </a:p>
          <a:p>
            <a:r>
              <a:rPr lang="en-US" dirty="0" smtClean="0"/>
              <a:t>Transition </a:t>
            </a:r>
            <a:r>
              <a:rPr lang="en-US" dirty="0"/>
              <a:t>to Blocked State :</a:t>
            </a:r>
          </a:p>
          <a:p>
            <a:pPr marL="0" indent="0" algn="ctr">
              <a:buNone/>
            </a:pPr>
            <a:r>
              <a:rPr lang="en-US" b="1" dirty="0" smtClean="0"/>
              <a:t>Ready -&gt; </a:t>
            </a:r>
            <a:r>
              <a:rPr lang="en-US" b="1" dirty="0"/>
              <a:t>Running(Blocking Call</a:t>
            </a:r>
            <a:r>
              <a:rPr lang="en-US" b="1" dirty="0" smtClean="0"/>
              <a:t>)-&gt;Blocked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992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Ready State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Ready </a:t>
            </a:r>
            <a:r>
              <a:rPr lang="en-US" dirty="0"/>
              <a:t>Task can only move to Running </a:t>
            </a:r>
            <a:r>
              <a:rPr lang="en-US" dirty="0" smtClean="0"/>
              <a:t>state</a:t>
            </a:r>
          </a:p>
          <a:p>
            <a:endParaRPr lang="en-US" dirty="0"/>
          </a:p>
          <a:p>
            <a:r>
              <a:rPr lang="en-US" dirty="0" smtClean="0"/>
              <a:t>It can not move from ready to blocked state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Tasks can be in Ready State</a:t>
            </a:r>
          </a:p>
          <a:p>
            <a:endParaRPr lang="en-US" dirty="0" smtClean="0"/>
          </a:p>
          <a:p>
            <a:r>
              <a:rPr lang="en-US" dirty="0" smtClean="0"/>
              <a:t>Scheduler </a:t>
            </a:r>
            <a:r>
              <a:rPr lang="en-US" dirty="0"/>
              <a:t>chooses from list of ready task </a:t>
            </a:r>
            <a:r>
              <a:rPr lang="en-US" dirty="0" smtClean="0"/>
              <a:t>one task </a:t>
            </a:r>
            <a:r>
              <a:rPr lang="en-US" dirty="0"/>
              <a:t>that will move to Running State</a:t>
            </a:r>
          </a:p>
        </p:txBody>
      </p:sp>
    </p:spTree>
    <p:extLst>
      <p:ext uri="{BB962C8B-B14F-4D97-AF65-F5344CB8AC3E}">
        <p14:creationId xmlns:p14="http://schemas.microsoft.com/office/powerpoint/2010/main" val="347731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Ready State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per priority level</a:t>
            </a:r>
          </a:p>
          <a:p>
            <a:pPr lvl="1"/>
            <a:r>
              <a:rPr lang="en-US" dirty="0"/>
              <a:t>One task per priority</a:t>
            </a:r>
          </a:p>
          <a:p>
            <a:pPr lvl="2"/>
            <a:r>
              <a:rPr lang="en-US" dirty="0"/>
              <a:t>Scheduling algorithm is simple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Multiple task can have same priority</a:t>
            </a:r>
          </a:p>
          <a:p>
            <a:pPr lvl="2"/>
            <a:r>
              <a:rPr lang="en-US" dirty="0"/>
              <a:t>Task ready list</a:t>
            </a:r>
          </a:p>
          <a:p>
            <a:pPr lvl="2"/>
            <a:r>
              <a:rPr lang="en-US" dirty="0"/>
              <a:t>Scheduling algorithm more complex</a:t>
            </a:r>
          </a:p>
        </p:txBody>
      </p:sp>
    </p:spTree>
    <p:extLst>
      <p:ext uri="{BB962C8B-B14F-4D97-AF65-F5344CB8AC3E}">
        <p14:creationId xmlns:p14="http://schemas.microsoft.com/office/powerpoint/2010/main" val="175008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Only one task can run at a time </a:t>
            </a:r>
          </a:p>
          <a:p>
            <a:endParaRPr lang="en-US" sz="2800" dirty="0"/>
          </a:p>
          <a:p>
            <a:r>
              <a:rPr lang="en-US" sz="2800" dirty="0"/>
              <a:t>When the task is in running state, registers are loaded </a:t>
            </a:r>
          </a:p>
          <a:p>
            <a:endParaRPr lang="en-US" sz="2800" dirty="0"/>
          </a:p>
          <a:p>
            <a:r>
              <a:rPr lang="en-US" sz="2800" dirty="0"/>
              <a:t>Processor executes the instructions of the task</a:t>
            </a:r>
          </a:p>
        </p:txBody>
      </p:sp>
    </p:spTree>
    <p:extLst>
      <p:ext uri="{BB962C8B-B14F-4D97-AF65-F5344CB8AC3E}">
        <p14:creationId xmlns:p14="http://schemas.microsoft.com/office/powerpoint/2010/main" val="249273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state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1600201"/>
            <a:ext cx="7478100" cy="4648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running task can move to the blocked state in any of the following ways:</a:t>
            </a:r>
          </a:p>
          <a:p>
            <a:r>
              <a:rPr lang="en-US" sz="2600" dirty="0"/>
              <a:t>by making a call that requests an unavailable resource</a:t>
            </a:r>
          </a:p>
          <a:p>
            <a:r>
              <a:rPr lang="en-US" sz="2600" dirty="0"/>
              <a:t>by making a call that requests to wait for an event to occur</a:t>
            </a:r>
          </a:p>
          <a:p>
            <a:r>
              <a:rPr lang="en-US" sz="2600" dirty="0"/>
              <a:t>by making a call to delay the task for some duration</a:t>
            </a:r>
          </a:p>
        </p:txBody>
      </p:sp>
    </p:spTree>
    <p:extLst>
      <p:ext uri="{BB962C8B-B14F-4D97-AF65-F5344CB8AC3E}">
        <p14:creationId xmlns:p14="http://schemas.microsoft.com/office/powerpoint/2010/main" val="392072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Blocked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8710" y="1447801"/>
            <a:ext cx="8202090" cy="4800606"/>
          </a:xfrm>
        </p:spPr>
        <p:txBody>
          <a:bodyPr/>
          <a:lstStyle/>
          <a:p>
            <a:r>
              <a:rPr lang="en-US" dirty="0" smtClean="0"/>
              <a:t>If there was no blocked state, then low priority could not run</a:t>
            </a:r>
          </a:p>
          <a:p>
            <a:endParaRPr lang="en-US" dirty="0" smtClean="0"/>
          </a:p>
          <a:p>
            <a:r>
              <a:rPr lang="en-US" dirty="0"/>
              <a:t>If higher priority tasks </a:t>
            </a:r>
            <a:r>
              <a:rPr lang="en-US" dirty="0" smtClean="0"/>
              <a:t>are not </a:t>
            </a:r>
            <a:r>
              <a:rPr lang="en-US" dirty="0"/>
              <a:t>designed to block, CPU starvation can </a:t>
            </a:r>
            <a:r>
              <a:rPr lang="en-US" dirty="0" smtClean="0"/>
              <a:t>result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CPU Starvation: </a:t>
            </a:r>
            <a:endParaRPr lang="en-US" b="1" u="sng" dirty="0"/>
          </a:p>
          <a:p>
            <a:r>
              <a:rPr lang="en-US" i="1" dirty="0"/>
              <a:t>CPU starvation occurs when higher priority tasks use all of the CPU execution time </a:t>
            </a:r>
            <a:r>
              <a:rPr lang="en-US" i="1" dirty="0" smtClean="0"/>
              <a:t>and lower </a:t>
            </a:r>
            <a:r>
              <a:rPr lang="en-US" i="1" dirty="0"/>
              <a:t>priority tasks do not get to run.</a:t>
            </a:r>
          </a:p>
        </p:txBody>
      </p:sp>
    </p:spTree>
    <p:extLst>
      <p:ext uri="{BB962C8B-B14F-4D97-AF65-F5344CB8AC3E}">
        <p14:creationId xmlns:p14="http://schemas.microsoft.com/office/powerpoint/2010/main" val="75807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534" y="268941"/>
            <a:ext cx="10018713" cy="1340223"/>
          </a:xfrm>
        </p:spPr>
        <p:txBody>
          <a:bodyPr/>
          <a:lstStyle/>
          <a:p>
            <a:r>
              <a:rPr lang="en-US" dirty="0" smtClean="0"/>
              <a:t>Blocked State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671" y="1434353"/>
            <a:ext cx="9735669" cy="532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Until blocking </a:t>
            </a:r>
            <a:r>
              <a:rPr lang="en-US" dirty="0" smtClean="0"/>
              <a:t>condition is not met </a:t>
            </a:r>
            <a:r>
              <a:rPr lang="en-US" dirty="0"/>
              <a:t>(It probably ought to be called the </a:t>
            </a:r>
            <a:r>
              <a:rPr lang="en-US" i="1" dirty="0"/>
              <a:t>un</a:t>
            </a:r>
            <a:r>
              <a:rPr lang="en-US" dirty="0"/>
              <a:t>blocking condition, but </a:t>
            </a:r>
            <a:r>
              <a:rPr lang="en-US" dirty="0" smtClean="0"/>
              <a:t>blocking is </a:t>
            </a:r>
            <a:r>
              <a:rPr lang="en-US" dirty="0"/>
              <a:t>the terminology in common use among real-time </a:t>
            </a:r>
            <a:r>
              <a:rPr lang="en-US" dirty="0" smtClean="0"/>
              <a:t>programmers), </a:t>
            </a:r>
            <a:r>
              <a:rPr lang="en-US" dirty="0"/>
              <a:t>t</a:t>
            </a:r>
            <a:r>
              <a:rPr lang="en-US" dirty="0" smtClean="0"/>
              <a:t>ask </a:t>
            </a:r>
            <a:r>
              <a:rPr lang="en-US" dirty="0" smtClean="0"/>
              <a:t>stays into blocking state </a:t>
            </a:r>
          </a:p>
          <a:p>
            <a:pPr marL="0" indent="0">
              <a:buNone/>
            </a:pPr>
            <a:r>
              <a:rPr lang="en-US" b="1" dirty="0"/>
              <a:t>Examples of how blocking conditions are met include the following:</a:t>
            </a:r>
          </a:p>
          <a:p>
            <a:pPr lvl="1"/>
            <a:r>
              <a:rPr lang="en-US" sz="2400" dirty="0"/>
              <a:t>a semaphore token for which a task is waiting is released,</a:t>
            </a:r>
          </a:p>
          <a:p>
            <a:pPr lvl="1"/>
            <a:r>
              <a:rPr lang="en-US" sz="2400" dirty="0"/>
              <a:t>a message, on which the task is waiting, arrives in a message queue, </a:t>
            </a:r>
          </a:p>
          <a:p>
            <a:pPr lvl="1"/>
            <a:r>
              <a:rPr lang="en-US" sz="2400" dirty="0"/>
              <a:t>a time delay imposed on the task expires.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95519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770230"/>
            <a:ext cx="5486400" cy="55967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28600"/>
            <a:ext cx="7055380" cy="537882"/>
          </a:xfrm>
        </p:spPr>
        <p:txBody>
          <a:bodyPr/>
          <a:lstStyle/>
          <a:p>
            <a:r>
              <a:rPr lang="en-US" sz="2400" dirty="0"/>
              <a:t>Example: how task-ready list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600" y="1219200"/>
            <a:ext cx="281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system assumes a single processor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Preemptive scheduling </a:t>
            </a:r>
            <a:r>
              <a:rPr lang="en-US" dirty="0" err="1"/>
              <a:t>algo</a:t>
            </a:r>
            <a:r>
              <a:rPr lang="en-US" dirty="0"/>
              <a:t> is used in which 255 is lowest and 0 is highest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system task is shown</a:t>
            </a:r>
          </a:p>
        </p:txBody>
      </p:sp>
    </p:spTree>
    <p:extLst>
      <p:ext uri="{BB962C8B-B14F-4D97-AF65-F5344CB8AC3E}">
        <p14:creationId xmlns:p14="http://schemas.microsoft.com/office/powerpoint/2010/main" val="301277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– 1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79725"/>
          <a:stretch/>
        </p:blipFill>
        <p:spPr>
          <a:xfrm>
            <a:off x="3429000" y="2743200"/>
            <a:ext cx="5486400" cy="1134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60645" y="2253733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1,2,3,4 and 5 are in ready state</a:t>
            </a:r>
          </a:p>
        </p:txBody>
      </p:sp>
    </p:spTree>
    <p:extLst>
      <p:ext uri="{BB962C8B-B14F-4D97-AF65-F5344CB8AC3E}">
        <p14:creationId xmlns:p14="http://schemas.microsoft.com/office/powerpoint/2010/main" val="320020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959" y="35355"/>
            <a:ext cx="10018713" cy="1752599"/>
          </a:xfrm>
        </p:spPr>
        <p:txBody>
          <a:bodyPr/>
          <a:lstStyle/>
          <a:p>
            <a:r>
              <a:rPr lang="en-US" dirty="0" smtClean="0"/>
              <a:t>Step – 2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79725"/>
          <a:stretch/>
        </p:blipFill>
        <p:spPr>
          <a:xfrm>
            <a:off x="3352800" y="1941731"/>
            <a:ext cx="5486400" cy="1134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2030" y="1505634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TASK1 has the highest priority , it is the first task to run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52800" y="2362200"/>
            <a:ext cx="121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6" y="4191000"/>
            <a:ext cx="5457825" cy="10668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6125277" y="3276600"/>
            <a:ext cx="0" cy="7212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28800" y="3091491"/>
            <a:ext cx="1219200" cy="609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running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575" y="3798442"/>
            <a:ext cx="10096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777" y="-54815"/>
            <a:ext cx="10018713" cy="1752599"/>
          </a:xfrm>
        </p:spPr>
        <p:txBody>
          <a:bodyPr/>
          <a:lstStyle/>
          <a:p>
            <a:r>
              <a:rPr lang="en-US" dirty="0" smtClean="0"/>
              <a:t>Step – 3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33575" y="1416607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During execution, task 1 makes a blocking call. As a result, the kernel moves task 1 to the blocked state; takes task 2, which is first in the list of the next-highest priority tasks (80), off the ready list; and moves task 2 to the running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04636"/>
            <a:ext cx="121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blocked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1" y="2704636"/>
            <a:ext cx="5457825" cy="10668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5536400" y="3866213"/>
            <a:ext cx="0" cy="7212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3411587"/>
            <a:ext cx="1009650" cy="542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5029200"/>
            <a:ext cx="5391150" cy="723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95182" y="3073448"/>
            <a:ext cx="112441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3575" y="4724400"/>
            <a:ext cx="1219200" cy="609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running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25" y="5455163"/>
            <a:ext cx="10287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1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482" y="55518"/>
            <a:ext cx="10018713" cy="1752599"/>
          </a:xfrm>
        </p:spPr>
        <p:txBody>
          <a:bodyPr/>
          <a:lstStyle/>
          <a:p>
            <a:r>
              <a:rPr lang="en-US" dirty="0" smtClean="0"/>
              <a:t>Step – 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17493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task 2 makes a blocking call. The kernel moves task 2 to the blocked state; takes task 3, which is next in line of the priority 80 tasks, off the ready list; and moves task 3 to the running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04636"/>
            <a:ext cx="121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blocked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536400" y="3866213"/>
            <a:ext cx="0" cy="7212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169" y="3009436"/>
            <a:ext cx="5391150" cy="723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95182" y="3073448"/>
            <a:ext cx="1124418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3575" y="4724400"/>
            <a:ext cx="1219200" cy="609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running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3378248"/>
            <a:ext cx="1028700" cy="495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1" y="4627868"/>
            <a:ext cx="5343525" cy="695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770" y="5455938"/>
            <a:ext cx="10572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6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68" y="226747"/>
            <a:ext cx="10018713" cy="1752599"/>
          </a:xfrm>
        </p:spPr>
        <p:txBody>
          <a:bodyPr/>
          <a:lstStyle/>
          <a:p>
            <a:r>
              <a:rPr lang="en-US" dirty="0" smtClean="0"/>
              <a:t>Step – 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85807" y="2033983"/>
            <a:ext cx="8049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task 3 runs, frees the resource that task 2 requested. The kernel returns task 2 to the ready state and inserts it at the end of the list of tasks ready to run at priority level 80. Task 3 continues as the currently running task.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4844" y="3066586"/>
            <a:ext cx="1219200" cy="609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running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07" y="3866214"/>
            <a:ext cx="1057275" cy="52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600" y="4627867"/>
            <a:ext cx="1371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TASK2 becomes ready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4018208"/>
            <a:ext cx="5400675" cy="1104900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6" idx="3"/>
          </p:cNvCxnSpPr>
          <p:nvPr/>
        </p:nvCxnSpPr>
        <p:spPr>
          <a:xfrm flipV="1">
            <a:off x="3124044" y="4570658"/>
            <a:ext cx="1295556" cy="518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33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52600" y="381000"/>
            <a:ext cx="8458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abon-Roman"/>
              </a:rPr>
              <a:t>if task 1 became unblocked at this point in the scenario,</a:t>
            </a:r>
          </a:p>
          <a:p>
            <a:r>
              <a:rPr lang="en-US" dirty="0">
                <a:latin typeface="Sabon-Roman"/>
              </a:rPr>
              <a:t>the kernel would move task 1 to the running state because its priority is higher than the currently running task (task 3). As with task 2 earlier, task 3 at this point would be moved to the ready state and inserted after task 2 (same priority of 80) and before task 5 (next priority of 90).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57400" y="1981200"/>
            <a:ext cx="2286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Currently running </a:t>
            </a:r>
          </a:p>
          <a:p>
            <a:pPr algn="ctr"/>
            <a:r>
              <a:rPr lang="en-US" dirty="0"/>
              <a:t>Is TASK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3352800"/>
            <a:ext cx="2286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– 1 is unblocked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00400" y="27432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200400" y="42672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91128" y="4728944"/>
            <a:ext cx="2286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TASK3 would move to ready state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3514110"/>
            <a:ext cx="4295775" cy="733425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4377128" y="4267200"/>
            <a:ext cx="1604572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59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5401"/>
            <a:ext cx="6019800" cy="498297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410200" y="1524000"/>
            <a:ext cx="2362200" cy="45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10200" y="4343400"/>
            <a:ext cx="2362200" cy="45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7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1152983"/>
            <a:ext cx="7467343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2462</TotalTime>
  <Words>1319</Words>
  <Application>Microsoft Office PowerPoint</Application>
  <PresentationFormat>Widescreen</PresentationFormat>
  <Paragraphs>170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Corbel</vt:lpstr>
      <vt:lpstr>Sabon-Roman</vt:lpstr>
      <vt:lpstr>Wingdings</vt:lpstr>
      <vt:lpstr>Parallax</vt:lpstr>
      <vt:lpstr>Introduction to RTOS </vt:lpstr>
      <vt:lpstr>Key characteristics of RTOS</vt:lpstr>
      <vt:lpstr>characteristics of RTOS: Reliability</vt:lpstr>
      <vt:lpstr>characteristics of RTOS: Predictability </vt:lpstr>
      <vt:lpstr>characteristics of RTOS: Performance</vt:lpstr>
      <vt:lpstr>characteristics of RTOS: Compactness</vt:lpstr>
      <vt:lpstr>characteristics of RTOS: Scalability</vt:lpstr>
      <vt:lpstr>Chapter – 5: Tasks</vt:lpstr>
      <vt:lpstr>Introduction</vt:lpstr>
      <vt:lpstr>What is  a Task?</vt:lpstr>
      <vt:lpstr>PowerPoint Presentation</vt:lpstr>
      <vt:lpstr>Types of Tasks</vt:lpstr>
      <vt:lpstr>System Tasks</vt:lpstr>
      <vt:lpstr>The IDLE Task </vt:lpstr>
      <vt:lpstr>General setup</vt:lpstr>
      <vt:lpstr>Task States</vt:lpstr>
      <vt:lpstr>PowerPoint Presentation</vt:lpstr>
      <vt:lpstr>Ready State</vt:lpstr>
      <vt:lpstr>Ready State (contd.)</vt:lpstr>
      <vt:lpstr>Ready State (contd.)</vt:lpstr>
      <vt:lpstr>Running state</vt:lpstr>
      <vt:lpstr>Running state (contd.)</vt:lpstr>
      <vt:lpstr>Blocked State</vt:lpstr>
      <vt:lpstr>Blocked State contd.</vt:lpstr>
      <vt:lpstr>Example: how task-ready list works</vt:lpstr>
      <vt:lpstr>Step – 1 </vt:lpstr>
      <vt:lpstr>Step – 2 </vt:lpstr>
      <vt:lpstr>Step – 3 </vt:lpstr>
      <vt:lpstr>Step – 4</vt:lpstr>
      <vt:lpstr>Step – 5</vt:lpstr>
      <vt:lpstr>PowerPoint Presentation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Ayesha Javed</cp:lastModifiedBy>
  <cp:revision>496</cp:revision>
  <dcterms:created xsi:type="dcterms:W3CDTF">2016-04-05T15:14:57Z</dcterms:created>
  <dcterms:modified xsi:type="dcterms:W3CDTF">2018-12-30T07:08:22Z</dcterms:modified>
</cp:coreProperties>
</file>