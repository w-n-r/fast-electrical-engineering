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8" r:id="rId1"/>
  </p:sldMasterIdLst>
  <p:notesMasterIdLst>
    <p:notesMasterId r:id="rId30"/>
  </p:notesMasterIdLst>
  <p:sldIdLst>
    <p:sldId id="256" r:id="rId2"/>
    <p:sldId id="267" r:id="rId3"/>
    <p:sldId id="292" r:id="rId4"/>
    <p:sldId id="306" r:id="rId5"/>
    <p:sldId id="293" r:id="rId6"/>
    <p:sldId id="310" r:id="rId7"/>
    <p:sldId id="311" r:id="rId8"/>
    <p:sldId id="312" r:id="rId9"/>
    <p:sldId id="313" r:id="rId10"/>
    <p:sldId id="314" r:id="rId11"/>
    <p:sldId id="315" r:id="rId12"/>
    <p:sldId id="332" r:id="rId13"/>
    <p:sldId id="333" r:id="rId14"/>
    <p:sldId id="334" r:id="rId15"/>
    <p:sldId id="335" r:id="rId16"/>
    <p:sldId id="323" r:id="rId17"/>
    <p:sldId id="327" r:id="rId18"/>
    <p:sldId id="320" r:id="rId19"/>
    <p:sldId id="336" r:id="rId20"/>
    <p:sldId id="329" r:id="rId21"/>
    <p:sldId id="330" r:id="rId22"/>
    <p:sldId id="338" r:id="rId23"/>
    <p:sldId id="316" r:id="rId24"/>
    <p:sldId id="317" r:id="rId25"/>
    <p:sldId id="319" r:id="rId26"/>
    <p:sldId id="337" r:id="rId27"/>
    <p:sldId id="339" r:id="rId28"/>
    <p:sldId id="34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84307" autoAdjust="0"/>
  </p:normalViewPr>
  <p:slideViewPr>
    <p:cSldViewPr snapToGrid="0">
      <p:cViewPr varScale="1">
        <p:scale>
          <a:sx n="62" d="100"/>
          <a:sy n="62" d="100"/>
        </p:scale>
        <p:origin x="85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D8EBD-BCEA-44DB-B3FA-BEF2334C0C16}" type="datetimeFigureOut">
              <a:rPr lang="en-US" smtClean="0"/>
              <a:t>12/30/2018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7F81B-48C6-4241-8C54-F91A4F434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99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71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74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347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86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07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9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74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80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17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26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95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686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FBRD is a fixed-point number with Delta=2</a:t>
            </a:r>
            <a:r>
              <a:rPr lang="en-US" altLang="en-US" baseline="30000" smtClean="0"/>
              <a:t>-6</a:t>
            </a:r>
            <a:r>
              <a:rPr lang="en-US" altLang="en-US" smtClean="0"/>
              <a:t>. So in the example above we write .04167 as integer round(0.04167*2</a:t>
            </a:r>
            <a:r>
              <a:rPr lang="en-US" altLang="en-US" baseline="30000" smtClean="0"/>
              <a:t>6</a:t>
            </a:r>
            <a:r>
              <a:rPr lang="en-US" altLang="en-US" smtClean="0"/>
              <a:t>) = round(2.669) = 3.</a:t>
            </a:r>
          </a:p>
          <a:p>
            <a:endParaRPr lang="en-US" alt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9E14DEC-C705-4599-8DBD-96F4C81EBC13}" type="slidenum">
              <a:rPr lang="en-US" altLang="en-US" sz="1300"/>
              <a:pPr/>
              <a:t>23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683735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The PCTL register gets the Column number from table in slide 5. In this example the lower two nibbles are </a:t>
            </a:r>
            <a:r>
              <a:rPr lang="en-US" altLang="en-US" b="1" smtClean="0">
                <a:solidFill>
                  <a:srgbClr val="FF0000"/>
                </a:solidFill>
              </a:rPr>
              <a:t>1</a:t>
            </a:r>
            <a:r>
              <a:rPr lang="en-US" altLang="en-US" smtClean="0"/>
              <a:t> and </a:t>
            </a:r>
            <a:r>
              <a:rPr lang="en-US" altLang="en-US" b="1" smtClean="0">
                <a:solidFill>
                  <a:srgbClr val="FF0000"/>
                </a:solidFill>
              </a:rPr>
              <a:t>1</a:t>
            </a:r>
            <a:r>
              <a:rPr lang="en-US" altLang="en-US" smtClean="0"/>
              <a:t> indicating that we are using PortB pins 0 and 1 for Receive and Transmit. You will find PB0 and PB1 in rows 7-8 column </a:t>
            </a:r>
            <a:r>
              <a:rPr lang="en-US" altLang="en-US" b="1" smtClean="0"/>
              <a:t>1</a:t>
            </a: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B1EEC91F-B40B-445C-88DE-69D6606619B9}" type="slidenum">
              <a:rPr lang="en-US" altLang="en-US" sz="1300"/>
              <a:pPr/>
              <a:t>24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646113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i="1" smtClean="0">
                <a:solidFill>
                  <a:srgbClr val="0000FF"/>
                </a:solidFill>
              </a:rPr>
              <a:t>Show how to convert to UART1</a:t>
            </a:r>
          </a:p>
        </p:txBody>
      </p:sp>
    </p:spTree>
    <p:extLst>
      <p:ext uri="{BB962C8B-B14F-4D97-AF65-F5344CB8AC3E}">
        <p14:creationId xmlns:p14="http://schemas.microsoft.com/office/powerpoint/2010/main" val="3919887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8114-23E4-4593-BF3B-532BFBD2E1B6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2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F65C8-5366-440F-85B8-EFCE7441B29B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68B0-814B-40D6-B4DB-04CC4FF7D2A1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0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B75F-8F27-4911-AC37-C552ADB1044A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6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6D5C-3F53-40F4-B006-594CFED681E5}" type="datetime1">
              <a:rPr lang="en-US" smtClean="0"/>
              <a:t>12/30/2018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4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AB96-F4F7-4D54-B513-CDD7343FAFF8}" type="datetime1">
              <a:rPr lang="en-US" smtClean="0"/>
              <a:t>12/30/2018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4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3BFA-5E5C-4D5E-8ABD-D656A00E87E8}" type="datetime1">
              <a:rPr lang="en-US" smtClean="0"/>
              <a:t>12/30/2018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6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4CFD-9BCE-4FD7-86C9-19BCA0CFC0F4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8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145B-A388-4771-A1DA-47B0603B35BE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7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7376-1B16-4472-B0F1-F964F0DA414A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0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FDD39-9C18-486C-BC65-D16C8C15D60C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34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E44D-7099-4E2F-8E43-3E18C2255D06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31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1EC0-F5BD-4E51-9DAB-E318021EB119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96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F43C8-D353-4AE7-AD9B-AB6C5E624401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74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94BF-BC85-48BF-BC3B-9C7B6A1A6F9D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0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396FF-8624-43D2-B715-A5C5861C3834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87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1E3D-2E4F-4121-8B5B-DDDAB554B90A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2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AC7750-DD3B-4E48-B89E-99E4CC08EBBE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8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Serial and Parallel Port interfacing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UART </a:t>
            </a:r>
            <a:r>
              <a:rPr lang="en-US" smtClean="0"/>
              <a:t>Protocol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</a:t>
            </a:fld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4991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Tiva</a:t>
            </a:r>
            <a:r>
              <a:rPr lang="en-US" dirty="0" smtClean="0"/>
              <a:t> </a:t>
            </a:r>
            <a:r>
              <a:rPr lang="en-US" dirty="0" err="1" smtClean="0"/>
              <a:t>LaunchPad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</a:t>
            </a:fld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508" y="2746981"/>
            <a:ext cx="3092376" cy="383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09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ICDI USB 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3</a:t>
            </a:fld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910" y="2438399"/>
            <a:ext cx="8118255" cy="342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95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76225"/>
            <a:ext cx="76962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/>
              <a:t>Universal Asynchronous Receiver/Transmitter (UART)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81126"/>
            <a:ext cx="8229600" cy="4945063"/>
          </a:xfrm>
        </p:spPr>
        <p:txBody>
          <a:bodyPr/>
          <a:lstStyle/>
          <a:p>
            <a:pPr eaLnBrk="1" hangingPunct="1"/>
            <a:r>
              <a:rPr lang="en-US" altLang="en-US" smtClean="0"/>
              <a:t>UART (Serial Port) Interface</a:t>
            </a:r>
          </a:p>
          <a:p>
            <a:pPr lvl="1" eaLnBrk="1" hangingPunct="1"/>
            <a:endParaRPr lang="en-US" altLang="en-US" smtClean="0"/>
          </a:p>
          <a:p>
            <a:pPr lvl="1" eaLnBrk="1" hangingPunct="1"/>
            <a:endParaRPr lang="en-US" altLang="en-US" smtClean="0"/>
          </a:p>
          <a:p>
            <a:pPr lvl="1" eaLnBrk="1" hangingPunct="1"/>
            <a:endParaRPr lang="en-US" altLang="en-US" smtClean="0"/>
          </a:p>
          <a:p>
            <a:pPr lvl="1" eaLnBrk="1" hangingPunct="1"/>
            <a:r>
              <a:rPr lang="en-US" altLang="en-US" smtClean="0"/>
              <a:t>Send/receive a </a:t>
            </a:r>
            <a:r>
              <a:rPr lang="en-US" altLang="en-US" i="1" smtClean="0"/>
              <a:t>frame</a:t>
            </a:r>
            <a:r>
              <a:rPr lang="en-US" altLang="en-US" smtClean="0"/>
              <a:t> of (5-8) data bits with a single (start) bit prefix and a 1 or 2 (stop) bit suffix</a:t>
            </a:r>
          </a:p>
          <a:p>
            <a:pPr lvl="1" eaLnBrk="1" hangingPunct="1"/>
            <a:r>
              <a:rPr lang="en-US" altLang="en-US" smtClean="0"/>
              <a:t>Baud rate is total number of bits per unit time</a:t>
            </a:r>
          </a:p>
          <a:p>
            <a:pPr lvl="2" eaLnBrk="1" hangingPunct="1"/>
            <a:r>
              <a:rPr lang="en-US" altLang="en-US" smtClean="0"/>
              <a:t>Baudrate = 1 / bit-time</a:t>
            </a:r>
          </a:p>
          <a:p>
            <a:pPr lvl="1" eaLnBrk="1" hangingPunct="1"/>
            <a:r>
              <a:rPr lang="en-US" altLang="en-US" smtClean="0"/>
              <a:t>Bandwidth is data per unit time</a:t>
            </a:r>
          </a:p>
          <a:p>
            <a:pPr lvl="2" eaLnBrk="1" hangingPunct="1"/>
            <a:r>
              <a:rPr lang="en-US" altLang="en-US" smtClean="0"/>
              <a:t>Bandwidth = (data-bits / frame-bits) * baudrate</a:t>
            </a:r>
          </a:p>
        </p:txBody>
      </p:sp>
      <p:pic>
        <p:nvPicPr>
          <p:cNvPr id="6148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706" y="2123487"/>
            <a:ext cx="8616950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3780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Simplified Block Diagram of </a:t>
            </a:r>
            <a:r>
              <a:rPr lang="en-US" dirty="0" err="1"/>
              <a:t>UARTn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5</a:t>
            </a:fld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924" y="2438399"/>
            <a:ext cx="6934226" cy="34287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56503" y="5987845"/>
            <a:ext cx="79198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16 element FIFO buffer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10bit shift register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UART is actually controlled by a clock which is 16 times faster than baud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72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UART - Transmitter</a:t>
            </a:r>
          </a:p>
        </p:txBody>
      </p:sp>
      <p:pic>
        <p:nvPicPr>
          <p:cNvPr id="10244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168013"/>
            <a:ext cx="752475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792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UART - Transmitter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Tx Operation</a:t>
            </a:r>
          </a:p>
          <a:p>
            <a:pPr lvl="1" eaLnBrk="1" hangingPunct="1"/>
            <a:r>
              <a:rPr lang="en-US" altLang="en-US" smtClean="0"/>
              <a:t>Data written to UART0_DR_R</a:t>
            </a:r>
          </a:p>
          <a:p>
            <a:pPr lvl="2" eaLnBrk="1" hangingPunct="1"/>
            <a:r>
              <a:rPr lang="en-US" altLang="en-US" smtClean="0"/>
              <a:t>passes through 16-element FIFO</a:t>
            </a:r>
          </a:p>
          <a:p>
            <a:pPr lvl="2" eaLnBrk="1" hangingPunct="1"/>
            <a:r>
              <a:rPr lang="en-US" altLang="en-US" smtClean="0"/>
              <a:t>permits small amount of data rate matching between processor and UART</a:t>
            </a:r>
          </a:p>
          <a:p>
            <a:pPr lvl="1" eaLnBrk="1" hangingPunct="1"/>
            <a:r>
              <a:rPr lang="en-US" altLang="en-US" smtClean="0"/>
              <a:t>Shift clock is generated from 16x clock</a:t>
            </a:r>
          </a:p>
          <a:p>
            <a:pPr lvl="2" eaLnBrk="1" hangingPunct="1"/>
            <a:r>
              <a:rPr lang="en-US" altLang="en-US" smtClean="0"/>
              <a:t>permits differences in Tx and Rx clocks to be reconciled</a:t>
            </a:r>
          </a:p>
        </p:txBody>
      </p:sp>
      <p:pic>
        <p:nvPicPr>
          <p:cNvPr id="11269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206" y="1824036"/>
            <a:ext cx="8616950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118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UART - Receiver</a:t>
            </a:r>
          </a:p>
        </p:txBody>
      </p:sp>
      <p:pic>
        <p:nvPicPr>
          <p:cNvPr id="12292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424" y="2075938"/>
            <a:ext cx="7985125" cy="328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896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1484311" y="376086"/>
            <a:ext cx="10018713" cy="1752599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UART - Receiver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Rx Operation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dirty="0" smtClean="0"/>
              <a:t>RXFE</a:t>
            </a:r>
            <a:r>
              <a:rPr lang="en-US" altLang="en-US" dirty="0" smtClean="0"/>
              <a:t> is 0 when data are available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dirty="0" smtClean="0"/>
              <a:t>RXFF</a:t>
            </a:r>
            <a:r>
              <a:rPr lang="en-US" altLang="en-US" dirty="0" smtClean="0"/>
              <a:t> is 1 when FIFO is full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FIFO entries have four control bits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b="1" dirty="0" smtClean="0"/>
              <a:t>BE</a:t>
            </a:r>
            <a:r>
              <a:rPr lang="en-US" altLang="en-US" dirty="0" smtClean="0"/>
              <a:t> set when </a:t>
            </a:r>
            <a:r>
              <a:rPr lang="en-US" altLang="en-US" dirty="0" err="1" smtClean="0"/>
              <a:t>Tx</a:t>
            </a:r>
            <a:r>
              <a:rPr lang="en-US" altLang="en-US" dirty="0" smtClean="0"/>
              <a:t> signal held low for more than one frame (break)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b="1" dirty="0" smtClean="0"/>
              <a:t>OE</a:t>
            </a:r>
            <a:r>
              <a:rPr lang="en-US" altLang="en-US" dirty="0" smtClean="0"/>
              <a:t> set when FIFO is full and new frame has arrived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b="1" dirty="0" smtClean="0"/>
              <a:t>PE</a:t>
            </a:r>
            <a:r>
              <a:rPr lang="en-US" altLang="en-US" dirty="0" smtClean="0"/>
              <a:t> set if frame parity error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b="1" dirty="0" smtClean="0"/>
              <a:t>FE</a:t>
            </a:r>
            <a:r>
              <a:rPr lang="en-US" altLang="en-US" dirty="0" smtClean="0"/>
              <a:t> set if stop bit timing error means if </a:t>
            </a:r>
            <a:r>
              <a:rPr lang="en-US" altLang="en-US" dirty="0" err="1" smtClean="0"/>
              <a:t>baudrates</a:t>
            </a:r>
            <a:r>
              <a:rPr lang="en-US" altLang="en-US" dirty="0" smtClean="0"/>
              <a:t> of both devices do not match</a:t>
            </a:r>
            <a:endParaRPr lang="en-US" altLang="en-US" b="1" dirty="0" smtClean="0"/>
          </a:p>
        </p:txBody>
      </p:sp>
      <p:pic>
        <p:nvPicPr>
          <p:cNvPr id="13317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191" y="1677579"/>
            <a:ext cx="8616950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2680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UART – Overrun Error</a:t>
            </a:r>
          </a:p>
        </p:txBody>
      </p:sp>
      <p:sp>
        <p:nvSpPr>
          <p:cNvPr id="14340" name="Text Box 6"/>
          <p:cNvSpPr txBox="1">
            <a:spLocks noChangeArrowheads="1"/>
          </p:cNvSpPr>
          <p:nvPr/>
        </p:nvSpPr>
        <p:spPr bwMode="auto">
          <a:xfrm>
            <a:off x="2281238" y="4324350"/>
            <a:ext cx="76692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o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Ø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/>
              <a:t>17 frames transmitted and none read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/>
              <a:t>=&gt; overrun error</a:t>
            </a:r>
          </a:p>
        </p:txBody>
      </p:sp>
      <p:pic>
        <p:nvPicPr>
          <p:cNvPr id="14341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209801"/>
            <a:ext cx="85344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010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1543305" y="0"/>
            <a:ext cx="10018713" cy="1752599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TM4C UART0 – Registers </a:t>
            </a:r>
          </a:p>
        </p:txBody>
      </p:sp>
      <p:graphicFrame>
        <p:nvGraphicFramePr>
          <p:cNvPr id="15364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4281209"/>
              </p:ext>
            </p:extLst>
          </p:nvPr>
        </p:nvGraphicFramePr>
        <p:xfrm>
          <a:off x="2392823" y="1230312"/>
          <a:ext cx="8088313" cy="517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" name="Document" r:id="rId3" imgW="5786251" imgH="3701659" progId="Word.Document.8">
                  <p:embed/>
                </p:oleObj>
              </mc:Choice>
              <mc:Fallback>
                <p:oleObj name="Document" r:id="rId3" imgW="5786251" imgH="3701659" progId="Word.Document.8">
                  <p:embed/>
                  <p:pic>
                    <p:nvPicPr>
                      <p:cNvPr id="1536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823" y="1230312"/>
                        <a:ext cx="8088313" cy="517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898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UART Data (UARTDR)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12</a:t>
            </a:fld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1" y="2340949"/>
            <a:ext cx="9317057" cy="5007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12606" y="3539613"/>
            <a:ext cx="10190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Data to be written here when transmitting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Data to be read from here after </a:t>
            </a:r>
            <a:r>
              <a:rPr lang="en-US" dirty="0" err="1" smtClean="0"/>
              <a:t>receving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958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UARTn_RSR_R</a:t>
            </a:r>
            <a:r>
              <a:rPr lang="en-US" dirty="0" smtClean="0"/>
              <a:t> register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Separate error register </a:t>
            </a:r>
          </a:p>
          <a:p>
            <a:r>
              <a:rPr lang="en-US" dirty="0" smtClean="0"/>
              <a:t>Bits can be cleared before communication starts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762" y="3219450"/>
            <a:ext cx="761047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622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UART Flag Register (UARTFR)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14</a:t>
            </a:fld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006" y="2438399"/>
            <a:ext cx="8947321" cy="9119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2826" y="3967316"/>
            <a:ext cx="103091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Status of two FIFOs can be seen 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BUSY flag is set while </a:t>
            </a:r>
            <a:r>
              <a:rPr lang="en-US" i="1" dirty="0" smtClean="0"/>
              <a:t>the transmitter </a:t>
            </a:r>
            <a:r>
              <a:rPr lang="en-US" dirty="0" smtClean="0"/>
              <a:t>still has unsent bits , it will become zero when last bit is sent and FIFO is empty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TXFE: it is raised when FIFO is empty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RXFF: it is raised when FIFO is full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TXFF: low when FIFO is not full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RXFE: low when FIFO is empty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38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UART Control (UARTCTL)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15</a:t>
            </a:fld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799" y="2168190"/>
            <a:ext cx="9317057" cy="132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4173794"/>
            <a:ext cx="91230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UARTEN: enable/disable </a:t>
            </a:r>
            <a:r>
              <a:rPr lang="en-US" dirty="0" err="1" smtClean="0"/>
              <a:t>uart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HSE: high speed enable; for baud rate divisor which is by default 16, to change it to 8 set HSE to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RXE: receive enable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TXE: transmission enable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92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UART Line Control (UARTLCRH)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16</a:t>
            </a:fld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138" y="2184054"/>
            <a:ext cx="9317057" cy="5086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84311" y="3200400"/>
            <a:ext cx="9743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is used for setting frame length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STP2: set this bit to 1 if 2 stop bits are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FEN: enable FIFO (default size is 1 byte when FEN =0 else for 16 bytes FEN =1)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WLEN: (D6-D5) determine word length , 5 bits, 6bits, 7 bits or 8 bits. </a:t>
            </a:r>
            <a:endParaRPr lang="en-US" dirty="0"/>
          </a:p>
        </p:txBody>
      </p:sp>
      <p:graphicFrame>
        <p:nvGraphicFramePr>
          <p:cNvPr id="8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7058419"/>
              </p:ext>
            </p:extLst>
          </p:nvPr>
        </p:nvGraphicFramePr>
        <p:xfrm>
          <a:off x="3118375" y="4400729"/>
          <a:ext cx="7038103" cy="2111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2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2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D6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D5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 bits</a:t>
                      </a:r>
                      <a:endParaRPr lang="en-US" sz="17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 bits</a:t>
                      </a:r>
                      <a:endParaRPr lang="en-US" sz="17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 bits</a:t>
                      </a:r>
                      <a:endParaRPr lang="en-US" sz="17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 bits</a:t>
                      </a:r>
                      <a:endParaRPr lang="en-US" sz="17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92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1356" y="849573"/>
            <a:ext cx="11153516" cy="1752599"/>
          </a:xfrm>
        </p:spPr>
        <p:txBody>
          <a:bodyPr/>
          <a:lstStyle/>
          <a:p>
            <a:r>
              <a:rPr lang="en-US" dirty="0"/>
              <a:t>RCGCUART (UART Run Mode Clock Gating Control)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17</a:t>
            </a:fld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535" y="2269326"/>
            <a:ext cx="8947321" cy="6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5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18</a:t>
            </a:fld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19" y="2161587"/>
            <a:ext cx="10171145" cy="53252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84310" y="169607"/>
            <a:ext cx="10018713" cy="1752599"/>
          </a:xfrm>
        </p:spPr>
        <p:txBody>
          <a:bodyPr/>
          <a:lstStyle/>
          <a:p>
            <a:r>
              <a:rPr lang="en-US" dirty="0" smtClean="0"/>
              <a:t>Baud Rate Generator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651819" y="1666568"/>
            <a:ext cx="1001415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UARTIBRD and UARTFBRD are used for baud rate setting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16 bits + 6 bits are used = 22 bits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To reduce the error we use both registers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Desired baud rate = </a:t>
            </a:r>
            <a:r>
              <a:rPr lang="en-US" dirty="0" err="1" smtClean="0"/>
              <a:t>SysClk</a:t>
            </a:r>
            <a:r>
              <a:rPr lang="en-US" dirty="0" smtClean="0"/>
              <a:t>/(16 x </a:t>
            </a:r>
            <a:r>
              <a:rPr lang="en-US" dirty="0" err="1" smtClean="0"/>
              <a:t>ClkDiv</a:t>
            </a:r>
            <a:r>
              <a:rPr lang="en-US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smtClean="0"/>
              <a:t>Example: for 16MHz, baud rate of 4800 </a:t>
            </a:r>
            <a:r>
              <a:rPr lang="en-US" dirty="0" err="1" smtClean="0"/>
              <a:t>ClkDiv</a:t>
            </a:r>
            <a:r>
              <a:rPr lang="en-US" dirty="0" smtClean="0"/>
              <a:t> =  208.3333 </a:t>
            </a:r>
          </a:p>
          <a:p>
            <a:r>
              <a:rPr lang="en-US" dirty="0" smtClean="0"/>
              <a:t>UARTIBRD = 208</a:t>
            </a:r>
          </a:p>
          <a:p>
            <a:r>
              <a:rPr lang="en-US" dirty="0" smtClean="0"/>
              <a:t>UARTFBRD = 0.333x 64 = 21. 312 = </a:t>
            </a:r>
            <a:r>
              <a:rPr lang="en-US" b="1" dirty="0" smtClean="0"/>
              <a:t>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8" name="Content Placeholder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19" y="2819698"/>
            <a:ext cx="10171145" cy="53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2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PORT setting for UART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Enable digital or analog function</a:t>
            </a:r>
          </a:p>
          <a:p>
            <a:r>
              <a:rPr lang="en-US" dirty="0" smtClean="0"/>
              <a:t>Enable alternate function </a:t>
            </a:r>
          </a:p>
          <a:p>
            <a:r>
              <a:rPr lang="en-US" dirty="0" smtClean="0"/>
              <a:t>Select alternate function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69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1356" y="849573"/>
            <a:ext cx="11153516" cy="1752599"/>
          </a:xfrm>
        </p:spPr>
        <p:txBody>
          <a:bodyPr/>
          <a:lstStyle/>
          <a:p>
            <a:r>
              <a:rPr lang="en-US" dirty="0"/>
              <a:t>GPIO Alternate Function Select (GPIOAFSEL)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20</a:t>
            </a:fld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215" y="2773054"/>
            <a:ext cx="8815797" cy="8879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80215" y="4306529"/>
            <a:ext cx="8571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Make bit for respective pin = 1 for which alternate function has to be enabled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3446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1356" y="849573"/>
            <a:ext cx="11153516" cy="1752599"/>
          </a:xfrm>
        </p:spPr>
        <p:txBody>
          <a:bodyPr/>
          <a:lstStyle/>
          <a:p>
            <a:r>
              <a:rPr lang="en-US" dirty="0"/>
              <a:t>GPIOPCTL Register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21</a:t>
            </a:fld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626" y="2355115"/>
            <a:ext cx="9760397" cy="12530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42626" y="3982065"/>
            <a:ext cx="9484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4 bit value for alternate function (next slide)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75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1356" y="849573"/>
            <a:ext cx="11153516" cy="1752599"/>
          </a:xfrm>
        </p:spPr>
        <p:txBody>
          <a:bodyPr/>
          <a:lstStyle/>
          <a:p>
            <a:r>
              <a:rPr lang="en-US" dirty="0" smtClean="0"/>
              <a:t>Alternate function value for each pin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22</a:t>
            </a:fld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934" y="2281946"/>
            <a:ext cx="7922359" cy="376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0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484311" y="228600"/>
            <a:ext cx="10018713" cy="1752599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TM4C UART Setup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80612" y="1971366"/>
            <a:ext cx="8367713" cy="5121275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dirty="0"/>
              <a:t>UART0 operation</a:t>
            </a:r>
          </a:p>
          <a:p>
            <a:pPr lvl="1" eaLnBrk="1" hangingPunct="1"/>
            <a:r>
              <a:rPr lang="en-US" altLang="en-US" sz="1600" dirty="0"/>
              <a:t>UART clock started in </a:t>
            </a:r>
            <a:r>
              <a:rPr lang="en-US" altLang="en-US" sz="1600" b="1" dirty="0"/>
              <a:t>SYSCTL_RCGCUART_R</a:t>
            </a:r>
          </a:p>
          <a:p>
            <a:pPr lvl="1" eaLnBrk="1" hangingPunct="1"/>
            <a:r>
              <a:rPr lang="en-US" altLang="en-US" sz="1600" dirty="0"/>
              <a:t>Digital port clock started in </a:t>
            </a:r>
            <a:r>
              <a:rPr lang="en-US" altLang="en-US" sz="1600" b="1" dirty="0"/>
              <a:t>SYSCTL_RCGCGPIO_R</a:t>
            </a:r>
            <a:endParaRPr lang="en-US" altLang="en-US" sz="1600" dirty="0"/>
          </a:p>
          <a:p>
            <a:pPr lvl="1" eaLnBrk="1" hangingPunct="1"/>
            <a:r>
              <a:rPr lang="en-US" altLang="en-US" sz="1600" b="1" dirty="0"/>
              <a:t>UART0_CTL_R</a:t>
            </a:r>
            <a:r>
              <a:rPr lang="en-US" altLang="en-US" sz="1600" dirty="0"/>
              <a:t> contains UART enable (UARTEN), </a:t>
            </a:r>
            <a:r>
              <a:rPr lang="en-US" altLang="en-US" sz="1600" dirty="0" err="1"/>
              <a:t>Tx</a:t>
            </a:r>
            <a:r>
              <a:rPr lang="en-US" altLang="en-US" sz="1600" dirty="0"/>
              <a:t> (TXE), and Rx enable (RXE)</a:t>
            </a:r>
          </a:p>
          <a:p>
            <a:pPr lvl="2" eaLnBrk="1" hangingPunct="1"/>
            <a:r>
              <a:rPr lang="en-US" altLang="en-US" sz="1600" dirty="0"/>
              <a:t>set each to 1 to enable</a:t>
            </a:r>
          </a:p>
          <a:p>
            <a:pPr lvl="2" eaLnBrk="1" hangingPunct="1"/>
            <a:r>
              <a:rPr lang="en-US" altLang="en-US" sz="1600" b="1" dirty="0"/>
              <a:t>UART disabled during initialization</a:t>
            </a:r>
          </a:p>
          <a:p>
            <a:pPr lvl="1" eaLnBrk="1" hangingPunct="1"/>
            <a:r>
              <a:rPr lang="en-US" altLang="en-US" sz="1600" b="1" dirty="0"/>
              <a:t>UART0_IBRD_R</a:t>
            </a:r>
            <a:r>
              <a:rPr lang="en-US" altLang="en-US" sz="1600" dirty="0"/>
              <a:t> and </a:t>
            </a:r>
            <a:r>
              <a:rPr lang="en-US" altLang="en-US" sz="1600" b="1" dirty="0"/>
              <a:t>UART_FBRD_R</a:t>
            </a:r>
            <a:r>
              <a:rPr lang="en-US" altLang="en-US" sz="1600" dirty="0"/>
              <a:t> specify baud rate</a:t>
            </a:r>
          </a:p>
          <a:p>
            <a:pPr lvl="2" eaLnBrk="1" hangingPunct="1"/>
            <a:r>
              <a:rPr lang="en-US" altLang="en-US" sz="1600" dirty="0"/>
              <a:t>bit rate = (bus clock frequency)/(16*divider)</a:t>
            </a:r>
          </a:p>
          <a:p>
            <a:pPr lvl="2" eaLnBrk="1" hangingPunct="1"/>
            <a:r>
              <a:rPr lang="en-US" altLang="en-US" sz="1600" dirty="0" smtClean="0"/>
              <a:t>For example we  </a:t>
            </a:r>
            <a:r>
              <a:rPr lang="en-US" altLang="en-US" sz="1600" dirty="0"/>
              <a:t>want 19.2 kb/s and bus clock is 8 MHz</a:t>
            </a:r>
          </a:p>
          <a:p>
            <a:pPr lvl="2" eaLnBrk="1" hangingPunct="1"/>
            <a:r>
              <a:rPr lang="en-US" altLang="en-US" sz="1600" dirty="0"/>
              <a:t>8 MHz/(16*19.2 k) = 26.04167 = 11010.000011</a:t>
            </a:r>
            <a:r>
              <a:rPr lang="en-US" altLang="en-US" sz="1600" baseline="-25000" dirty="0"/>
              <a:t>2</a:t>
            </a:r>
          </a:p>
          <a:p>
            <a:pPr lvl="2" eaLnBrk="1" hangingPunct="1"/>
            <a:r>
              <a:rPr lang="en-US" altLang="en-US" sz="1600" dirty="0" err="1"/>
              <a:t>Tx</a:t>
            </a:r>
            <a:r>
              <a:rPr lang="en-US" altLang="en-US" sz="1600" dirty="0"/>
              <a:t> and Rx clock rates must be within 5% to avoid errors</a:t>
            </a:r>
          </a:p>
          <a:p>
            <a:pPr lvl="1" eaLnBrk="1" hangingPunct="1"/>
            <a:r>
              <a:rPr lang="en-US" altLang="en-US" sz="1600" b="1" dirty="0"/>
              <a:t>GPIO_PORTB_AFSEL_R </a:t>
            </a:r>
            <a:r>
              <a:rPr lang="en-US" altLang="en-US" sz="1600" dirty="0"/>
              <a:t>to choose alternate function</a:t>
            </a:r>
          </a:p>
          <a:p>
            <a:pPr lvl="1" eaLnBrk="1" hangingPunct="1"/>
            <a:r>
              <a:rPr lang="en-US" altLang="en-US" sz="1600" dirty="0"/>
              <a:t>Write appropriate values to </a:t>
            </a:r>
            <a:r>
              <a:rPr lang="en-US" altLang="en-US" sz="1600" b="1" dirty="0"/>
              <a:t>GPIO_PORTB_PCTL_R</a:t>
            </a:r>
            <a:r>
              <a:rPr lang="en-US" altLang="en-US" sz="1600" dirty="0"/>
              <a:t> </a:t>
            </a:r>
            <a:endParaRPr lang="en-US" altLang="en-US" sz="1600" dirty="0" smtClean="0"/>
          </a:p>
          <a:p>
            <a:pPr lvl="1" eaLnBrk="1" hangingPunct="1"/>
            <a:r>
              <a:rPr lang="pt-BR" altLang="en-US" sz="1600" b="1" dirty="0" smtClean="0"/>
              <a:t>GPIO_PORTB_DEN_R </a:t>
            </a:r>
            <a:r>
              <a:rPr lang="pt-BR" altLang="en-US" sz="1600" dirty="0"/>
              <a:t>Enable digital I/O on pins 1-0</a:t>
            </a:r>
          </a:p>
          <a:p>
            <a:pPr lvl="1" eaLnBrk="1" hangingPunct="1"/>
            <a:r>
              <a:rPr lang="pt-BR" altLang="en-US" sz="1600" b="1" dirty="0"/>
              <a:t>GPIO_PORTB_AMSEL_R</a:t>
            </a:r>
            <a:r>
              <a:rPr lang="pt-BR" altLang="en-US" sz="1600" dirty="0"/>
              <a:t> no Analog I/O on pins 1-0</a:t>
            </a:r>
          </a:p>
          <a:p>
            <a:pPr lvl="1" eaLnBrk="1" hangingPunct="1"/>
            <a:r>
              <a:rPr lang="en-US" altLang="en-US" sz="1600" b="1" dirty="0"/>
              <a:t>write to UART0_LCRH_R to activate</a:t>
            </a:r>
          </a:p>
          <a:p>
            <a:pPr lvl="1" eaLnBrk="1" hangingPunct="1"/>
            <a:endParaRPr lang="en-US" altLang="en-US" sz="1600" dirty="0"/>
          </a:p>
          <a:p>
            <a:pPr lvl="1" eaLnBrk="1" hangingPunct="1"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695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84311" y="-464574"/>
            <a:ext cx="10018713" cy="1752599"/>
          </a:xfrm>
        </p:spPr>
        <p:txBody>
          <a:bodyPr/>
          <a:lstStyle/>
          <a:p>
            <a:pPr eaLnBrk="1" hangingPunct="1"/>
            <a:r>
              <a:rPr lang="en-US" altLang="en-US" sz="3600" dirty="0" smtClean="0"/>
              <a:t>UART Module 1 </a:t>
            </a:r>
            <a:r>
              <a:rPr lang="en-US" altLang="en-US" sz="3600" dirty="0"/>
              <a:t>Setup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484310" y="1477963"/>
            <a:ext cx="10018713" cy="535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o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Ø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</a:rPr>
              <a:t>					// </a:t>
            </a:r>
            <a:r>
              <a:rPr lang="en-US" altLang="en-US" sz="1800" b="1" dirty="0">
                <a:latin typeface="Courier New" panose="02070309020205020404" pitchFamily="49" charset="0"/>
              </a:rPr>
              <a:t>Assumes a 50 MHz bus clock, 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creates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</a:rPr>
              <a:t>					//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115200 </a:t>
            </a:r>
            <a:r>
              <a:rPr lang="en-US" altLang="en-US" sz="1800" b="1" dirty="0">
                <a:latin typeface="Courier New" panose="02070309020205020404" pitchFamily="49" charset="0"/>
              </a:rPr>
              <a:t>baud rate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</a:rPr>
              <a:t>void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UART_Init</a:t>
            </a:r>
            <a:r>
              <a:rPr lang="en-US" altLang="en-US" sz="1800" b="1" dirty="0">
                <a:latin typeface="Courier New" panose="02070309020205020404" pitchFamily="49" charset="0"/>
              </a:rPr>
              <a:t>(void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</a:rPr>
              <a:t>{</a:t>
            </a:r>
            <a:endParaRPr lang="en-US" altLang="en-US" sz="18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SYSCTL_RCGCUART_R |= 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0x0002; 	// </a:t>
            </a:r>
            <a:r>
              <a:rPr lang="en-US" altLang="en-US" sz="1800" b="1" dirty="0">
                <a:latin typeface="Courier New" panose="02070309020205020404" pitchFamily="49" charset="0"/>
              </a:rPr>
              <a:t>activate 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UART1</a:t>
            </a:r>
            <a:endParaRPr lang="en-US" altLang="en-US" sz="18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SYSCTL_RCGCGPIO_R |= 0x0002; 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	// </a:t>
            </a:r>
            <a:r>
              <a:rPr lang="en-US" altLang="en-US" sz="1800" b="1" dirty="0">
                <a:latin typeface="Courier New" panose="02070309020205020404" pitchFamily="49" charset="0"/>
              </a:rPr>
              <a:t>activate port 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UART1_CTL_R &amp;= ~0x0001;      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	// </a:t>
            </a:r>
            <a:r>
              <a:rPr lang="en-US" altLang="en-US" sz="1800" b="1" dirty="0">
                <a:latin typeface="Courier New" panose="02070309020205020404" pitchFamily="49" charset="0"/>
              </a:rPr>
              <a:t>disable UART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UART1_IBRD_R = 27;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</a:rPr>
              <a:t>					// IBRD=</a:t>
            </a:r>
            <a:r>
              <a:rPr lang="en-US" altLang="en-US" sz="1800" b="1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(50000000</a:t>
            </a:r>
            <a:r>
              <a:rPr lang="en-US" altLang="en-US" sz="1800" b="1" dirty="0">
                <a:latin typeface="Courier New" panose="02070309020205020404" pitchFamily="49" charset="0"/>
              </a:rPr>
              <a:t>/(16*115,200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</a:rPr>
              <a:t>					//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=</a:t>
            </a:r>
            <a:r>
              <a:rPr lang="en-US" altLang="en-US" sz="1800" b="1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(27.1267</a:t>
            </a:r>
            <a:r>
              <a:rPr lang="en-US" altLang="en-US" sz="1800" b="1" dirty="0">
                <a:latin typeface="Courier New" panose="02070309020205020404" pitchFamily="49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UART1_FBRD_R = 8;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</a:rPr>
              <a:t>					// </a:t>
            </a:r>
            <a:r>
              <a:rPr lang="en-US" altLang="en-US" sz="1800" b="1" dirty="0">
                <a:latin typeface="Courier New" panose="02070309020205020404" pitchFamily="49" charset="0"/>
              </a:rPr>
              <a:t>FBRD = round(0.1267 * 64) = 8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UART1_LCRH_R = 0x0070;  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		// </a:t>
            </a:r>
            <a:r>
              <a:rPr lang="en-US" altLang="en-US" sz="1800" b="1" dirty="0">
                <a:latin typeface="Courier New" panose="02070309020205020404" pitchFamily="49" charset="0"/>
              </a:rPr>
              <a:t>8-bit length, enable FIFO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UART1_CTL_R = 0x0301;   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		// </a:t>
            </a:r>
            <a:r>
              <a:rPr lang="en-US" altLang="en-US" sz="1800" b="1" dirty="0">
                <a:latin typeface="Courier New" panose="02070309020205020404" pitchFamily="49" charset="0"/>
              </a:rPr>
              <a:t>enable RXE, TXE and UART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</a:t>
            </a:r>
            <a:r>
              <a:rPr lang="pt-BR" altLang="en-US" sz="1800" b="1" dirty="0">
                <a:latin typeface="Courier New" panose="02070309020205020404" pitchFamily="49" charset="0"/>
              </a:rPr>
              <a:t>GPIO_PORTB_AFSEL_R |= 0x03; </a:t>
            </a:r>
            <a:r>
              <a:rPr lang="pt-BR" altLang="en-US" sz="1800" b="1" dirty="0" smtClean="0">
                <a:latin typeface="Courier New" panose="02070309020205020404" pitchFamily="49" charset="0"/>
              </a:rPr>
              <a:t>	// </a:t>
            </a:r>
            <a:r>
              <a:rPr lang="pt-BR" altLang="en-US" sz="1800" b="1" dirty="0">
                <a:latin typeface="Courier New" panose="02070309020205020404" pitchFamily="49" charset="0"/>
              </a:rPr>
              <a:t>alt funct on PB1-0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1800" b="1" dirty="0">
                <a:latin typeface="Courier New" panose="02070309020205020404" pitchFamily="49" charset="0"/>
              </a:rPr>
              <a:t>  GPIO_PORTB_PCTL_R = </a:t>
            </a:r>
            <a:r>
              <a:rPr lang="pt-BR" altLang="en-US" sz="1800" b="1" dirty="0" smtClean="0">
                <a:latin typeface="Courier New" panose="02070309020205020404" pitchFamily="49" charset="0"/>
              </a:rPr>
              <a:t>0x00000011</a:t>
            </a:r>
            <a:r>
              <a:rPr lang="pt-BR" altLang="en-US" sz="18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1800" b="1" dirty="0">
                <a:latin typeface="Courier New" panose="02070309020205020404" pitchFamily="49" charset="0"/>
              </a:rPr>
              <a:t>  GPIO_PORTB_DEN_R |= 0x03;   </a:t>
            </a:r>
            <a:r>
              <a:rPr lang="pt-BR" altLang="en-US" sz="1800" b="1" dirty="0" smtClean="0">
                <a:latin typeface="Courier New" panose="02070309020205020404" pitchFamily="49" charset="0"/>
              </a:rPr>
              <a:t>	// </a:t>
            </a:r>
            <a:r>
              <a:rPr lang="pt-BR" altLang="en-US" sz="1800" b="1" dirty="0">
                <a:latin typeface="Courier New" panose="02070309020205020404" pitchFamily="49" charset="0"/>
              </a:rPr>
              <a:t>digital I/O on PB1-0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1800" b="1" dirty="0">
                <a:latin typeface="Courier New" panose="02070309020205020404" pitchFamily="49" charset="0"/>
              </a:rPr>
              <a:t>  </a:t>
            </a:r>
            <a:r>
              <a:rPr lang="en-US" altLang="en-US" sz="1800" b="1" dirty="0">
                <a:latin typeface="Courier New" panose="02070309020205020404" pitchFamily="49" charset="0"/>
              </a:rPr>
              <a:t>GPIO_PORTB_AMSEL_R &amp;= ~0x03; 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	// </a:t>
            </a:r>
            <a:r>
              <a:rPr lang="en-US" altLang="en-US" sz="1800" b="1" dirty="0">
                <a:latin typeface="Courier New" panose="02070309020205020404" pitchFamily="49" charset="0"/>
              </a:rPr>
              <a:t>No analog on PB1-0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5522913" y="4572000"/>
            <a:ext cx="582612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34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3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84311" y="-22118"/>
            <a:ext cx="10018713" cy="1752599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UART Busy-Wait Send/</a:t>
            </a:r>
            <a:r>
              <a:rPr lang="en-US" altLang="en-US" sz="3600" dirty="0" err="1"/>
              <a:t>Recv</a:t>
            </a:r>
            <a:endParaRPr lang="en-US" altLang="en-US" sz="3600" dirty="0"/>
          </a:p>
        </p:txBody>
      </p:sp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1465263" y="1322091"/>
            <a:ext cx="784860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o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Ø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i="1" dirty="0">
                <a:latin typeface="Courier New" panose="02070309020205020404" pitchFamily="49" charset="0"/>
              </a:rPr>
              <a:t>// Wait for new input,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i="1" dirty="0">
                <a:latin typeface="Courier New" panose="02070309020205020404" pitchFamily="49" charset="0"/>
              </a:rPr>
              <a:t>// then return ASCII code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uint8_t </a:t>
            </a:r>
            <a:r>
              <a:rPr lang="en-US" altLang="en-US" sz="1800" b="1" dirty="0" err="1" smtClean="0">
                <a:latin typeface="Courier New" panose="02070309020205020404" pitchFamily="49" charset="0"/>
              </a:rPr>
              <a:t>UART_InChar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(void</a:t>
            </a:r>
            <a:r>
              <a:rPr lang="en-US" altLang="en-US" sz="1800" b="1" dirty="0">
                <a:latin typeface="Courier New" panose="020703090202050204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while((UART1_FR_R&amp;0x0010) != 0);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</a:t>
            </a:r>
            <a:r>
              <a:rPr lang="en-US" altLang="en-US" sz="1800" b="1" i="1" dirty="0">
                <a:latin typeface="Courier New" panose="02070309020205020404" pitchFamily="49" charset="0"/>
              </a:rPr>
              <a:t>// wait until RXFE is </a:t>
            </a:r>
            <a:r>
              <a:rPr lang="en-US" altLang="en-US" sz="1800" b="1" i="1" dirty="0" smtClean="0">
                <a:latin typeface="Courier New" panose="02070309020205020404" pitchFamily="49" charset="0"/>
              </a:rPr>
              <a:t>1</a:t>
            </a:r>
            <a:endParaRPr lang="en-US" altLang="en-US" sz="1800" b="1" i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return((uint8_t)(UART1_DR_R&amp;0xFF));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i="1" dirty="0">
                <a:latin typeface="Courier New" panose="02070309020205020404" pitchFamily="49" charset="0"/>
              </a:rPr>
              <a:t>// Wait for buffer to be not full,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i="1" dirty="0">
                <a:latin typeface="Courier New" panose="02070309020205020404" pitchFamily="49" charset="0"/>
              </a:rPr>
              <a:t>// then output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void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UART_OutChar</a:t>
            </a:r>
            <a:r>
              <a:rPr lang="en-US" altLang="en-US" sz="1800" b="1" dirty="0">
                <a:latin typeface="Courier New" panose="02070309020205020404" pitchFamily="49" charset="0"/>
              </a:rPr>
              <a:t>(uint8_t data)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while((UART1_FR_R&amp;0x0020) != 0);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</a:t>
            </a:r>
            <a:r>
              <a:rPr lang="en-US" altLang="en-US" sz="1800" b="1" i="1" dirty="0">
                <a:latin typeface="Courier New" panose="02070309020205020404" pitchFamily="49" charset="0"/>
              </a:rPr>
              <a:t>// wait until TXFF is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UART1_DR_R = data;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9461" name="TextBox 5"/>
          <p:cNvSpPr txBox="1">
            <a:spLocks noChangeArrowheads="1"/>
          </p:cNvSpPr>
          <p:nvPr/>
        </p:nvSpPr>
        <p:spPr bwMode="auto">
          <a:xfrm>
            <a:off x="2971800" y="5486400"/>
            <a:ext cx="579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o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Ø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i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946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8504" y="794488"/>
            <a:ext cx="2036762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2797" y="3688408"/>
            <a:ext cx="190817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214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statement: Send message to PC connected with </a:t>
            </a:r>
            <a:r>
              <a:rPr lang="en-US" b="1" dirty="0" smtClean="0"/>
              <a:t>Launchpad</a:t>
            </a:r>
            <a:r>
              <a:rPr lang="en-US" dirty="0" smtClean="0"/>
              <a:t> and receive data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Send a message “HELLO” at 9600 baud rate </a:t>
            </a:r>
          </a:p>
          <a:p>
            <a:r>
              <a:rPr lang="en-US" dirty="0" smtClean="0"/>
              <a:t>Receive a character</a:t>
            </a:r>
          </a:p>
          <a:p>
            <a:r>
              <a:rPr lang="en-US" dirty="0" smtClean="0"/>
              <a:t>Send next character </a:t>
            </a:r>
          </a:p>
          <a:p>
            <a:r>
              <a:rPr lang="en-US" dirty="0" smtClean="0"/>
              <a:t>Repeat</a:t>
            </a:r>
          </a:p>
          <a:p>
            <a:endParaRPr lang="en-US" dirty="0"/>
          </a:p>
          <a:p>
            <a:r>
              <a:rPr lang="en-US" dirty="0" smtClean="0"/>
              <a:t>Note: we will use UART module 0 </a:t>
            </a:r>
            <a:r>
              <a:rPr lang="en-US" smtClean="0"/>
              <a:t>as ICDI </a:t>
            </a:r>
            <a:r>
              <a:rPr lang="en-US" dirty="0" smtClean="0"/>
              <a:t>port is connected with PORTA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404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84311" y="405585"/>
            <a:ext cx="10018713" cy="70054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27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484311" y="1225689"/>
            <a:ext cx="998393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void </a:t>
            </a:r>
            <a:r>
              <a:rPr lang="en-US" dirty="0"/>
              <a:t>UART0Tx(char);</a:t>
            </a:r>
          </a:p>
          <a:p>
            <a:r>
              <a:rPr lang="en-US" dirty="0"/>
              <a:t>char UART0Rx(void);</a:t>
            </a:r>
          </a:p>
          <a:p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main(void)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SYSCTL_RCGCUART_R |= 1;  </a:t>
            </a:r>
            <a:r>
              <a:rPr lang="en-US" dirty="0" smtClean="0"/>
              <a:t>		/* </a:t>
            </a:r>
            <a:r>
              <a:rPr lang="en-US" dirty="0"/>
              <a:t>provide clock to UART0 */</a:t>
            </a:r>
          </a:p>
          <a:p>
            <a:r>
              <a:rPr lang="en-US" dirty="0"/>
              <a:t>    SYSCTL_RCGCGPIO_R |= 1;  </a:t>
            </a:r>
            <a:r>
              <a:rPr lang="en-US" dirty="0" smtClean="0"/>
              <a:t>		/* </a:t>
            </a:r>
            <a:r>
              <a:rPr lang="en-US" dirty="0"/>
              <a:t>enable clock to PORTA */</a:t>
            </a:r>
          </a:p>
          <a:p>
            <a:r>
              <a:rPr lang="en-US" dirty="0" smtClean="0"/>
              <a:t>    </a:t>
            </a:r>
            <a:r>
              <a:rPr lang="en-US" dirty="0" smtClean="0"/>
              <a:t>					/* </a:t>
            </a:r>
            <a:r>
              <a:rPr lang="en-US" dirty="0"/>
              <a:t>UART0 initialization */</a:t>
            </a:r>
          </a:p>
          <a:p>
            <a:r>
              <a:rPr lang="en-US" dirty="0"/>
              <a:t>    UART0_CTL_R = 0;         </a:t>
            </a:r>
            <a:r>
              <a:rPr lang="en-US" dirty="0" smtClean="0"/>
              <a:t>			/* </a:t>
            </a:r>
            <a:r>
              <a:rPr lang="en-US" dirty="0"/>
              <a:t>disable UART0 */</a:t>
            </a:r>
          </a:p>
          <a:p>
            <a:r>
              <a:rPr lang="en-US" dirty="0"/>
              <a:t>    UART0_IBRD_R = 104;      </a:t>
            </a:r>
            <a:r>
              <a:rPr lang="en-US" dirty="0" smtClean="0"/>
              <a:t>			/* </a:t>
            </a:r>
            <a:r>
              <a:rPr lang="en-US" dirty="0"/>
              <a:t>16MHz/16=1MHz, 1MHz/104=9600 baud rate */</a:t>
            </a:r>
          </a:p>
          <a:p>
            <a:r>
              <a:rPr lang="en-US" dirty="0"/>
              <a:t>    UART0_FBRD_R = 11;       </a:t>
            </a:r>
            <a:r>
              <a:rPr lang="en-US" dirty="0" smtClean="0"/>
              <a:t>			/* </a:t>
            </a:r>
            <a:r>
              <a:rPr lang="en-US" dirty="0"/>
              <a:t>fraction part, see Example 4-4 */</a:t>
            </a:r>
          </a:p>
          <a:p>
            <a:r>
              <a:rPr lang="en-US" dirty="0"/>
              <a:t>    UART0_CC_R = 0;          </a:t>
            </a:r>
            <a:r>
              <a:rPr lang="en-US" dirty="0" smtClean="0"/>
              <a:t>			/* </a:t>
            </a:r>
            <a:r>
              <a:rPr lang="en-US" dirty="0"/>
              <a:t>use system clock */</a:t>
            </a:r>
          </a:p>
          <a:p>
            <a:r>
              <a:rPr lang="en-US" dirty="0"/>
              <a:t>    UART0_LCRH_R = 0x60;     </a:t>
            </a:r>
            <a:r>
              <a:rPr lang="en-US" dirty="0" smtClean="0"/>
              <a:t>			/* </a:t>
            </a:r>
            <a:r>
              <a:rPr lang="en-US" dirty="0"/>
              <a:t>8-bit, no parity, 1-stop bit, no FIFO */</a:t>
            </a:r>
          </a:p>
          <a:p>
            <a:r>
              <a:rPr lang="en-US" dirty="0"/>
              <a:t>    UART0_CTL_R = 0x301;     </a:t>
            </a:r>
            <a:r>
              <a:rPr lang="en-US" dirty="0" smtClean="0"/>
              <a:t>			/* </a:t>
            </a:r>
            <a:r>
              <a:rPr lang="en-US" dirty="0"/>
              <a:t>enable UART0, TXE, RXE */</a:t>
            </a:r>
          </a:p>
          <a:p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smtClean="0"/>
              <a:t>					/*TX0 </a:t>
            </a:r>
            <a:r>
              <a:rPr lang="en-US" dirty="0"/>
              <a:t>and RX0 use PA0 and PA1. Set them up. */</a:t>
            </a:r>
          </a:p>
          <a:p>
            <a:r>
              <a:rPr lang="en-US" dirty="0"/>
              <a:t>    GPIO_PORTA_DEN_R = 0x03;      </a:t>
            </a:r>
            <a:r>
              <a:rPr lang="en-US" dirty="0" smtClean="0"/>
              <a:t>		/* </a:t>
            </a:r>
            <a:r>
              <a:rPr lang="en-US" dirty="0"/>
              <a:t>Make PA0 and PA1 as digital */</a:t>
            </a:r>
          </a:p>
          <a:p>
            <a:r>
              <a:rPr lang="en-US" dirty="0"/>
              <a:t>    GPIO_PORTA_AFSEL_R = 0x03;    </a:t>
            </a:r>
            <a:r>
              <a:rPr lang="en-US" dirty="0" smtClean="0"/>
              <a:t>		/* </a:t>
            </a:r>
            <a:r>
              <a:rPr lang="en-US" dirty="0"/>
              <a:t>Use PA0,PA1 alternate function */</a:t>
            </a:r>
          </a:p>
          <a:p>
            <a:r>
              <a:rPr lang="en-US" dirty="0"/>
              <a:t>    GPIO_PORTA_PCTL_R = 0x11</a:t>
            </a:r>
            <a:r>
              <a:rPr lang="en-US"/>
              <a:t>;     </a:t>
            </a:r>
            <a:r>
              <a:rPr lang="en-US" smtClean="0"/>
              <a:t>		/* </a:t>
            </a:r>
            <a:r>
              <a:rPr lang="en-US" dirty="0"/>
              <a:t>configure PA0 and PA1 for UART */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285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(contd.)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71600" y="1765095"/>
            <a:ext cx="101314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uint32_t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char x;</a:t>
            </a:r>
          </a:p>
          <a:p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=0;i&lt;200000;i</a:t>
            </a:r>
            <a:r>
              <a:rPr lang="en-US" dirty="0" smtClean="0"/>
              <a:t>++); some de</a:t>
            </a:r>
          </a:p>
          <a:p>
            <a:endParaRPr lang="en-US" dirty="0"/>
          </a:p>
          <a:p>
            <a:r>
              <a:rPr lang="en-US" smtClean="0"/>
              <a:t>UART0Tx</a:t>
            </a:r>
            <a:r>
              <a:rPr lang="en-US" dirty="0"/>
              <a:t>(‘H’);</a:t>
            </a:r>
          </a:p>
          <a:p>
            <a:r>
              <a:rPr lang="en-US" dirty="0"/>
              <a:t>	UART0Tx(‘E’);</a:t>
            </a:r>
          </a:p>
          <a:p>
            <a:r>
              <a:rPr lang="en-US" dirty="0"/>
              <a:t>	UART0Tx(‘L’); </a:t>
            </a:r>
          </a:p>
          <a:p>
            <a:r>
              <a:rPr lang="en-US" dirty="0"/>
              <a:t>	UART0Tx(‘L’); </a:t>
            </a:r>
          </a:p>
          <a:p>
            <a:r>
              <a:rPr lang="en-US" dirty="0"/>
              <a:t>	UART0Tx(‘O’);</a:t>
            </a:r>
          </a:p>
          <a:p>
            <a:endParaRPr lang="en-US" dirty="0"/>
          </a:p>
          <a:p>
            <a:r>
              <a:rPr lang="en-US" dirty="0"/>
              <a:t>       for(;;)</a:t>
            </a:r>
          </a:p>
          <a:p>
            <a:r>
              <a:rPr lang="en-US" dirty="0"/>
              <a:t>       {</a:t>
            </a:r>
          </a:p>
          <a:p>
            <a:r>
              <a:rPr lang="en-US" dirty="0" smtClean="0"/>
              <a:t>	</a:t>
            </a:r>
            <a:r>
              <a:rPr lang="en-US" dirty="0"/>
              <a:t>        x= UART0Rx();</a:t>
            </a:r>
          </a:p>
          <a:p>
            <a:r>
              <a:rPr lang="en-US" dirty="0"/>
              <a:t>       </a:t>
            </a:r>
            <a:r>
              <a:rPr lang="en-US" dirty="0" smtClean="0"/>
              <a:t>	 UART0Tx(x+1);</a:t>
            </a:r>
            <a:endParaRPr lang="en-US" dirty="0"/>
          </a:p>
          <a:p>
            <a:r>
              <a:rPr lang="en-US" dirty="0" smtClean="0"/>
              <a:t>       </a:t>
            </a:r>
            <a:r>
              <a:rPr lang="en-US" dirty="0"/>
              <a:t>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074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1802</TotalTime>
  <Words>1010</Words>
  <Application>Microsoft Office PowerPoint</Application>
  <PresentationFormat>Widescreen</PresentationFormat>
  <Paragraphs>235</Paragraphs>
  <Slides>28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ＭＳ Ｐゴシック</vt:lpstr>
      <vt:lpstr>Arial</vt:lpstr>
      <vt:lpstr>Calibri</vt:lpstr>
      <vt:lpstr>Corbel</vt:lpstr>
      <vt:lpstr>Courier New</vt:lpstr>
      <vt:lpstr>Times New Roman</vt:lpstr>
      <vt:lpstr>Verdana</vt:lpstr>
      <vt:lpstr>Parallax</vt:lpstr>
      <vt:lpstr>Document</vt:lpstr>
      <vt:lpstr>Serial and Parallel Port interfacing</vt:lpstr>
      <vt:lpstr>Tiva LaunchPad</vt:lpstr>
      <vt:lpstr>ICDI USB Port</vt:lpstr>
      <vt:lpstr>Universal Asynchronous Receiver/Transmitter (UART)</vt:lpstr>
      <vt:lpstr>a Simplified Block Diagram of UARTn</vt:lpstr>
      <vt:lpstr>UART - Transmitter</vt:lpstr>
      <vt:lpstr>UART - Transmitter</vt:lpstr>
      <vt:lpstr>UART - Receiver</vt:lpstr>
      <vt:lpstr>UART - Receiver</vt:lpstr>
      <vt:lpstr>UART – Overrun Error</vt:lpstr>
      <vt:lpstr>TM4C UART0 – Registers </vt:lpstr>
      <vt:lpstr>UART Data (UARTDR)</vt:lpstr>
      <vt:lpstr>UARTn_RSR_R register</vt:lpstr>
      <vt:lpstr>UART Flag Register (UARTFR)</vt:lpstr>
      <vt:lpstr>UART Control (UARTCTL)</vt:lpstr>
      <vt:lpstr>UART Line Control (UARTLCRH)</vt:lpstr>
      <vt:lpstr>RCGCUART (UART Run Mode Clock Gating Control)</vt:lpstr>
      <vt:lpstr>Baud Rate Generator</vt:lpstr>
      <vt:lpstr>I/O PORT setting for UART</vt:lpstr>
      <vt:lpstr>GPIO Alternate Function Select (GPIOAFSEL)</vt:lpstr>
      <vt:lpstr>GPIOPCTL Register</vt:lpstr>
      <vt:lpstr>Alternate function value for each pin</vt:lpstr>
      <vt:lpstr>TM4C UART Setup</vt:lpstr>
      <vt:lpstr>UART Module 1 Setup</vt:lpstr>
      <vt:lpstr>UART Busy-Wait Send/Recv</vt:lpstr>
      <vt:lpstr>Problem statement: Send message to PC connected with Launchpad and receive data</vt:lpstr>
      <vt:lpstr>solution</vt:lpstr>
      <vt:lpstr>Solution (contd.)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Misagh.s</dc:creator>
  <cp:lastModifiedBy>Ayesha Javed</cp:lastModifiedBy>
  <cp:revision>464</cp:revision>
  <dcterms:created xsi:type="dcterms:W3CDTF">2016-04-05T15:14:57Z</dcterms:created>
  <dcterms:modified xsi:type="dcterms:W3CDTF">2018-12-30T13:37:03Z</dcterms:modified>
</cp:coreProperties>
</file>