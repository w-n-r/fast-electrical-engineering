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19" r:id="rId9"/>
    <p:sldId id="320" r:id="rId10"/>
    <p:sldId id="321" r:id="rId11"/>
    <p:sldId id="266" r:id="rId12"/>
    <p:sldId id="303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4" r:id="rId22"/>
    <p:sldId id="315" r:id="rId23"/>
    <p:sldId id="322" r:id="rId24"/>
    <p:sldId id="318" r:id="rId25"/>
    <p:sldId id="323" r:id="rId26"/>
    <p:sldId id="324" r:id="rId27"/>
    <p:sldId id="292" r:id="rId28"/>
    <p:sldId id="29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3F8"/>
    <a:srgbClr val="E8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2701" autoAdjust="0"/>
  </p:normalViewPr>
  <p:slideViewPr>
    <p:cSldViewPr snapToGrid="0">
      <p:cViewPr>
        <p:scale>
          <a:sx n="70" d="100"/>
          <a:sy n="70" d="100"/>
        </p:scale>
        <p:origin x="456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D8EBD-BCEA-44DB-B3FA-BEF2334C0C16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7F81B-48C6-4241-8C54-F91A4F434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9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ADC are widely</a:t>
            </a:r>
            <a:r>
              <a:rPr lang="en-US" baseline="0" dirty="0" smtClean="0"/>
              <a:t> used for data acquisition </a:t>
            </a:r>
          </a:p>
          <a:p>
            <a:r>
              <a:rPr lang="en-US" baseline="0" dirty="0" smtClean="0"/>
              <a:t>Physical quantity is converted into electrical signal using transducers or sensors </a:t>
            </a:r>
          </a:p>
          <a:p>
            <a:r>
              <a:rPr lang="en-US" baseline="0" dirty="0" smtClean="0"/>
              <a:t>Output is analog value so we have to convert it into digital in order to process it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18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General diagram of an ADC chip</a:t>
            </a:r>
            <a:r>
              <a:rPr lang="en-US" baseline="0" dirty="0" smtClean="0"/>
              <a:t> or module</a:t>
            </a:r>
            <a:endParaRPr lang="en-US" dirty="0" smtClean="0"/>
          </a:p>
          <a:p>
            <a:r>
              <a:rPr lang="en-US" dirty="0" smtClean="0"/>
              <a:t>It has</a:t>
            </a:r>
            <a:r>
              <a:rPr lang="en-US" baseline="0" dirty="0" smtClean="0"/>
              <a:t> start conversion switch </a:t>
            </a:r>
          </a:p>
          <a:p>
            <a:r>
              <a:rPr lang="en-US" baseline="0" dirty="0" smtClean="0"/>
              <a:t>Input channel </a:t>
            </a:r>
          </a:p>
          <a:p>
            <a:r>
              <a:rPr lang="en-US" baseline="0" dirty="0" err="1" smtClean="0"/>
              <a:t>Vref</a:t>
            </a:r>
            <a:endParaRPr lang="en-US" baseline="0" dirty="0" smtClean="0"/>
          </a:p>
          <a:p>
            <a:r>
              <a:rPr lang="en-US" baseline="0" dirty="0" smtClean="0"/>
              <a:t>Ground </a:t>
            </a:r>
          </a:p>
          <a:p>
            <a:r>
              <a:rPr lang="en-US" baseline="0" dirty="0" smtClean="0"/>
              <a:t>Output (parallel/ serial)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92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Step size X means, 0 to X will be given</a:t>
            </a:r>
            <a:r>
              <a:rPr lang="en-US" baseline="0" dirty="0" smtClean="0"/>
              <a:t> first binary pattern</a:t>
            </a:r>
          </a:p>
          <a:p>
            <a:r>
              <a:rPr lang="en-US" baseline="0" dirty="0" smtClean="0"/>
              <a:t>Next </a:t>
            </a:r>
            <a:r>
              <a:rPr lang="en-US" baseline="0" dirty="0" err="1" smtClean="0"/>
              <a:t>x+x</a:t>
            </a:r>
            <a:r>
              <a:rPr lang="en-US" baseline="0" dirty="0" smtClean="0"/>
              <a:t> will give second binary pattern and so on </a:t>
            </a:r>
          </a:p>
          <a:p>
            <a:r>
              <a:rPr lang="en-US" baseline="0" dirty="0" smtClean="0"/>
              <a:t>Total patterns = number of steps = 2</a:t>
            </a:r>
            <a:r>
              <a:rPr lang="en-US" baseline="30000" dirty="0" smtClean="0"/>
              <a:t>n </a:t>
            </a:r>
            <a:r>
              <a:rPr lang="en-US" baseline="0" dirty="0" smtClean="0"/>
              <a:t>where n = resolution </a:t>
            </a:r>
            <a:endParaRPr lang="en-US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5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49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Vref</a:t>
            </a:r>
            <a:r>
              <a:rPr lang="en-US" dirty="0" smtClean="0"/>
              <a:t>,</a:t>
            </a:r>
            <a:r>
              <a:rPr lang="en-US" baseline="0" dirty="0" smtClean="0"/>
              <a:t> and step size determines min to max voltage that can be converted into digital using given ADC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0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88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2 on chip ADC modules </a:t>
            </a:r>
          </a:p>
          <a:p>
            <a:r>
              <a:rPr lang="en-US" dirty="0" smtClean="0"/>
              <a:t>12 bit resolution </a:t>
            </a:r>
          </a:p>
          <a:p>
            <a:r>
              <a:rPr lang="en-US" dirty="0" smtClean="0"/>
              <a:t>12 channels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2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41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r>
              <a:rPr lang="en-US" baseline="0" dirty="0" smtClean="0"/>
              <a:t> sample sequencer </a:t>
            </a:r>
          </a:p>
          <a:p>
            <a:r>
              <a:rPr lang="en-US" baseline="0" dirty="0" smtClean="0"/>
              <a:t>Each sequencer has its own size of </a:t>
            </a:r>
            <a:r>
              <a:rPr lang="en-US" baseline="0" dirty="0" err="1" smtClean="0"/>
              <a:t>fifo</a:t>
            </a:r>
            <a:r>
              <a:rPr lang="en-US" baseline="0" dirty="0" smtClean="0"/>
              <a:t> </a:t>
            </a:r>
          </a:p>
          <a:p>
            <a:r>
              <a:rPr lang="en-US" baseline="0" dirty="0" smtClean="0"/>
              <a:t>Range 1 to 8</a:t>
            </a:r>
          </a:p>
          <a:p>
            <a:r>
              <a:rPr lang="en-US" baseline="0" dirty="0" smtClean="0"/>
              <a:t>Default is ss3 , one sample, </a:t>
            </a:r>
            <a:r>
              <a:rPr lang="en-US" baseline="0" dirty="0" err="1" smtClean="0"/>
              <a:t>fifo</a:t>
            </a:r>
            <a:r>
              <a:rPr lang="en-US" baseline="0" dirty="0" smtClean="0"/>
              <a:t> with length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79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ASENx</a:t>
            </a:r>
            <a:r>
              <a:rPr lang="en-US" dirty="0" smtClean="0"/>
              <a:t> enables/disables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SSx</a:t>
            </a:r>
            <a:endParaRPr lang="en-US" baseline="0" dirty="0" smtClean="0"/>
          </a:p>
          <a:p>
            <a:r>
              <a:rPr lang="en-US" baseline="0" dirty="0" err="1" smtClean="0"/>
              <a:t>SSx</a:t>
            </a:r>
            <a:r>
              <a:rPr lang="en-US" baseline="0" dirty="0" smtClean="0"/>
              <a:t> should be disabled before </a:t>
            </a:r>
            <a:r>
              <a:rPr lang="en-US" baseline="0" dirty="0" err="1" smtClean="0"/>
              <a:t>initiallizations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80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These are start conversion options </a:t>
            </a:r>
          </a:p>
          <a:p>
            <a:r>
              <a:rPr lang="en-US" dirty="0" smtClean="0"/>
              <a:t>Default is by</a:t>
            </a:r>
            <a:r>
              <a:rPr lang="en-US" baseline="0" dirty="0" smtClean="0"/>
              <a:t> software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19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22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08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32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3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309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76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 is a temperature</a:t>
            </a:r>
            <a:r>
              <a:rPr lang="en-US" baseline="0" dirty="0" smtClean="0"/>
              <a:t> sensor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55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05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10mV / F</a:t>
            </a:r>
          </a:p>
          <a:p>
            <a:r>
              <a:rPr lang="en-US" dirty="0" smtClean="0"/>
              <a:t>temperature = voltage / 10m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20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38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8114-23E4-4593-BF3B-532BFBD2E1B6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2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65C8-5366-440F-85B8-EFCE7441B29B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68B0-814B-40D6-B4DB-04CC4FF7D2A1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0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B75F-8F27-4911-AC37-C552ADB1044A}" type="datetime1">
              <a:rPr lang="en-US" smtClean="0"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6D5C-3F53-40F4-B006-594CFED681E5}" type="datetime1">
              <a:rPr lang="en-US" smtClean="0"/>
              <a:t>10/29/2018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AB96-F4F7-4D54-B513-CDD7343FAFF8}" type="datetime1">
              <a:rPr lang="en-US" smtClean="0"/>
              <a:t>10/29/2018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3BFA-5E5C-4D5E-8ABD-D656A00E87E8}" type="datetime1">
              <a:rPr lang="en-US" smtClean="0"/>
              <a:t>10/29/2018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4CFD-9BCE-4FD7-86C9-19BCA0CFC0F4}" type="datetime1">
              <a:rPr lang="en-US" smtClean="0"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8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145B-A388-4771-A1DA-47B0603B35BE}" type="datetime1">
              <a:rPr lang="en-US" smtClean="0"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7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7376-1B16-4472-B0F1-F964F0DA414A}" type="datetime1">
              <a:rPr lang="en-US" smtClean="0"/>
              <a:t>10/29/2018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DD39-9C18-486C-BC65-D16C8C15D60C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4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E44D-7099-4E2F-8E43-3E18C2255D06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31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1EC0-F5BD-4E51-9DAB-E318021EB119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96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F43C8-D353-4AE7-AD9B-AB6C5E624401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4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94BF-BC85-48BF-BC3B-9C7B6A1A6F9D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96FF-8624-43D2-B715-A5C5861C3834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87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1E3D-2E4F-4121-8B5B-DDDAB554B90A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AC7750-DD3B-4E48-B89E-99E4CC08EBBE}" type="datetime1">
              <a:rPr lang="en-US" smtClean="0"/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Lecture - 17</a:t>
            </a:r>
            <a:br>
              <a:rPr lang="en-US" dirty="0" smtClean="0"/>
            </a:br>
            <a:r>
              <a:rPr lang="en-US" dirty="0" smtClean="0"/>
              <a:t>Analog to digital conversion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Reference: chapter 7 (</a:t>
            </a:r>
            <a:r>
              <a:rPr lang="en-US" dirty="0" err="1" smtClean="0"/>
              <a:t>Mazidi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4991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Microcontroller Connection to Sensor via ADC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1" y="3699542"/>
            <a:ext cx="10021824" cy="90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 8-bit ADC Block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3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743" y="2438399"/>
            <a:ext cx="5381198" cy="379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7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 versus Step Size for ADC (</a:t>
            </a:r>
            <a:r>
              <a:rPr lang="en-US" dirty="0" err="1"/>
              <a:t>Vref</a:t>
            </a:r>
            <a:r>
              <a:rPr lang="en-US" dirty="0"/>
              <a:t> = 5V)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4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550210"/>
              </p:ext>
            </p:extLst>
          </p:nvPr>
        </p:nvGraphicFramePr>
        <p:xfrm>
          <a:off x="3369613" y="3251731"/>
          <a:ext cx="6233160" cy="20761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n-bit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Number of steps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Step size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4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256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5V /256 = 19.53 mV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1024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5V /1024 = 4.88 mV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4096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5V /4096 = 1.2 mV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65,536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5V /65,536 = 0.076 mV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Note: </a:t>
                      </a:r>
                      <a:r>
                        <a:rPr lang="en-US" sz="1800" dirty="0" err="1">
                          <a:effectLst/>
                        </a:rPr>
                        <a:t>V</a:t>
                      </a:r>
                      <a:r>
                        <a:rPr lang="en-US" sz="1800" baseline="-25000" dirty="0" err="1">
                          <a:effectLst/>
                        </a:rPr>
                        <a:t>ref</a:t>
                      </a:r>
                      <a:r>
                        <a:rPr lang="en-US" sz="1800" baseline="-25000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= 5V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87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Vref</a:t>
            </a:r>
            <a:r>
              <a:rPr lang="en-US" dirty="0"/>
              <a:t> Relation to Vin Range for an 8-bit ADC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5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403392"/>
              </p:ext>
            </p:extLst>
          </p:nvPr>
        </p:nvGraphicFramePr>
        <p:xfrm>
          <a:off x="2297898" y="2604374"/>
          <a:ext cx="8653957" cy="36278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3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V</a:t>
                      </a:r>
                      <a:r>
                        <a:rPr lang="en-US" sz="2300" baseline="-25000">
                          <a:effectLst/>
                        </a:rPr>
                        <a:t>ref</a:t>
                      </a:r>
                      <a:r>
                        <a:rPr lang="en-US" sz="2300">
                          <a:effectLst/>
                        </a:rPr>
                        <a:t> (V)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V</a:t>
                      </a:r>
                      <a:r>
                        <a:rPr lang="en-US" sz="2300" baseline="-25000">
                          <a:effectLst/>
                        </a:rPr>
                        <a:t>in</a:t>
                      </a:r>
                      <a:r>
                        <a:rPr lang="en-US" sz="2300">
                          <a:effectLst/>
                        </a:rPr>
                        <a:t> in Range (V)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Step Size (mV)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5.00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5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5 / 256 = 19.53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4.00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4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4 / 256 = 15.62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3.00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3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3 / 256 = 11.71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2.56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2.56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2.56 / 256 = 10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2.00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2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2 / 256 = 7.81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1.28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1.28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1.28 / 256 = 5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1.00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1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1 / 256 = 3.90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855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</a:rPr>
                        <a:t>Note: In an 8-bit ADC, step size is </a:t>
                      </a:r>
                      <a:r>
                        <a:rPr lang="en-US" sz="2300" dirty="0" err="1">
                          <a:effectLst/>
                        </a:rPr>
                        <a:t>V</a:t>
                      </a:r>
                      <a:r>
                        <a:rPr lang="en-US" sz="2300" baseline="-25000" dirty="0" err="1">
                          <a:effectLst/>
                        </a:rPr>
                        <a:t>ref</a:t>
                      </a:r>
                      <a:r>
                        <a:rPr lang="en-US" sz="2300" dirty="0">
                          <a:effectLst/>
                        </a:rPr>
                        <a:t>/256</a:t>
                      </a:r>
                      <a:endParaRPr lang="en-US" sz="23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2256" marR="142256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62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Vref</a:t>
            </a:r>
            <a:r>
              <a:rPr lang="en-US" dirty="0"/>
              <a:t> Relation to Vin Range for an 10-bit ADC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6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881757"/>
              </p:ext>
            </p:extLst>
          </p:nvPr>
        </p:nvGraphicFramePr>
        <p:xfrm>
          <a:off x="2151315" y="2438399"/>
          <a:ext cx="8638606" cy="36103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 err="1">
                          <a:effectLst/>
                        </a:rPr>
                        <a:t>Vref</a:t>
                      </a:r>
                      <a:r>
                        <a:rPr lang="en-US" sz="2300" dirty="0">
                          <a:effectLst/>
                        </a:rPr>
                        <a:t> (V)</a:t>
                      </a:r>
                      <a:endParaRPr lang="en-US" sz="23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V</a:t>
                      </a:r>
                      <a:r>
                        <a:rPr lang="en-US" sz="2300" baseline="-25000">
                          <a:effectLst/>
                        </a:rPr>
                        <a:t>in</a:t>
                      </a:r>
                      <a:r>
                        <a:rPr lang="en-US" sz="2300">
                          <a:effectLst/>
                        </a:rPr>
                        <a:t>Range (V)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Step Size (mV)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5.00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5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5 / 1024 = 4.88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4.96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4.096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4.096 / 1024 = 4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3.00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3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3 / 1024 = 2.93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2.56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2.56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2.56 / 1024 = 2.5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2.00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</a:rPr>
                        <a:t>0 to 2</a:t>
                      </a:r>
                      <a:endParaRPr lang="en-US" sz="23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2 / 1024 = 2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1.28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1.28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1.28 / 1024 = 1.25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1.024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0 to 1.024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</a:rPr>
                        <a:t>1.024 / 1024 = 1</a:t>
                      </a:r>
                      <a:endParaRPr lang="en-US" sz="23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17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</a:rPr>
                        <a:t>Note: In a 10-bit ADC, step size is </a:t>
                      </a:r>
                      <a:r>
                        <a:rPr lang="en-US" sz="2200" dirty="0" err="1">
                          <a:effectLst/>
                        </a:rPr>
                        <a:t>V</a:t>
                      </a:r>
                      <a:r>
                        <a:rPr lang="en-US" sz="2200" baseline="-25000" dirty="0" err="1">
                          <a:effectLst/>
                        </a:rPr>
                        <a:t>ref</a:t>
                      </a:r>
                      <a:r>
                        <a:rPr lang="en-US" sz="2200" dirty="0">
                          <a:effectLst/>
                        </a:rPr>
                        <a:t>/1024</a:t>
                      </a:r>
                      <a:endParaRPr lang="en-US" sz="23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44781" marR="144781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715904" y="6232256"/>
            <a:ext cx="7697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Vref</a:t>
            </a:r>
            <a:r>
              <a:rPr lang="en-US" dirty="0" smtClean="0"/>
              <a:t> can be differential : </a:t>
            </a:r>
            <a:r>
              <a:rPr lang="en-US" dirty="0" err="1" smtClean="0"/>
              <a:t>Vref</a:t>
            </a:r>
            <a:r>
              <a:rPr lang="en-US" dirty="0" smtClean="0"/>
              <a:t>=</a:t>
            </a:r>
            <a:r>
              <a:rPr lang="en-US" dirty="0" err="1" smtClean="0"/>
              <a:t>V</a:t>
            </a:r>
            <a:r>
              <a:rPr lang="en-US" baseline="-25000" dirty="0" err="1" smtClean="0"/>
              <a:t>ref</a:t>
            </a:r>
            <a:r>
              <a:rPr lang="en-US" baseline="-25000" dirty="0" smtClean="0"/>
              <a:t>+</a:t>
            </a:r>
            <a:r>
              <a:rPr lang="en-US" dirty="0" smtClean="0"/>
              <a:t> - </a:t>
            </a:r>
            <a:r>
              <a:rPr lang="en-US" dirty="0" err="1" smtClean="0"/>
              <a:t>V</a:t>
            </a:r>
            <a:r>
              <a:rPr lang="en-US" baseline="-25000" dirty="0" err="1" smtClean="0"/>
              <a:t>ref</a:t>
            </a:r>
            <a:r>
              <a:rPr lang="en-US" baseline="-25000" dirty="0" smtClean="0"/>
              <a:t>-</a:t>
            </a:r>
          </a:p>
          <a:p>
            <a:r>
              <a:rPr lang="en-US" dirty="0" err="1" smtClean="0"/>
              <a:t>V</a:t>
            </a:r>
            <a:r>
              <a:rPr lang="en-US" baseline="-25000" dirty="0" err="1" smtClean="0"/>
              <a:t>ref</a:t>
            </a:r>
            <a:r>
              <a:rPr lang="en-US" baseline="-25000" dirty="0" smtClean="0"/>
              <a:t> </a:t>
            </a:r>
            <a:r>
              <a:rPr lang="en-US" dirty="0" smtClean="0"/>
              <a:t>is connected to ground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73646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Simultaneous 2-bit ADC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7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693" y="2438399"/>
            <a:ext cx="6779947" cy="427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6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ADC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Conversion time: </a:t>
            </a:r>
            <a:r>
              <a:rPr lang="en-US" dirty="0" smtClean="0"/>
              <a:t>Time it takes the ADC to convert analog value into digital</a:t>
            </a:r>
          </a:p>
          <a:p>
            <a:pPr lvl="1"/>
            <a:r>
              <a:rPr lang="en-US" dirty="0" smtClean="0"/>
              <a:t>It is dictated by the clock source connected to the ADC </a:t>
            </a:r>
          </a:p>
          <a:p>
            <a:r>
              <a:rPr lang="en-US" dirty="0" smtClean="0"/>
              <a:t>Analog input channels </a:t>
            </a:r>
          </a:p>
          <a:p>
            <a:r>
              <a:rPr lang="en-US" dirty="0" smtClean="0"/>
              <a:t>Start conversion and end-of-conversion signals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1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data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Dout</a:t>
            </a:r>
            <a:r>
              <a:rPr lang="en-US" dirty="0" smtClean="0"/>
              <a:t>= vin/</a:t>
            </a:r>
            <a:r>
              <a:rPr lang="en-US" dirty="0" err="1" smtClean="0"/>
              <a:t>stepsize</a:t>
            </a:r>
            <a:endParaRPr lang="en-US" dirty="0" smtClean="0"/>
          </a:p>
          <a:p>
            <a:r>
              <a:rPr lang="en-US" dirty="0" err="1" smtClean="0"/>
              <a:t>Stepsize</a:t>
            </a:r>
            <a:r>
              <a:rPr lang="en-US" dirty="0" smtClean="0"/>
              <a:t>=</a:t>
            </a:r>
            <a:r>
              <a:rPr lang="en-US" dirty="0" err="1" smtClean="0"/>
              <a:t>vref</a:t>
            </a:r>
            <a:r>
              <a:rPr lang="en-US" dirty="0" smtClean="0"/>
              <a:t>/2</a:t>
            </a:r>
            <a:r>
              <a:rPr lang="en-US" baseline="30000" dirty="0" smtClean="0"/>
              <a:t>n</a:t>
            </a:r>
          </a:p>
          <a:p>
            <a:endParaRPr lang="en-US" baseline="30000" dirty="0"/>
          </a:p>
          <a:p>
            <a:r>
              <a:rPr lang="en-US" dirty="0" smtClean="0"/>
              <a:t>Example: 8 bit ADC , </a:t>
            </a:r>
            <a:r>
              <a:rPr lang="en-US" dirty="0" err="1" smtClean="0"/>
              <a:t>Vref</a:t>
            </a:r>
            <a:r>
              <a:rPr lang="en-US" dirty="0" smtClean="0"/>
              <a:t> = 2.56, vin =1.7, </a:t>
            </a:r>
            <a:r>
              <a:rPr lang="en-US" dirty="0" err="1" smtClean="0"/>
              <a:t>vout</a:t>
            </a:r>
            <a:r>
              <a:rPr lang="en-US" dirty="0" smtClean="0"/>
              <a:t> = 1.7/10mV = 170</a:t>
            </a:r>
            <a:endParaRPr lang="en-US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3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tm4c ADC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4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Block Diagram of a TI ADC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11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593" y="2438399"/>
            <a:ext cx="4382067" cy="441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4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6080" y="685800"/>
            <a:ext cx="10615920" cy="1752599"/>
          </a:xfrm>
        </p:spPr>
        <p:txBody>
          <a:bodyPr/>
          <a:lstStyle/>
          <a:p>
            <a:r>
              <a:rPr lang="en-US" dirty="0" smtClean="0"/>
              <a:t>Enabling clock </a:t>
            </a:r>
            <a:br>
              <a:rPr lang="en-US" dirty="0" smtClean="0"/>
            </a:br>
            <a:r>
              <a:rPr lang="en-US" sz="2800" dirty="0" smtClean="0"/>
              <a:t>ADC </a:t>
            </a:r>
            <a:r>
              <a:rPr lang="en-US" sz="2800" dirty="0"/>
              <a:t>Run Mode Clock Gating Control (RCGCADC)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12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325" y="3159573"/>
            <a:ext cx="8627429" cy="198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5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Sample Sequencer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Samples </a:t>
            </a:r>
            <a:r>
              <a:rPr lang="en-US" dirty="0"/>
              <a:t>and FIFO Depth of Sequencers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13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8180814"/>
              </p:ext>
            </p:extLst>
          </p:nvPr>
        </p:nvGraphicFramePr>
        <p:xfrm>
          <a:off x="2483893" y="2537923"/>
          <a:ext cx="9130352" cy="15773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4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4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1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Sequencer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Samples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Depth of FIFO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SS0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SS1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SS2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SS3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05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6080" y="685800"/>
            <a:ext cx="10615920" cy="1752599"/>
          </a:xfrm>
        </p:spPr>
        <p:txBody>
          <a:bodyPr/>
          <a:lstStyle/>
          <a:p>
            <a:r>
              <a:rPr lang="en-US" dirty="0"/>
              <a:t>ADC Active Sample Sequencer (ADCACTSS)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14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325" y="3756681"/>
            <a:ext cx="8627429" cy="7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6080" y="685800"/>
            <a:ext cx="10615920" cy="1752599"/>
          </a:xfrm>
        </p:spPr>
        <p:txBody>
          <a:bodyPr/>
          <a:lstStyle/>
          <a:p>
            <a:r>
              <a:rPr lang="en-US" b="1" dirty="0" smtClean="0"/>
              <a:t>Start conversion trigger options</a:t>
            </a:r>
            <a:br>
              <a:rPr lang="en-US" b="1" dirty="0" smtClean="0"/>
            </a:br>
            <a:r>
              <a:rPr lang="en-US" dirty="0" smtClean="0"/>
              <a:t>ADC </a:t>
            </a:r>
            <a:r>
              <a:rPr lang="en-US" dirty="0"/>
              <a:t>Event Multiplexer Select (ADCEMUX)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15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827" y="2438399"/>
            <a:ext cx="6974006" cy="40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005" y="685800"/>
            <a:ext cx="11100179" cy="175259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Begin Sampling on the chosen option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ADC </a:t>
            </a:r>
            <a:r>
              <a:rPr lang="en-US" sz="3600" dirty="0"/>
              <a:t>Processor Sample Sequence Initiate (ADCPSSI)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16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764" y="3182414"/>
            <a:ext cx="8436660" cy="194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4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876" y="276368"/>
            <a:ext cx="10895464" cy="1752599"/>
          </a:xfrm>
        </p:spPr>
        <p:txBody>
          <a:bodyPr/>
          <a:lstStyle/>
          <a:p>
            <a:r>
              <a:rPr lang="en-US" dirty="0"/>
              <a:t>Analog input pin assignment in TI </a:t>
            </a:r>
            <a:r>
              <a:rPr lang="en-US" dirty="0" err="1" smtClean="0"/>
              <a:t>Tiva</a:t>
            </a:r>
            <a:r>
              <a:rPr lang="en-US" dirty="0" smtClean="0"/>
              <a:t> </a:t>
            </a:r>
            <a:r>
              <a:rPr lang="en-US" dirty="0"/>
              <a:t>TMC123GH6PM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17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269451"/>
              </p:ext>
            </p:extLst>
          </p:nvPr>
        </p:nvGraphicFramePr>
        <p:xfrm>
          <a:off x="2402006" y="2032956"/>
          <a:ext cx="8290542" cy="4556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3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8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Pin Name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Description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Pin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Pin Number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AIN0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PE3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AIN1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PE2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AIN2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2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PE1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AIN3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3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PE0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9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AIN4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PD3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64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AIN5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PD2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63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AIN6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PD1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62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AIN7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PD0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61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AIN8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8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PE5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60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AIN9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PE4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59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AIN10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10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PB4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58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AIN11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ADC input 11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PB5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rialMT"/>
                          <a:cs typeface="ArialMT"/>
                        </a:rPr>
                        <a:t>57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9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005" y="685800"/>
            <a:ext cx="11100179" cy="175259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Selection of channel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ADC </a:t>
            </a:r>
            <a:r>
              <a:rPr lang="en-US" sz="3600" dirty="0"/>
              <a:t>Sample Sequence Input Multiplexer Select 3 (ADCSSMUX3)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18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764" y="3382042"/>
            <a:ext cx="8436660" cy="154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1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005" y="685801"/>
            <a:ext cx="11100179" cy="446964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Polling or interrupt</a:t>
            </a:r>
            <a:br>
              <a:rPr lang="en-US" sz="3600" dirty="0" smtClean="0"/>
            </a:b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19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385" y="1093949"/>
            <a:ext cx="4773263" cy="27362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42033" y="1132765"/>
            <a:ext cx="4857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End of conversion is indicated by flag bit in </a:t>
            </a:r>
            <a:r>
              <a:rPr lang="en-US" dirty="0" smtClean="0"/>
              <a:t>ADCRIS (</a:t>
            </a:r>
            <a:r>
              <a:rPr lang="en-US" dirty="0"/>
              <a:t>ADC Raw Interrupt </a:t>
            </a:r>
            <a:r>
              <a:rPr lang="en-US" dirty="0" smtClean="0"/>
              <a:t>Status register)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Upon </a:t>
            </a:r>
            <a:r>
              <a:rPr lang="en-US" dirty="0"/>
              <a:t>completion, respective pin goes </a:t>
            </a:r>
            <a:r>
              <a:rPr lang="en-US" dirty="0" smtClean="0"/>
              <a:t>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flag should be cleared before starting next conversion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can be cleared by writing to ADCISC (ADC interrupt status and clear register)</a:t>
            </a:r>
            <a:endParaRPr lang="en-US" dirty="0"/>
          </a:p>
          <a:p>
            <a:endParaRPr lang="en-US" dirty="0" smtClean="0"/>
          </a:p>
        </p:txBody>
      </p:sp>
      <p:pic>
        <p:nvPicPr>
          <p:cNvPr id="6" name="Content Placeholder 4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593" y="3441089"/>
            <a:ext cx="5643482" cy="325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3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005" y="685800"/>
            <a:ext cx="11100179" cy="175259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Output of ADC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err="1" smtClean="0"/>
              <a:t>ADC</a:t>
            </a:r>
            <a:r>
              <a:rPr lang="en-US" sz="3600" dirty="0" smtClean="0"/>
              <a:t> </a:t>
            </a:r>
            <a:r>
              <a:rPr lang="en-US" sz="3600" dirty="0"/>
              <a:t>Sample Sequence Result </a:t>
            </a:r>
            <a:r>
              <a:rPr lang="en-US" sz="3600" dirty="0" err="1" smtClean="0"/>
              <a:t>FIFOn</a:t>
            </a:r>
            <a:r>
              <a:rPr lang="en-US" sz="3600" dirty="0" smtClean="0"/>
              <a:t>(</a:t>
            </a:r>
            <a:r>
              <a:rPr lang="en-US" sz="3600" dirty="0" err="1" smtClean="0"/>
              <a:t>ADCSSFIFOn</a:t>
            </a:r>
            <a:r>
              <a:rPr lang="en-US" sz="3600" dirty="0" smtClean="0"/>
              <a:t>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20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680" y="3294862"/>
            <a:ext cx="8518827" cy="17158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9906" y="2438399"/>
            <a:ext cx="10263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Each sample sequencer has its own FIFO </a:t>
            </a:r>
          </a:p>
          <a:p>
            <a:r>
              <a:rPr lang="en-US" dirty="0" smtClean="0"/>
              <a:t>For SS3 following is used: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97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channel pairing for differential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21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104525"/>
              </p:ext>
            </p:extLst>
          </p:nvPr>
        </p:nvGraphicFramePr>
        <p:xfrm>
          <a:off x="2797791" y="2537923"/>
          <a:ext cx="7219666" cy="2453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34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5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Differential Pair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Analog Inputs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rgbClr val="CDE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 and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 and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rgbClr val="CDE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 and 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 and 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solidFill>
                      <a:srgbClr val="CDE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 and 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 and 11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87857" y="5363570"/>
            <a:ext cx="9362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may need differences of two analog signals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TIVA tm4c has option of converting the differential voltage of two analog channels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99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005" y="685800"/>
            <a:ext cx="11100179" cy="1752599"/>
          </a:xfrm>
        </p:spPr>
        <p:txBody>
          <a:bodyPr>
            <a:normAutofit/>
          </a:bodyPr>
          <a:lstStyle/>
          <a:p>
            <a:r>
              <a:rPr lang="en-US" sz="3600" dirty="0"/>
              <a:t>ADC Sample Sequence Control 3 (ADCSSCTL3)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22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486" y="1908053"/>
            <a:ext cx="6018663" cy="48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7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Overall Steps to configure ADC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channel </a:t>
            </a:r>
          </a:p>
          <a:p>
            <a:r>
              <a:rPr lang="en-US" dirty="0" smtClean="0"/>
              <a:t>Do the configurations for that GPIO (remember to select alternate function and enable Analog function ) </a:t>
            </a:r>
          </a:p>
          <a:p>
            <a:r>
              <a:rPr lang="en-US" dirty="0" smtClean="0"/>
              <a:t>Select ADC module and enable clock for it</a:t>
            </a:r>
          </a:p>
          <a:p>
            <a:r>
              <a:rPr lang="en-US" dirty="0" smtClean="0"/>
              <a:t>Select Sample sequencer</a:t>
            </a:r>
          </a:p>
          <a:p>
            <a:r>
              <a:rPr lang="en-US" dirty="0" smtClean="0"/>
              <a:t>Do the configurations for that 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83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005" y="685800"/>
            <a:ext cx="11100179" cy="175259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Example: Read value from AIN0 and display on PC 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24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848" y="2183642"/>
            <a:ext cx="3118492" cy="357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8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25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92406" y="985421"/>
            <a:ext cx="790385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 /* enable clocks */</a:t>
            </a:r>
          </a:p>
          <a:p>
            <a:r>
              <a:rPr lang="en-US" sz="1400" dirty="0"/>
              <a:t>     SYSCTL_RCGCGPIO_R |= 0x10;   /* enable clock to GPIOE */</a:t>
            </a:r>
          </a:p>
          <a:p>
            <a:r>
              <a:rPr lang="en-US" sz="1400" dirty="0"/>
              <a:t>     SYSCTL_RCGCADC_R |= 1;       /* enable clock to ADC0 */</a:t>
            </a:r>
          </a:p>
          <a:p>
            <a:endParaRPr lang="en-US" sz="1400" dirty="0"/>
          </a:p>
          <a:p>
            <a:r>
              <a:rPr lang="en-US" sz="1400" dirty="0"/>
              <a:t>     /* initialize PE3 for AIN0 input */</a:t>
            </a:r>
          </a:p>
          <a:p>
            <a:r>
              <a:rPr lang="en-US" sz="1400" dirty="0"/>
              <a:t>     GPIO_PORTE_AFSEL_R |= 8;          /* enable alternate function */</a:t>
            </a:r>
          </a:p>
          <a:p>
            <a:r>
              <a:rPr lang="fr-FR" sz="1400" dirty="0"/>
              <a:t>     GPIO_PORTE_DEN_R &amp;= ~8;           /* </a:t>
            </a:r>
            <a:r>
              <a:rPr lang="fr-FR" sz="1400" dirty="0" err="1"/>
              <a:t>disable</a:t>
            </a:r>
            <a:r>
              <a:rPr lang="fr-FR" sz="1400" dirty="0"/>
              <a:t> digital </a:t>
            </a:r>
            <a:r>
              <a:rPr lang="fr-FR" sz="1400" dirty="0" err="1"/>
              <a:t>function</a:t>
            </a:r>
            <a:r>
              <a:rPr lang="fr-FR" sz="1400" dirty="0"/>
              <a:t> */</a:t>
            </a:r>
          </a:p>
          <a:p>
            <a:r>
              <a:rPr lang="en-US" sz="1400" dirty="0"/>
              <a:t>     GPIO_PORTE_AMSEL_R |= 8;          /* enable analog function */</a:t>
            </a:r>
          </a:p>
          <a:p>
            <a:endParaRPr lang="en-US" sz="1400" dirty="0"/>
          </a:p>
          <a:p>
            <a:r>
              <a:rPr lang="en-US" sz="1400" dirty="0"/>
              <a:t>     /* initialize ADC0 */</a:t>
            </a:r>
          </a:p>
          <a:p>
            <a:r>
              <a:rPr lang="en-US" sz="1400" dirty="0"/>
              <a:t>     ADC0_ACTSS_R &amp;= ~8;        /* disable SS3 during configuration */</a:t>
            </a:r>
          </a:p>
          <a:p>
            <a:r>
              <a:rPr lang="en-US" sz="1400" dirty="0"/>
              <a:t>     ADC0_EMUX_R &amp;= </a:t>
            </a:r>
            <a:r>
              <a:rPr lang="en-US" sz="1400" dirty="0" smtClean="0"/>
              <a:t>0x0FFF;    </a:t>
            </a:r>
            <a:r>
              <a:rPr lang="en-US" sz="1400" dirty="0"/>
              <a:t>/* software trigger </a:t>
            </a:r>
            <a:r>
              <a:rPr lang="en-US" sz="1400" dirty="0" smtClean="0"/>
              <a:t>conversion </a:t>
            </a:r>
            <a:r>
              <a:rPr lang="en-US" sz="1400" dirty="0" err="1" smtClean="0"/>
              <a:t>val</a:t>
            </a:r>
            <a:r>
              <a:rPr lang="en-US" sz="1400" dirty="0" smtClean="0"/>
              <a:t> =0 </a:t>
            </a:r>
            <a:r>
              <a:rPr lang="en-US" sz="1400" dirty="0"/>
              <a:t>*/</a:t>
            </a:r>
          </a:p>
          <a:p>
            <a:r>
              <a:rPr lang="en-US" sz="1400" dirty="0"/>
              <a:t>     ADC0_SSMUX3_R = 0;         /* get input from channel 0 */</a:t>
            </a:r>
          </a:p>
          <a:p>
            <a:r>
              <a:rPr lang="en-US" sz="1400" dirty="0"/>
              <a:t>     ADC0_SSCTL3_R |= 6;        /* </a:t>
            </a:r>
            <a:r>
              <a:rPr lang="en-US" sz="1400" dirty="0" smtClean="0"/>
              <a:t>single ended, one conversion, raw interrupt*/</a:t>
            </a:r>
            <a:endParaRPr lang="en-US" sz="1400" dirty="0"/>
          </a:p>
          <a:p>
            <a:r>
              <a:rPr lang="en-US" sz="1400" dirty="0"/>
              <a:t>     ADC0_ACTSS_R |= 8;         /* enable ADC0 sequencer 3 */</a:t>
            </a:r>
          </a:p>
          <a:p>
            <a:endParaRPr lang="en-US" sz="1400" dirty="0"/>
          </a:p>
          <a:p>
            <a:r>
              <a:rPr lang="en-US" sz="1400" dirty="0"/>
              <a:t>     </a:t>
            </a:r>
            <a:r>
              <a:rPr lang="en-US" sz="1400" b="1" dirty="0"/>
              <a:t>while(1)</a:t>
            </a:r>
          </a:p>
          <a:p>
            <a:r>
              <a:rPr lang="en-US" sz="1400" dirty="0"/>
              <a:t>     {</a:t>
            </a:r>
          </a:p>
          <a:p>
            <a:r>
              <a:rPr lang="en-US" sz="1400" dirty="0"/>
              <a:t>         ADC0_PSSI_R |= 0x0008;        /* start a conversion sequence 3 */</a:t>
            </a:r>
          </a:p>
          <a:p>
            <a:r>
              <a:rPr lang="en-US" sz="1400" dirty="0"/>
              <a:t>         </a:t>
            </a:r>
            <a:r>
              <a:rPr lang="en-US" sz="1400" b="1" dirty="0"/>
              <a:t>while((ADC0_RIS_R &amp; 0x08) == 0) ;   /* wait for conversion complete */</a:t>
            </a:r>
          </a:p>
          <a:p>
            <a:r>
              <a:rPr lang="en-US" sz="1400" dirty="0" smtClean="0"/>
              <a:t>                 </a:t>
            </a:r>
            <a:r>
              <a:rPr lang="en-US" sz="1400" dirty="0" err="1" smtClean="0"/>
              <a:t>fvin</a:t>
            </a:r>
            <a:r>
              <a:rPr lang="en-US" sz="1400" dirty="0" smtClean="0"/>
              <a:t>=((ADC0_SSFIFO3_R&amp;0xFFF) * 3.3) / 4096;</a:t>
            </a:r>
          </a:p>
          <a:p>
            <a:r>
              <a:rPr lang="en-US" sz="1400" dirty="0" smtClean="0"/>
              <a:t>//read 12bit value from ADC0_SSFIFO3_R and do some processing</a:t>
            </a:r>
          </a:p>
          <a:p>
            <a:r>
              <a:rPr lang="en-US" sz="1400" dirty="0" smtClean="0"/>
              <a:t>ADC0_ISC_R </a:t>
            </a:r>
            <a:r>
              <a:rPr lang="en-US" sz="1400" dirty="0"/>
              <a:t>= 8;          /* clear completion flag  */</a:t>
            </a:r>
          </a:p>
          <a:p>
            <a:r>
              <a:rPr lang="en-US" sz="1400" dirty="0" err="1" smtClean="0"/>
              <a:t>delayMs</a:t>
            </a:r>
            <a:r>
              <a:rPr lang="en-US" sz="1400" dirty="0" smtClean="0"/>
              <a:t>(1000</a:t>
            </a:r>
            <a:r>
              <a:rPr lang="en-US" sz="1400" dirty="0"/>
              <a:t>);</a:t>
            </a:r>
          </a:p>
          <a:p>
            <a:r>
              <a:rPr lang="en-US" sz="1400" dirty="0"/>
              <a:t>     }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1924334" y="586854"/>
            <a:ext cx="7219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ADC </a:t>
            </a:r>
            <a:r>
              <a:rPr lang="en-US" b="1" u="sng" dirty="0" err="1" smtClean="0"/>
              <a:t>init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950879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Interfacing temperature sensors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4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LM34 and LM35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27</a:t>
            </a:fld>
            <a:endParaRPr lang="en-US" sz="2400" dirty="0"/>
          </a:p>
        </p:txBody>
      </p:sp>
      <p:pic>
        <p:nvPicPr>
          <p:cNvPr id="5" name="Content Placeholder 4" descr="F7-16_LM34andLM35Diagram.jpg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8511" y="2438399"/>
            <a:ext cx="8470312" cy="379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6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LM34/35 Connection to ARM and Its Pin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28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467" y="2514407"/>
            <a:ext cx="8869573" cy="341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0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1341</TotalTime>
  <Words>1117</Words>
  <Application>Microsoft Office PowerPoint</Application>
  <PresentationFormat>Widescreen</PresentationFormat>
  <Paragraphs>300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SimSun</vt:lpstr>
      <vt:lpstr>Arial</vt:lpstr>
      <vt:lpstr>ArialMT</vt:lpstr>
      <vt:lpstr>Calibri</vt:lpstr>
      <vt:lpstr>Corbel</vt:lpstr>
      <vt:lpstr>Parallax</vt:lpstr>
      <vt:lpstr>Lecture - 17 Analog to digital conversion</vt:lpstr>
      <vt:lpstr>Microcontroller Connection to Sensor via ADC</vt:lpstr>
      <vt:lpstr>An 8-bit ADC Block Diagram</vt:lpstr>
      <vt:lpstr>Resolution versus Step Size for ADC (Vref = 5V)</vt:lpstr>
      <vt:lpstr>Vref Relation to Vin Range for an 8-bit ADC</vt:lpstr>
      <vt:lpstr>Vref Relation to Vin Range for an 10-bit ADC</vt:lpstr>
      <vt:lpstr>A Simultaneous 2-bit ADC</vt:lpstr>
      <vt:lpstr>ADC parameters</vt:lpstr>
      <vt:lpstr>Digital data output</vt:lpstr>
      <vt:lpstr>Programming tm4c ADC</vt:lpstr>
      <vt:lpstr>Simplified Block Diagram of a TI ADC Module</vt:lpstr>
      <vt:lpstr>Enabling clock  ADC Run Mode Clock Gating Control (RCGCADC)</vt:lpstr>
      <vt:lpstr>The Sample Sequencer Samples and FIFO Depth of Sequencers</vt:lpstr>
      <vt:lpstr>ADC Active Sample Sequencer (ADCACTSS)</vt:lpstr>
      <vt:lpstr>Start conversion trigger options ADC Event Multiplexer Select (ADCEMUX)</vt:lpstr>
      <vt:lpstr>Begin Sampling on the chosen option ADC Processor Sample Sequence Initiate (ADCPSSI)</vt:lpstr>
      <vt:lpstr>Analog input pin assignment in TI Tiva TMC123GH6PM</vt:lpstr>
      <vt:lpstr>Selection of channel ADC Sample Sequence Input Multiplexer Select 3 (ADCSSMUX3)</vt:lpstr>
      <vt:lpstr>Polling or interrupt </vt:lpstr>
      <vt:lpstr>Output of ADC ADC Sample Sequence Result FIFOn(ADCSSFIFOn)</vt:lpstr>
      <vt:lpstr>ADC channel pairing for differential</vt:lpstr>
      <vt:lpstr>ADC Sample Sequence Control 3 (ADCSSCTL3)</vt:lpstr>
      <vt:lpstr>Overall Steps to configure ADC</vt:lpstr>
      <vt:lpstr>Example: Read value from AIN0 and display on PC </vt:lpstr>
      <vt:lpstr>PowerPoint Presentation</vt:lpstr>
      <vt:lpstr>Interfacing temperature sensors</vt:lpstr>
      <vt:lpstr>LM34 and LM35</vt:lpstr>
      <vt:lpstr>LM34/35 Connection to ARM and Its Pin Configuration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Misagh.s</dc:creator>
  <cp:lastModifiedBy>Tooba Javed</cp:lastModifiedBy>
  <cp:revision>541</cp:revision>
  <dcterms:created xsi:type="dcterms:W3CDTF">2016-04-05T15:14:57Z</dcterms:created>
  <dcterms:modified xsi:type="dcterms:W3CDTF">2018-10-29T10:23:11Z</dcterms:modified>
</cp:coreProperties>
</file>