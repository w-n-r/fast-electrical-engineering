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78" r:id="rId1"/>
  </p:sldMasterIdLst>
  <p:notesMasterIdLst>
    <p:notesMasterId r:id="rId38"/>
  </p:notesMasterIdLst>
  <p:sldIdLst>
    <p:sldId id="256" r:id="rId2"/>
    <p:sldId id="257" r:id="rId3"/>
    <p:sldId id="306" r:id="rId4"/>
    <p:sldId id="258" r:id="rId5"/>
    <p:sldId id="259" r:id="rId6"/>
    <p:sldId id="260" r:id="rId7"/>
    <p:sldId id="261" r:id="rId8"/>
    <p:sldId id="270" r:id="rId9"/>
    <p:sldId id="271" r:id="rId10"/>
    <p:sldId id="287" r:id="rId11"/>
    <p:sldId id="288" r:id="rId12"/>
    <p:sldId id="289" r:id="rId13"/>
    <p:sldId id="290" r:id="rId14"/>
    <p:sldId id="273" r:id="rId15"/>
    <p:sldId id="275" r:id="rId16"/>
    <p:sldId id="292" r:id="rId17"/>
    <p:sldId id="293" r:id="rId18"/>
    <p:sldId id="294" r:id="rId19"/>
    <p:sldId id="295" r:id="rId20"/>
    <p:sldId id="296" r:id="rId21"/>
    <p:sldId id="297" r:id="rId22"/>
    <p:sldId id="298" r:id="rId23"/>
    <p:sldId id="277" r:id="rId24"/>
    <p:sldId id="308" r:id="rId25"/>
    <p:sldId id="312" r:id="rId26"/>
    <p:sldId id="313" r:id="rId27"/>
    <p:sldId id="278" r:id="rId28"/>
    <p:sldId id="299" r:id="rId29"/>
    <p:sldId id="307" r:id="rId30"/>
    <p:sldId id="309" r:id="rId31"/>
    <p:sldId id="310" r:id="rId32"/>
    <p:sldId id="314" r:id="rId33"/>
    <p:sldId id="315" r:id="rId34"/>
    <p:sldId id="317" r:id="rId35"/>
    <p:sldId id="316" r:id="rId36"/>
    <p:sldId id="304" r:id="rId3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8F1FB"/>
    <a:srgbClr val="CDE3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16" autoAdjust="0"/>
    <p:restoredTop sz="94660"/>
  </p:normalViewPr>
  <p:slideViewPr>
    <p:cSldViewPr snapToGrid="0">
      <p:cViewPr varScale="1">
        <p:scale>
          <a:sx n="70" d="100"/>
          <a:sy n="70" d="100"/>
        </p:scale>
        <p:origin x="456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9D8EBD-BCEA-44DB-B3FA-BEF2334C0C16}" type="datetimeFigureOut">
              <a:rPr lang="en-US" smtClean="0"/>
              <a:t>10/24/2018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B7F81B-48C6-4241-8C54-F91A4F434E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87998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B7F81B-48C6-4241-8C54-F91A4F434ED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77180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B7F81B-48C6-4241-8C54-F91A4F434ED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36427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B7F81B-48C6-4241-8C54-F91A4F434ED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72927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B7F81B-48C6-4241-8C54-F91A4F434ED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598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B7F81B-48C6-4241-8C54-F91A4F434ED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6494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B7F81B-48C6-4241-8C54-F91A4F434ED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8014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B7F81B-48C6-4241-8C54-F91A4F434ED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41254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B7F81B-48C6-4241-8C54-F91A4F434EDD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134483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B7F81B-48C6-4241-8C54-F91A4F434EDD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450471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B7F81B-48C6-4241-8C54-F91A4F434EDD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64741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B7F81B-48C6-4241-8C54-F91A4F434EDD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321353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B7F81B-48C6-4241-8C54-F91A4F434EDD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504491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B7F81B-48C6-4241-8C54-F91A4F434EDD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611526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B7F81B-48C6-4241-8C54-F91A4F434EDD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701801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B7F81B-48C6-4241-8C54-F91A4F434EDD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725607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B7F81B-48C6-4241-8C54-F91A4F434EDD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71241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B7F81B-48C6-4241-8C54-F91A4F434EDD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713489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B7F81B-48C6-4241-8C54-F91A4F434EDD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76577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B7F81B-48C6-4241-8C54-F91A4F434EDD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095653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B7F81B-48C6-4241-8C54-F91A4F434EDD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32523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B7F81B-48C6-4241-8C54-F91A4F434EDD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256119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B7F81B-48C6-4241-8C54-F91A4F434EDD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182026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B7F81B-48C6-4241-8C54-F91A4F434EDD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30914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B7F81B-48C6-4241-8C54-F91A4F434EDD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200713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B7F81B-48C6-4241-8C54-F91A4F434EDD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499506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B7F81B-48C6-4241-8C54-F91A4F434EDD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593841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B7F81B-48C6-4241-8C54-F91A4F434EDD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14018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B7F81B-48C6-4241-8C54-F91A4F434EDD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29786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08114-23E4-4593-BF3B-532BFBD2E1B6}" type="datetime1">
              <a:rPr lang="en-US" smtClean="0"/>
              <a:t>10/24/2018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6C21-E150-4397-8C19-7B7D96984F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88289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F65C8-5366-440F-85B8-EFCE7441B29B}" type="datetime1">
              <a:rPr lang="en-US" smtClean="0"/>
              <a:t>10/24/2018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728B6C21-E150-4397-8C19-7B7D96984F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199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D68B0-814B-40D6-B4DB-04CC4FF7D2A1}" type="datetime1">
              <a:rPr lang="en-US" smtClean="0"/>
              <a:t>10/24/2018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6C21-E150-4397-8C19-7B7D96984F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82020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DB75F-8F27-4911-AC37-C552ADB1044A}" type="datetime1">
              <a:rPr lang="en-US" smtClean="0"/>
              <a:t>10/24/2018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6C21-E150-4397-8C19-7B7D96984F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1692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B6D5C-3F53-40F4-B006-594CFED681E5}" type="datetime1">
              <a:rPr lang="en-US" smtClean="0"/>
              <a:t>10/24/2018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6C21-E150-4397-8C19-7B7D96984F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39421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5FAB96-F4F7-4D54-B513-CDD7343FAFF8}" type="datetime1">
              <a:rPr lang="en-US" smtClean="0"/>
              <a:t>10/24/2018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6C21-E150-4397-8C19-7B7D96984F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540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03BFA-5E5C-4D5E-8ABD-D656A00E87E8}" type="datetime1">
              <a:rPr lang="en-US" smtClean="0"/>
              <a:t>10/24/2018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6C21-E150-4397-8C19-7B7D96984F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8695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94CFD-9BCE-4FD7-86C9-19BCA0CFC0F4}" type="datetime1">
              <a:rPr lang="en-US" smtClean="0"/>
              <a:t>10/24/2018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6C21-E150-4397-8C19-7B7D96984F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63896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6145B-A388-4771-A1DA-47B0603B35BE}" type="datetime1">
              <a:rPr lang="en-US" smtClean="0"/>
              <a:t>10/24/2018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6C21-E150-4397-8C19-7B7D96984F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2740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67376-1B16-4472-B0F1-F964F0DA414A}" type="datetime1">
              <a:rPr lang="en-US" smtClean="0"/>
              <a:t>10/24/2018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6C21-E150-4397-8C19-7B7D96984F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94044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FDD39-9C18-486C-BC65-D16C8C15D60C}" type="datetime1">
              <a:rPr lang="en-US" smtClean="0"/>
              <a:t>10/24/2018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6C21-E150-4397-8C19-7B7D96984F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3346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4E44D-7099-4E2F-8E43-3E18C2255D06}" type="datetime1">
              <a:rPr lang="en-US" smtClean="0"/>
              <a:t>10/24/2018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6C21-E150-4397-8C19-7B7D96984F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4313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C1EC0-F5BD-4E51-9DAB-E318021EB119}" type="datetime1">
              <a:rPr lang="en-US" smtClean="0"/>
              <a:t>10/24/2018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6C21-E150-4397-8C19-7B7D96984F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7965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F43C8-D353-4AE7-AD9B-AB6C5E624401}" type="datetime1">
              <a:rPr lang="en-US" smtClean="0"/>
              <a:t>10/24/2018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6C21-E150-4397-8C19-7B7D96984F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6748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F94BF-BC85-48BF-BC3B-9C7B6A1A6F9D}" type="datetime1">
              <a:rPr lang="en-US" smtClean="0"/>
              <a:t>10/24/2018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6C21-E150-4397-8C19-7B7D96984F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52071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396FF-8624-43D2-B715-A5C5861C3834}" type="datetime1">
              <a:rPr lang="en-US" smtClean="0"/>
              <a:t>10/24/2018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6C21-E150-4397-8C19-7B7D96984F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48719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51E3D-2E4F-4121-8B5B-DDDAB554B90A}" type="datetime1">
              <a:rPr lang="en-US" smtClean="0"/>
              <a:t>10/24/2018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6C21-E150-4397-8C19-7B7D96984F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2294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E3AC7750-DD3B-4E48-B89E-99E4CC08EBBE}" type="datetime1">
              <a:rPr lang="en-US" smtClean="0"/>
              <a:t>10/24/2018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728B6C21-E150-4397-8C19-7B7D96984F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9896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Interrupts in TM4C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Reference: chapter 6, </a:t>
            </a:r>
            <a:r>
              <a:rPr lang="en-US" dirty="0" err="1" smtClean="0"/>
              <a:t>Mazidi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6C21-E150-4397-8C19-7B7D96984F69}" type="slidenum">
              <a:rPr lang="en-US" sz="2400" smtClean="0"/>
              <a:t>1</a:t>
            </a:fld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28499117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Polling vs. Interrupts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6C21-E150-4397-8C19-7B7D96984F69}" type="slidenum">
              <a:rPr lang="en-US" sz="2400" smtClean="0"/>
              <a:t>2</a:t>
            </a:fld>
            <a:endParaRPr lang="en-US" sz="2400" dirty="0"/>
          </a:p>
        </p:txBody>
      </p:sp>
      <p:pic>
        <p:nvPicPr>
          <p:cNvPr id="5" name="Content Placeholder 4"/>
          <p:cNvPicPr>
            <a:picLocks noGrp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2885" y="2438399"/>
            <a:ext cx="6272846" cy="3793857"/>
          </a:xfrm>
          <a:prstGeom prst="rect">
            <a:avLst/>
          </a:prstGeom>
          <a:ln w="31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5986727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Main Program gets interrupted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6C21-E150-4397-8C19-7B7D96984F69}" type="slidenum">
              <a:rPr lang="en-US" sz="2400" smtClean="0"/>
              <a:t>3</a:t>
            </a:fld>
            <a:endParaRPr lang="en-US" sz="2400" dirty="0"/>
          </a:p>
        </p:txBody>
      </p:sp>
      <p:pic>
        <p:nvPicPr>
          <p:cNvPr id="5" name="Content Placeholder 4"/>
          <p:cNvPicPr>
            <a:picLocks noGrp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8692" y="1973641"/>
            <a:ext cx="6569950" cy="4258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00046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NVIC in ARM Cortex-M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6C21-E150-4397-8C19-7B7D96984F69}" type="slidenum">
              <a:rPr lang="en-US" sz="2400" smtClean="0"/>
              <a:t>4</a:t>
            </a:fld>
            <a:endParaRPr lang="en-US" sz="2400" dirty="0"/>
          </a:p>
        </p:txBody>
      </p:sp>
      <p:pic>
        <p:nvPicPr>
          <p:cNvPr id="5" name="Content Placeholder 4"/>
          <p:cNvPicPr>
            <a:picLocks noGrp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2508" y="2655657"/>
            <a:ext cx="7042317" cy="2994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08756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Interrupt Vector Table for ARM Cortex-M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6C21-E150-4397-8C19-7B7D96984F69}" type="slidenum">
              <a:rPr lang="en-US" sz="2400" smtClean="0"/>
              <a:t>5</a:t>
            </a:fld>
            <a:endParaRPr lang="en-US" sz="2400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42563497"/>
              </p:ext>
            </p:extLst>
          </p:nvPr>
        </p:nvGraphicFramePr>
        <p:xfrm>
          <a:off x="2563595" y="2107837"/>
          <a:ext cx="7731362" cy="462686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179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69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644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877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Interrupt #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52923" marR="52923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Interrupt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52923" marR="52923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Memory Location (Hex)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52923" marR="52923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877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52923" marR="52923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Stack Pointer initial value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52923" marR="52923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0x00000000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52923" marR="52923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877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1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52923" marR="52923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Reset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52923" marR="52923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0x00000004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52923" marR="52923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877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2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52923" marR="52923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NMI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52923" marR="52923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0x00000008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52923" marR="52923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877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3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52923" marR="52923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Hard Fault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52923" marR="52923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0x0000000C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52923" marR="52923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877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4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52923" marR="52923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Memory Management Fault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52923" marR="52923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0x00000010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52923" marR="52923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4877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5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52923" marR="52923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Bus Fault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52923" marR="52923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0x00000014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52923" marR="52923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4877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6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52923" marR="52923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Usage Fault (undefined instructions, divide by zero, unaligned memory access,...)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52923" marR="52923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0x00000018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52923" marR="52923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4877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7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52923" marR="52923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Reserved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52923" marR="52923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0x0000001C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52923" marR="52923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4877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8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52923" marR="52923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Reserved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52923" marR="52923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0x00000020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52923" marR="52923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4877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9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52923" marR="52923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Reserved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52923" marR="52923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0x00000024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52923" marR="52923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4877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10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52923" marR="52923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Reserved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52923" marR="52923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0x00000028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52923" marR="52923" marT="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4877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11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52923" marR="52923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SVCall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52923" marR="52923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0x0000002C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52923" marR="52923" marT="0" marB="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4877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12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52923" marR="52923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Debug Monitor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52923" marR="52923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0x00000030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52923" marR="52923" marT="0" marB="0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4877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13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52923" marR="52923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Reserved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52923" marR="52923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0x00000034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52923" marR="52923" marT="0" marB="0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4877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14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52923" marR="52923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PendSV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52923" marR="52923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0x00000038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52923" marR="52923" marT="0" marB="0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4877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15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52923" marR="52923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SysTick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52923" marR="52923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0x0000003C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52923" marR="52923" marT="0" marB="0"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4877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16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52923" marR="52923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IRQ 0 for peripherals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52923" marR="52923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0x00000040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52923" marR="52923" marT="0" marB="0"/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4877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17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52923" marR="52923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IRQ 1 for peripherals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52923" marR="52923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0x00000044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52923" marR="52923" marT="0" marB="0"/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4877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…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52923" marR="52923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…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52923" marR="52923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…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52923" marR="52923" marT="0" marB="0"/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4877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255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52923" marR="52923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IRQ 239 for peripherals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52923" marR="52923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0x000003FC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52923" marR="52923" marT="0" marB="0"/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758767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Going from Reset to Boot Program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6C21-E150-4397-8C19-7B7D96984F69}" type="slidenum">
              <a:rPr lang="en-US" sz="2400" smtClean="0"/>
              <a:t>6</a:t>
            </a:fld>
            <a:endParaRPr lang="en-US" sz="2400" dirty="0"/>
          </a:p>
        </p:txBody>
      </p:sp>
      <p:pic>
        <p:nvPicPr>
          <p:cNvPr id="5" name="Content Placeholder 4"/>
          <p:cNvPicPr>
            <a:picLocks noGrp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348099" y="2438399"/>
            <a:ext cx="6291135" cy="4258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06275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ARM Cortex-M Stack Frame upon Interrupt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6C21-E150-4397-8C19-7B7D96984F69}" type="slidenum">
              <a:rPr lang="en-US" sz="2400" smtClean="0"/>
              <a:t>7</a:t>
            </a:fld>
            <a:endParaRPr lang="en-US" sz="2400" dirty="0"/>
          </a:p>
        </p:txBody>
      </p:sp>
      <p:pic>
        <p:nvPicPr>
          <p:cNvPr id="5" name="Content Placeholder 4"/>
          <p:cNvPicPr>
            <a:picLocks noGrp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3754" y="2438399"/>
            <a:ext cx="4838165" cy="4207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64634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IRQ assignment in </a:t>
            </a:r>
            <a:r>
              <a:rPr lang="en-US" dirty="0" err="1"/>
              <a:t>Tiva</a:t>
            </a:r>
            <a:r>
              <a:rPr lang="en-US" dirty="0"/>
              <a:t> ARM TM123GH6PM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6C21-E150-4397-8C19-7B7D96984F69}" type="slidenum">
              <a:rPr lang="en-US" sz="2400" smtClean="0"/>
              <a:t>8</a:t>
            </a:fld>
            <a:endParaRPr lang="en-US" sz="2400" dirty="0"/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20550413"/>
              </p:ext>
            </p:extLst>
          </p:nvPr>
        </p:nvGraphicFramePr>
        <p:xfrm>
          <a:off x="2841231" y="2548729"/>
          <a:ext cx="7315200" cy="420624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100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INT#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25259" marR="2525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IRQ#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25259" marR="25259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Vector location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25259" marR="2525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Device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25259" marR="25259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00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1-15</a:t>
                      </a:r>
                      <a:endParaRPr lang="en-US" sz="16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none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0000 0000 to 0000 003C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CPU Exception (set by ARM)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00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16</a:t>
                      </a:r>
                      <a:endParaRPr lang="en-US" sz="16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0000 0040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GPIO PORT A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00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17</a:t>
                      </a:r>
                      <a:endParaRPr lang="en-US" sz="16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0000 0044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GPIO PORT B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00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18</a:t>
                      </a:r>
                      <a:endParaRPr lang="en-US" sz="16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0000 0048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GPIO PORT C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00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19</a:t>
                      </a:r>
                      <a:endParaRPr lang="en-US" sz="16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0000 004C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GPIO PORT D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100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20</a:t>
                      </a:r>
                      <a:endParaRPr lang="en-US" sz="16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0000 0050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GPIO PORT E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100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21</a:t>
                      </a:r>
                      <a:endParaRPr lang="en-US" sz="16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0000 0054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UART0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7100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22</a:t>
                      </a:r>
                      <a:endParaRPr lang="en-US" sz="16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0000 0058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UART1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7100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23</a:t>
                      </a:r>
                      <a:endParaRPr lang="en-US" sz="16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0000 005C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SSI0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7100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24</a:t>
                      </a:r>
                      <a:endParaRPr lang="en-US" sz="16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0000 0060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I2C0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7100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25</a:t>
                      </a:r>
                      <a:endParaRPr lang="en-US" sz="16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0000 0064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PWM0 Fault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7100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26</a:t>
                      </a:r>
                      <a:endParaRPr lang="en-US" sz="16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0000 0068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PWM0 Generator 0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7100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27</a:t>
                      </a:r>
                      <a:endParaRPr lang="en-US" sz="16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0000 006C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PWM0 Generator 1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7100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28</a:t>
                      </a:r>
                      <a:endParaRPr lang="en-US" sz="16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0000 0070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PWM0 Generator 2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621218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1758" y="685800"/>
            <a:ext cx="10760242" cy="1752599"/>
          </a:xfrm>
        </p:spPr>
        <p:txBody>
          <a:bodyPr/>
          <a:lstStyle/>
          <a:p>
            <a:r>
              <a:rPr lang="en-US" dirty="0"/>
              <a:t>IRQ assignment in </a:t>
            </a:r>
            <a:r>
              <a:rPr lang="en-US" dirty="0" err="1"/>
              <a:t>Tiva</a:t>
            </a:r>
            <a:r>
              <a:rPr lang="en-US" dirty="0"/>
              <a:t> ARM TM123GH6PM(Cont</a:t>
            </a:r>
            <a:r>
              <a:rPr lang="en-US" dirty="0" smtClean="0"/>
              <a:t>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6C21-E150-4397-8C19-7B7D96984F69}" type="slidenum">
              <a:rPr lang="en-US" sz="2400" smtClean="0"/>
              <a:t>9</a:t>
            </a:fld>
            <a:endParaRPr lang="en-US" sz="2400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68650008"/>
              </p:ext>
            </p:extLst>
          </p:nvPr>
        </p:nvGraphicFramePr>
        <p:xfrm>
          <a:off x="2879869" y="2438399"/>
          <a:ext cx="7315200" cy="420624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100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INT#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25259" marR="2525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IRQ#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25259" marR="25259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Vector location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25259" marR="2525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Device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25259" marR="25259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00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29</a:t>
                      </a:r>
                      <a:endParaRPr lang="en-US" sz="16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13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0000 0074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QEI0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00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30</a:t>
                      </a:r>
                      <a:endParaRPr lang="en-US" sz="16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14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0000 0078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ADC0 Sequence 0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00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31</a:t>
                      </a:r>
                      <a:endParaRPr lang="en-US" sz="16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15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0000 007C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ADC0 Sequence 1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00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32</a:t>
                      </a:r>
                      <a:endParaRPr lang="en-US" sz="16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16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0000 0080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ADC0 Sequence 2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00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33</a:t>
                      </a:r>
                      <a:endParaRPr lang="en-US" sz="16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17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0000 0084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ADC0 Sequence 3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100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34</a:t>
                      </a:r>
                      <a:endParaRPr lang="en-US" sz="16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18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0000 0088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Watchdog Timers 0 and 1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100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35</a:t>
                      </a:r>
                      <a:endParaRPr lang="en-US" sz="16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19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0000 008C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16/32-Bit Timer 0A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7100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36</a:t>
                      </a:r>
                      <a:endParaRPr lang="en-US" sz="16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0000 0090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16/32-Bit Timer 0B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7100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37</a:t>
                      </a:r>
                      <a:endParaRPr lang="en-US" sz="16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21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0000 0094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16/32-Bit Timer 1A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7100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38</a:t>
                      </a:r>
                      <a:endParaRPr lang="en-US" sz="16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22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0000 0098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16/32-Bit Timer 1B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7100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39</a:t>
                      </a:r>
                      <a:endParaRPr lang="en-US" sz="16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23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0000 009C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16/32-Bit Timer 2A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7100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40</a:t>
                      </a:r>
                      <a:endParaRPr lang="en-US" sz="16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24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0000 00A0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16/32-Bit Timer 2B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7100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41</a:t>
                      </a:r>
                      <a:endParaRPr lang="en-US" sz="16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25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0000 00A4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Analog Comparator 0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7100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42</a:t>
                      </a:r>
                      <a:endParaRPr lang="en-US" sz="16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26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0000 00A8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Analog Comparator 1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875924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1758" y="685800"/>
            <a:ext cx="10760242" cy="1752599"/>
          </a:xfrm>
        </p:spPr>
        <p:txBody>
          <a:bodyPr/>
          <a:lstStyle/>
          <a:p>
            <a:r>
              <a:rPr lang="en-US" dirty="0"/>
              <a:t>IRQ assignment in </a:t>
            </a:r>
            <a:r>
              <a:rPr lang="en-US" dirty="0" err="1"/>
              <a:t>Tiva</a:t>
            </a:r>
            <a:r>
              <a:rPr lang="en-US" dirty="0"/>
              <a:t> ARM TM123GH6PM(Cont</a:t>
            </a:r>
            <a:r>
              <a:rPr lang="en-US" dirty="0" smtClean="0"/>
              <a:t>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6C21-E150-4397-8C19-7B7D96984F69}" type="slidenum">
              <a:rPr lang="en-US" sz="2400" smtClean="0"/>
              <a:t>10</a:t>
            </a:fld>
            <a:endParaRPr lang="en-US" sz="2400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23578361"/>
              </p:ext>
            </p:extLst>
          </p:nvPr>
        </p:nvGraphicFramePr>
        <p:xfrm>
          <a:off x="2879869" y="2438399"/>
          <a:ext cx="7315200" cy="448665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100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INT#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25259" marR="2525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IRQ#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25259" marR="25259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Vector location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25259" marR="2525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Device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25259" marR="25259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00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43</a:t>
                      </a:r>
                      <a:endParaRPr lang="en-US" sz="16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27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Reserved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00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44</a:t>
                      </a:r>
                      <a:endParaRPr lang="en-US" sz="16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28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0000 00B0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System Control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00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45</a:t>
                      </a:r>
                      <a:endParaRPr lang="en-US" sz="16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29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0000 00B4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Flash Memory Control and EEPROM Control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00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46</a:t>
                      </a:r>
                      <a:endParaRPr lang="en-US" sz="16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30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0000 00B8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GPIO Port F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00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47-48</a:t>
                      </a:r>
                      <a:endParaRPr lang="en-US" sz="16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31-32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Reserved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100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49</a:t>
                      </a:r>
                      <a:endParaRPr lang="en-US" sz="16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33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0000 00C4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UART2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100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50</a:t>
                      </a:r>
                      <a:endParaRPr lang="en-US" sz="16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34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0000 00C8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SSI1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7100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51</a:t>
                      </a:r>
                      <a:endParaRPr lang="en-US" sz="16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35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0000 00CC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16/32-Bit Timer 3A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7100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52</a:t>
                      </a:r>
                      <a:endParaRPr lang="en-US" sz="16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36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0000 00D0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16-32-Bit Timer 3B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7100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53</a:t>
                      </a:r>
                      <a:endParaRPr lang="en-US" sz="16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37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0000 00D4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I2C1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7100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54</a:t>
                      </a:r>
                      <a:endParaRPr lang="en-US" sz="16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38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0000 00D8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QEI1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7100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55</a:t>
                      </a:r>
                      <a:endParaRPr lang="en-US" sz="16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39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0000 00DC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CAN0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7100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56</a:t>
                      </a:r>
                      <a:endParaRPr lang="en-US" sz="16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40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0000 00E0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CAN1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7100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57-58</a:t>
                      </a:r>
                      <a:endParaRPr lang="en-US" sz="16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41-42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Reserved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834875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1758" y="685800"/>
            <a:ext cx="10760242" cy="1752599"/>
          </a:xfrm>
        </p:spPr>
        <p:txBody>
          <a:bodyPr/>
          <a:lstStyle/>
          <a:p>
            <a:r>
              <a:rPr lang="en-US" dirty="0"/>
              <a:t>IRQ assignment in </a:t>
            </a:r>
            <a:r>
              <a:rPr lang="en-US" dirty="0" err="1"/>
              <a:t>Tiva</a:t>
            </a:r>
            <a:r>
              <a:rPr lang="en-US" dirty="0"/>
              <a:t> ARM TM123GH6PM(Cont</a:t>
            </a:r>
            <a:r>
              <a:rPr lang="en-US" dirty="0" smtClean="0"/>
              <a:t>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6C21-E150-4397-8C19-7B7D96984F69}" type="slidenum">
              <a:rPr lang="en-US" sz="2400" smtClean="0"/>
              <a:t>11</a:t>
            </a:fld>
            <a:endParaRPr lang="en-US" sz="2400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13388396"/>
              </p:ext>
            </p:extLst>
          </p:nvPr>
        </p:nvGraphicFramePr>
        <p:xfrm>
          <a:off x="2879869" y="2438399"/>
          <a:ext cx="7315200" cy="420624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100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INT#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25259" marR="2525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IRQ#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25259" marR="25259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Vector location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25259" marR="2525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Device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25259" marR="25259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00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59</a:t>
                      </a:r>
                      <a:endParaRPr lang="en-US" sz="16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43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0000 00EC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Hibernation Module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00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60</a:t>
                      </a:r>
                      <a:endParaRPr lang="en-US" sz="16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44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0000 00F0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USB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00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61</a:t>
                      </a:r>
                      <a:endParaRPr lang="en-US" sz="16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45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0000 00F4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PWM Generator 3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00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62</a:t>
                      </a:r>
                      <a:endParaRPr lang="en-US" sz="16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46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0000 00F8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µDMA Software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00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63</a:t>
                      </a:r>
                      <a:endParaRPr lang="en-US" sz="16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47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0000 00FC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µDMA Error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100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64</a:t>
                      </a:r>
                      <a:endParaRPr lang="en-US" sz="16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48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0000 0100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ADC1 Sequence 0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100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65</a:t>
                      </a:r>
                      <a:endParaRPr lang="en-US" sz="16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49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0000 0104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ADC1 Sequence 1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7100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66</a:t>
                      </a:r>
                      <a:endParaRPr lang="en-US" sz="16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50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0000 0108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ADC1 Sequence 2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7100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67</a:t>
                      </a:r>
                      <a:endParaRPr lang="en-US" sz="16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51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0000 010C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ADC1 Sequence 3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7100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68-72</a:t>
                      </a:r>
                      <a:endParaRPr lang="en-US" sz="16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52-56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Reserved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7100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73</a:t>
                      </a:r>
                      <a:endParaRPr lang="en-US" sz="16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57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0000 0124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SSI2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7100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74</a:t>
                      </a:r>
                      <a:endParaRPr lang="en-US" sz="16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58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0000 0128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SSI3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7100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75</a:t>
                      </a:r>
                      <a:endParaRPr lang="en-US" sz="16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59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0000 012C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UART3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7100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76</a:t>
                      </a:r>
                      <a:endParaRPr lang="en-US" sz="16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60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0000 0130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UART4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206138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1758" y="685800"/>
            <a:ext cx="10760242" cy="1752599"/>
          </a:xfrm>
        </p:spPr>
        <p:txBody>
          <a:bodyPr/>
          <a:lstStyle/>
          <a:p>
            <a:r>
              <a:rPr lang="en-US" dirty="0"/>
              <a:t>IRQ assignment in </a:t>
            </a:r>
            <a:r>
              <a:rPr lang="en-US" dirty="0" err="1"/>
              <a:t>Tiva</a:t>
            </a:r>
            <a:r>
              <a:rPr lang="en-US" dirty="0"/>
              <a:t> ARM TM123GH6PM(Cont</a:t>
            </a:r>
            <a:r>
              <a:rPr lang="en-US" dirty="0" smtClean="0"/>
              <a:t>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6C21-E150-4397-8C19-7B7D96984F69}" type="slidenum">
              <a:rPr lang="en-US" sz="2400" smtClean="0"/>
              <a:t>12</a:t>
            </a:fld>
            <a:endParaRPr lang="en-US" sz="2400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37081669"/>
              </p:ext>
            </p:extLst>
          </p:nvPr>
        </p:nvGraphicFramePr>
        <p:xfrm>
          <a:off x="2879869" y="2438399"/>
          <a:ext cx="7315200" cy="420624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100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INT#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25259" marR="2525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IRQ#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25259" marR="25259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Vector location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25259" marR="2525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Device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25259" marR="25259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00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77</a:t>
                      </a:r>
                      <a:endParaRPr lang="en-US" sz="16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i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61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i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0000 0134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UART5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00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78</a:t>
                      </a:r>
                      <a:endParaRPr lang="en-US" sz="16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62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0000 0138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UART6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00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79</a:t>
                      </a:r>
                      <a:endParaRPr lang="en-US" sz="16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63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0000 013C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UART7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00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80-83</a:t>
                      </a:r>
                      <a:endParaRPr lang="en-US" sz="16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64-67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Reserved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00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84</a:t>
                      </a:r>
                      <a:endParaRPr lang="en-US" sz="16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68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0000 0150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I2C2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100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85</a:t>
                      </a:r>
                      <a:endParaRPr lang="en-US" sz="16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69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0000 0154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I2C3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100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86</a:t>
                      </a:r>
                      <a:endParaRPr lang="en-US" sz="16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70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0000 0158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16/32-Bit Timer 4A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7100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87</a:t>
                      </a:r>
                      <a:endParaRPr lang="en-US" sz="16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71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0000 015C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16/32-Bit Timer 4B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7100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88-107</a:t>
                      </a:r>
                      <a:endParaRPr lang="en-US" sz="16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72-91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Reserved 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7100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108</a:t>
                      </a:r>
                      <a:endParaRPr lang="en-US" sz="16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92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0000 01B0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16/32-Bit Timer 5A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7100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109</a:t>
                      </a:r>
                      <a:endParaRPr lang="en-US" sz="16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93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0000 01B4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16/32-Bit Timer 5B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7100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110</a:t>
                      </a:r>
                      <a:endParaRPr lang="en-US" sz="16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94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0000 01B8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32/64-Bit Timer 0A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7100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111</a:t>
                      </a:r>
                      <a:endParaRPr lang="en-US" sz="16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95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0000 01BC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32/64-Bit Timer 0B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7100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112</a:t>
                      </a:r>
                      <a:endParaRPr lang="en-US" sz="16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96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0000 01C0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32/64-Bit Timer 1A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470315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1758" y="745958"/>
            <a:ext cx="10760242" cy="1106905"/>
          </a:xfrm>
        </p:spPr>
        <p:txBody>
          <a:bodyPr/>
          <a:lstStyle/>
          <a:p>
            <a:r>
              <a:rPr lang="en-US" dirty="0"/>
              <a:t>IRQ assignment in </a:t>
            </a:r>
            <a:r>
              <a:rPr lang="en-US" dirty="0" err="1"/>
              <a:t>Tiva</a:t>
            </a:r>
            <a:r>
              <a:rPr lang="en-US" dirty="0"/>
              <a:t> ARM TM123GH6PM(Cont</a:t>
            </a:r>
            <a:r>
              <a:rPr lang="en-US" dirty="0" smtClean="0"/>
              <a:t>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6C21-E150-4397-8C19-7B7D96984F69}" type="slidenum">
              <a:rPr lang="en-US" sz="2400" smtClean="0"/>
              <a:t>13</a:t>
            </a:fld>
            <a:endParaRPr lang="en-US" sz="2400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50127913"/>
              </p:ext>
            </p:extLst>
          </p:nvPr>
        </p:nvGraphicFramePr>
        <p:xfrm>
          <a:off x="2891901" y="2017294"/>
          <a:ext cx="7315200" cy="476707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100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INT#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25259" marR="2525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IRQ#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25259" marR="25259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Vector location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25259" marR="2525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Device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25259" marR="25259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00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113</a:t>
                      </a:r>
                      <a:endParaRPr lang="en-US" sz="16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97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0000 01C4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32/64-Bit Timer 1B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00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114</a:t>
                      </a:r>
                      <a:endParaRPr lang="en-US" sz="16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98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0000 01C8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32/64-Bit Timer 2A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00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115</a:t>
                      </a:r>
                      <a:endParaRPr lang="en-US" sz="16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99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0000 01CC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32/64-Bit Timer 2B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00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116</a:t>
                      </a:r>
                      <a:endParaRPr lang="en-US" sz="16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100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0000 01D0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32/64-Bit Timer 3A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00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117</a:t>
                      </a:r>
                      <a:endParaRPr lang="en-US" sz="16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101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0000 01D4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32/64-Bit Timer 3B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100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118</a:t>
                      </a:r>
                      <a:endParaRPr lang="en-US" sz="16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102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0000 01D8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32/64-Bit Timer 4A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100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119</a:t>
                      </a:r>
                      <a:endParaRPr lang="en-US" sz="16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103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0000 01DC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32/64-Bit Timer 4B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7100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120</a:t>
                      </a:r>
                      <a:endParaRPr lang="en-US" sz="16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104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0000 01E0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32/64-Bit Timer 5A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7100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121</a:t>
                      </a:r>
                      <a:endParaRPr lang="en-US" sz="16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105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0000 01E4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32/64-Bit Timer 5B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7100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122</a:t>
                      </a:r>
                      <a:endParaRPr lang="en-US" sz="16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106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0000 01E8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System Exception (imprecise)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7100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123-149</a:t>
                      </a:r>
                      <a:endParaRPr lang="en-US" sz="16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107-133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Reserved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7100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150</a:t>
                      </a:r>
                      <a:endParaRPr lang="en-US" sz="16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134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0000 0258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PWM Generator 0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7100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151</a:t>
                      </a:r>
                      <a:endParaRPr lang="en-US" sz="16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135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0000 025C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PWM Generator 1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7100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152</a:t>
                      </a:r>
                      <a:endParaRPr lang="en-US" sz="16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136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0000 0260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PWM Generator 2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7100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153</a:t>
                      </a:r>
                      <a:endParaRPr lang="en-US" sz="16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137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0000 0264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PWM Generator 3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7100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154</a:t>
                      </a:r>
                      <a:endParaRPr lang="en-US" sz="16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138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0000 0268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PWM1 Fault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813544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Interrupt enabling with all 3 levels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6C21-E150-4397-8C19-7B7D96984F69}" type="slidenum">
              <a:rPr lang="en-US" sz="2400" smtClean="0"/>
              <a:t>14</a:t>
            </a:fld>
            <a:endParaRPr lang="en-US" sz="2400" dirty="0"/>
          </a:p>
        </p:txBody>
      </p:sp>
      <p:pic>
        <p:nvPicPr>
          <p:cNvPr id="5" name="Content Placeholder 4"/>
          <p:cNvPicPr>
            <a:picLocks noGrp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0172" y="2438399"/>
            <a:ext cx="9093346" cy="3576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02586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Interrupts 0–31 Set </a:t>
            </a:r>
            <a:r>
              <a:rPr lang="fr-FR" dirty="0" err="1"/>
              <a:t>Enable</a:t>
            </a:r>
            <a:r>
              <a:rPr lang="fr-FR" dirty="0"/>
              <a:t> (EN0)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6C21-E150-4397-8C19-7B7D96984F69}" type="slidenum">
              <a:rPr lang="en-US" sz="2400" smtClean="0"/>
              <a:t>15</a:t>
            </a:fld>
            <a:endParaRPr lang="en-US" sz="2400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0437" y="3302694"/>
            <a:ext cx="8986459" cy="1700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95066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Interrupts 32–63 Set </a:t>
            </a:r>
            <a:r>
              <a:rPr lang="fr-FR" dirty="0" err="1"/>
              <a:t>Enable</a:t>
            </a:r>
            <a:r>
              <a:rPr lang="fr-FR" dirty="0"/>
              <a:t> (EN1)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6C21-E150-4397-8C19-7B7D96984F69}" type="slidenum">
              <a:rPr lang="en-US" sz="2400" smtClean="0"/>
              <a:t>16</a:t>
            </a:fld>
            <a:endParaRPr lang="en-US" sz="2400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0437" y="3302694"/>
            <a:ext cx="8986459" cy="1700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95630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Interrupts 64–95 Set </a:t>
            </a:r>
            <a:r>
              <a:rPr lang="fr-FR" dirty="0" err="1"/>
              <a:t>Enable</a:t>
            </a:r>
            <a:r>
              <a:rPr lang="fr-FR" dirty="0"/>
              <a:t> (EN2)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6C21-E150-4397-8C19-7B7D96984F69}" type="slidenum">
              <a:rPr lang="en-US" sz="2400" smtClean="0"/>
              <a:t>17</a:t>
            </a:fld>
            <a:endParaRPr lang="en-US" sz="2400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0439" y="3302694"/>
            <a:ext cx="8986454" cy="1700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50120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Interrupts 94–127 Set </a:t>
            </a:r>
            <a:r>
              <a:rPr lang="fr-FR" dirty="0" err="1"/>
              <a:t>Enable</a:t>
            </a:r>
            <a:r>
              <a:rPr lang="fr-FR" dirty="0"/>
              <a:t> (EN3)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6C21-E150-4397-8C19-7B7D96984F69}" type="slidenum">
              <a:rPr lang="en-US" sz="2400" smtClean="0"/>
              <a:t>18</a:t>
            </a:fld>
            <a:endParaRPr lang="en-US" sz="2400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0439" y="3302694"/>
            <a:ext cx="8986454" cy="1700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5829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Interrupts 0–31 </a:t>
            </a:r>
            <a:r>
              <a:rPr lang="fr-FR" dirty="0" err="1"/>
              <a:t>Clear</a:t>
            </a:r>
            <a:r>
              <a:rPr lang="fr-FR" dirty="0"/>
              <a:t> </a:t>
            </a:r>
            <a:r>
              <a:rPr lang="fr-FR" dirty="0" err="1"/>
              <a:t>Enable</a:t>
            </a:r>
            <a:r>
              <a:rPr lang="fr-FR" dirty="0"/>
              <a:t> (DIS0)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6C21-E150-4397-8C19-7B7D96984F69}" type="slidenum">
              <a:rPr lang="en-US" sz="2400" smtClean="0"/>
              <a:t>19</a:t>
            </a:fld>
            <a:endParaRPr lang="en-US" sz="2400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0441" y="3302694"/>
            <a:ext cx="8986449" cy="1700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89525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Interrupts 32–63 </a:t>
            </a:r>
            <a:r>
              <a:rPr lang="fr-FR" dirty="0" err="1"/>
              <a:t>Clear</a:t>
            </a:r>
            <a:r>
              <a:rPr lang="fr-FR" dirty="0"/>
              <a:t> </a:t>
            </a:r>
            <a:r>
              <a:rPr lang="fr-FR" dirty="0" err="1"/>
              <a:t>Enable</a:t>
            </a:r>
            <a:r>
              <a:rPr lang="fr-FR" dirty="0"/>
              <a:t> (DIS1)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6C21-E150-4397-8C19-7B7D96984F69}" type="slidenum">
              <a:rPr lang="en-US" sz="2400" smtClean="0"/>
              <a:t>20</a:t>
            </a:fld>
            <a:endParaRPr lang="en-US" sz="2400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0441" y="3302694"/>
            <a:ext cx="8986449" cy="1700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98749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Interrupts 64–95 </a:t>
            </a:r>
            <a:r>
              <a:rPr lang="fr-FR" dirty="0" err="1"/>
              <a:t>Clear</a:t>
            </a:r>
            <a:r>
              <a:rPr lang="fr-FR" dirty="0"/>
              <a:t> </a:t>
            </a:r>
            <a:r>
              <a:rPr lang="fr-FR" dirty="0" err="1"/>
              <a:t>Enable</a:t>
            </a:r>
            <a:r>
              <a:rPr lang="fr-FR" dirty="0"/>
              <a:t> (DIS2)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6C21-E150-4397-8C19-7B7D96984F69}" type="slidenum">
              <a:rPr lang="en-US" sz="2400" smtClean="0"/>
              <a:t>21</a:t>
            </a:fld>
            <a:endParaRPr lang="en-US" sz="2400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0441" y="3302694"/>
            <a:ext cx="8986449" cy="1700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16124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Interrupts 96–127 </a:t>
            </a:r>
            <a:r>
              <a:rPr lang="fr-FR" dirty="0" err="1"/>
              <a:t>Clear</a:t>
            </a:r>
            <a:r>
              <a:rPr lang="fr-FR" dirty="0"/>
              <a:t> </a:t>
            </a:r>
            <a:r>
              <a:rPr lang="fr-FR" dirty="0" err="1"/>
              <a:t>Enable</a:t>
            </a:r>
            <a:r>
              <a:rPr lang="fr-FR" dirty="0"/>
              <a:t> (DIS3)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6C21-E150-4397-8C19-7B7D96984F69}" type="slidenum">
              <a:rPr lang="en-US" sz="2400" smtClean="0"/>
              <a:t>22</a:t>
            </a:fld>
            <a:endParaRPr lang="en-US" sz="2400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0441" y="3302694"/>
            <a:ext cx="8986449" cy="1700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1128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Enabling and Disabling an Interrupt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6C21-E150-4397-8C19-7B7D96984F69}" type="slidenum">
              <a:rPr lang="en-US" sz="2400" smtClean="0"/>
              <a:t>23</a:t>
            </a:fld>
            <a:endParaRPr lang="en-US" sz="2400" dirty="0"/>
          </a:p>
        </p:txBody>
      </p:sp>
      <p:pic>
        <p:nvPicPr>
          <p:cNvPr id="7" name="Content Placeholder 6" descr="F6-18_EnableAndDisableInt.jpg"/>
          <p:cNvPicPr>
            <a:picLocks noGrp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362280" y="3103137"/>
            <a:ext cx="4262774" cy="2099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89998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GPIO Interrupt Mask (GPIOIM)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6C21-E150-4397-8C19-7B7D96984F69}" type="slidenum">
              <a:rPr lang="en-US" sz="2400" smtClean="0"/>
              <a:t>24</a:t>
            </a:fld>
            <a:endParaRPr lang="en-US" sz="2400" dirty="0"/>
          </a:p>
        </p:txBody>
      </p:sp>
      <p:pic>
        <p:nvPicPr>
          <p:cNvPr id="5" name="Content Placeholder 4"/>
          <p:cNvPicPr>
            <a:picLocks noGrp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0172" y="3363491"/>
            <a:ext cx="9093346" cy="1725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43677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09" y="53027"/>
            <a:ext cx="10018713" cy="1147123"/>
          </a:xfrm>
        </p:spPr>
        <p:txBody>
          <a:bodyPr/>
          <a:lstStyle/>
          <a:p>
            <a:r>
              <a:rPr lang="en-US" dirty="0"/>
              <a:t>Masked </a:t>
            </a:r>
            <a:r>
              <a:rPr lang="en-US" dirty="0"/>
              <a:t>Interrupt Status (</a:t>
            </a:r>
            <a:r>
              <a:rPr lang="en-US" dirty="0"/>
              <a:t>GPIOMIS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6C21-E150-4397-8C19-7B7D96984F69}" type="slidenum">
              <a:rPr lang="en-US" smtClean="0"/>
              <a:t>25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8925" y="1200150"/>
            <a:ext cx="8668461" cy="5370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12449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0" y="144198"/>
            <a:ext cx="10018713" cy="1752599"/>
          </a:xfrm>
        </p:spPr>
        <p:txBody>
          <a:bodyPr/>
          <a:lstStyle/>
          <a:p>
            <a:r>
              <a:rPr lang="en-US" dirty="0"/>
              <a:t>GPIO Interrupt Clear (</a:t>
            </a:r>
            <a:r>
              <a:rPr lang="en-US" dirty="0" smtClean="0"/>
              <a:t>GPIOICR)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29705" y="1304570"/>
            <a:ext cx="9558879" cy="5154788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6C21-E150-4397-8C19-7B7D96984F69}" type="slidenum">
              <a:rPr lang="en-US" smtClean="0"/>
              <a:t>26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2756848" y="6049693"/>
            <a:ext cx="7397086" cy="646331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ISR should clear respective bits in this register before exit, otherwise interrupt will be called again and again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5940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GPIO Interrupt Sense (GPIOIS)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6C21-E150-4397-8C19-7B7D96984F69}" type="slidenum">
              <a:rPr lang="en-US" sz="2400" smtClean="0"/>
              <a:t>27</a:t>
            </a:fld>
            <a:endParaRPr lang="en-US" sz="2400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3944" y="2743201"/>
            <a:ext cx="8194795" cy="1594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38134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GPIOIEV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6C21-E150-4397-8C19-7B7D96984F69}" type="slidenum">
              <a:rPr lang="en-US" sz="2400" smtClean="0"/>
              <a:t>28</a:t>
            </a:fld>
            <a:endParaRPr lang="en-US" sz="2400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3944" y="2765279"/>
            <a:ext cx="8194795" cy="1550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80358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1758" y="745958"/>
            <a:ext cx="10760242" cy="1106905"/>
          </a:xfrm>
        </p:spPr>
        <p:txBody>
          <a:bodyPr/>
          <a:lstStyle/>
          <a:p>
            <a:r>
              <a:rPr lang="en-US" dirty="0"/>
              <a:t>Using GPIOIM and GPIOIEV Registers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6C21-E150-4397-8C19-7B7D96984F69}" type="slidenum">
              <a:rPr lang="en-US" sz="2400" smtClean="0"/>
              <a:t>29</a:t>
            </a:fld>
            <a:endParaRPr lang="en-US" sz="2400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84245426"/>
              </p:ext>
            </p:extLst>
          </p:nvPr>
        </p:nvGraphicFramePr>
        <p:xfrm>
          <a:off x="3282771" y="2060572"/>
          <a:ext cx="7058215" cy="140208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1417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637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527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100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effectLst/>
                        </a:rPr>
                        <a:t>IS.n</a:t>
                      </a:r>
                      <a:r>
                        <a:rPr lang="en-US" sz="1600" dirty="0">
                          <a:effectLst/>
                        </a:rPr>
                        <a:t> (interrupt sense)</a:t>
                      </a:r>
                      <a:endParaRPr lang="en-US" sz="1600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IEV.n (Interrupt Event)</a:t>
                      </a:r>
                      <a:endParaRPr lang="en-US" sz="16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 </a:t>
                      </a:r>
                      <a:endParaRPr lang="en-US" sz="1600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00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en-US" sz="1600" b="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rgbClr val="CDE3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0</a:t>
                      </a:r>
                      <a:endParaRPr lang="en-US" sz="1600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Falling edge</a:t>
                      </a:r>
                      <a:endParaRPr lang="en-US" sz="16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00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en-US" sz="1600" b="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rgbClr val="E8F1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1</a:t>
                      </a:r>
                      <a:endParaRPr lang="en-US" sz="16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Rising edge</a:t>
                      </a:r>
                      <a:endParaRPr lang="en-US" sz="16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00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sz="1600" b="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rgbClr val="CDE3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0</a:t>
                      </a:r>
                      <a:endParaRPr lang="en-US" sz="16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Low level</a:t>
                      </a:r>
                      <a:endParaRPr lang="en-US" sz="16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00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sz="1600" b="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rgbClr val="E8F1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1</a:t>
                      </a:r>
                      <a:endParaRPr lang="en-US" sz="1600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High level</a:t>
                      </a:r>
                      <a:endParaRPr lang="en-US" sz="1600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812180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Enable interrupt at both edges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Set bits in GPIOIBE register</a:t>
            </a:r>
          </a:p>
          <a:p>
            <a:r>
              <a:rPr lang="en-US" dirty="0" smtClean="0"/>
              <a:t>GPIOIBE register bits overwrite the decision in GPIOIEV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6C21-E150-4397-8C19-7B7D96984F69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3763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Interrupt handler routine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Open startup file </a:t>
            </a:r>
          </a:p>
          <a:p>
            <a:r>
              <a:rPr lang="en-US" dirty="0" smtClean="0"/>
              <a:t>Locate handler routine and rename it with your desired name </a:t>
            </a:r>
          </a:p>
          <a:p>
            <a:r>
              <a:rPr lang="en-US" dirty="0" smtClean="0"/>
              <a:t>Using “extern” mention that this routine is written in another code file  (i.e., your main .c file)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6C21-E150-4397-8C19-7B7D96984F69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75133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8776" y="249072"/>
            <a:ext cx="10018713" cy="556146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Example -1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88776" y="1097507"/>
            <a:ext cx="10018713" cy="3124201"/>
          </a:xfrm>
        </p:spPr>
        <p:txBody>
          <a:bodyPr/>
          <a:lstStyle/>
          <a:p>
            <a:r>
              <a:rPr lang="en-US" dirty="0" smtClean="0"/>
              <a:t>Thread mode: RGB lights turn on after every second </a:t>
            </a:r>
          </a:p>
          <a:p>
            <a:r>
              <a:rPr lang="en-US" dirty="0" smtClean="0"/>
              <a:t>Handler mode: Green Led blinks three times after 500ms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6C21-E150-4397-8C19-7B7D96984F69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91217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– 2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Thread mode: RGB lights turn on after every second </a:t>
            </a:r>
          </a:p>
          <a:p>
            <a:r>
              <a:rPr lang="en-US" dirty="0"/>
              <a:t>Handler </a:t>
            </a:r>
            <a:r>
              <a:rPr lang="en-US" dirty="0" smtClean="0"/>
              <a:t>mode 1(SW1): </a:t>
            </a:r>
            <a:r>
              <a:rPr lang="en-US" dirty="0"/>
              <a:t>Green Led blinks three times after </a:t>
            </a:r>
            <a:r>
              <a:rPr lang="en-US" dirty="0" smtClean="0"/>
              <a:t>500ms</a:t>
            </a:r>
          </a:p>
          <a:p>
            <a:r>
              <a:rPr lang="en-US" dirty="0"/>
              <a:t>Handler mode </a:t>
            </a:r>
            <a:r>
              <a:rPr lang="en-US" dirty="0" smtClean="0"/>
              <a:t>2(SW2): Red </a:t>
            </a:r>
            <a:r>
              <a:rPr lang="en-US" dirty="0"/>
              <a:t>Led blinks three times after 500ms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6C21-E150-4397-8C19-7B7D96984F69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095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Interrupt Priority for ARM Cortex-M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6C21-E150-4397-8C19-7B7D96984F69}" type="slidenum">
              <a:rPr lang="en-US" sz="2400" smtClean="0"/>
              <a:t>34</a:t>
            </a:fld>
            <a:endParaRPr lang="en-US" sz="2400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/>
          </p:nvPr>
        </p:nvGraphicFramePr>
        <p:xfrm>
          <a:off x="2795414" y="2090669"/>
          <a:ext cx="7731362" cy="436816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179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69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644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877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Interrupt #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52923" marR="52923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Interrupt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52923" marR="52923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Priority Level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52923" marR="52923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877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0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52923" marR="52923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Stack Pointer initial value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52923" marR="52923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52923" marR="52923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877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1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52923" marR="52923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Reset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52923" marR="52923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-3 Highest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52923" marR="52923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877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2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52923" marR="52923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NMI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52923" marR="52923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-2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52923" marR="52923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877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3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52923" marR="52923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Hard Fault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52923" marR="52923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-1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52923" marR="52923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877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4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52923" marR="52923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Memory Management Fault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52923" marR="52923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Programmable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52923" marR="52923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4877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5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52923" marR="52923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Bus Fault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52923" marR="52923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Programmable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52923" marR="52923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4877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6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52923" marR="52923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Usage Fault (undefined instructions, divide by zero, unaligned memory access,....)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52923" marR="52923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Programmable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52923" marR="52923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4877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7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52923" marR="52923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Reserved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52923" marR="52923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Programmable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52923" marR="52923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4877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8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52923" marR="52923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Reserved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52923" marR="52923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Programmable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52923" marR="52923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4877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9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52923" marR="52923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Reserved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52923" marR="52923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Programmable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52923" marR="52923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4877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10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52923" marR="52923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Reserved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52923" marR="52923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Programmable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52923" marR="52923" marT="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4877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11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52923" marR="52923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SVCall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52923" marR="52923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Programmable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52923" marR="52923" marT="0" marB="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4877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12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52923" marR="52923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Debug Monitor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52923" marR="52923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Programmable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52923" marR="52923" marT="0" marB="0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4877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13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52923" marR="52923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Reserved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52923" marR="52923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Programmable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52923" marR="52923" marT="0" marB="0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4877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14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52923" marR="52923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PendSV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52923" marR="52923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Programmable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52923" marR="52923" marT="0" marB="0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4877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15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52923" marR="52923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SysTick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52923" marR="52923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Programmable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52923" marR="52923" marT="0" marB="0"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4877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16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52923" marR="52923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IRQ 0 for peripherals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52923" marR="52923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Programmable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52923" marR="52923" marT="0" marB="0"/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4877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17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52923" marR="52923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IRQ 1 for peripherals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52923" marR="52923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Programmable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52923" marR="52923" marT="0" marB="0"/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4877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…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52923" marR="52923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…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52923" marR="52923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Programmable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52923" marR="52923" marT="0" marB="0"/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4877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255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52923" marR="52923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IRQ 239 for peripherals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52923" marR="52923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Programmable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52923" marR="52923" marT="0" marB="0"/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838498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Interrupt Priority in TI ARM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Priorities of INT3 to INT255 are programmable</a:t>
            </a:r>
          </a:p>
          <a:p>
            <a:r>
              <a:rPr lang="en-US" dirty="0" smtClean="0"/>
              <a:t>Lower </a:t>
            </a:r>
            <a:r>
              <a:rPr lang="en-US" dirty="0" err="1" smtClean="0"/>
              <a:t>val</a:t>
            </a:r>
            <a:r>
              <a:rPr lang="en-US" dirty="0" smtClean="0"/>
              <a:t> has highest priority </a:t>
            </a:r>
          </a:p>
          <a:p>
            <a:r>
              <a:rPr lang="en-US" dirty="0" smtClean="0"/>
              <a:t>Levels are 0 to 7 </a:t>
            </a:r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6C21-E150-4397-8C19-7B7D96984F69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83389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PRIn</a:t>
            </a:r>
            <a:r>
              <a:rPr lang="en-US" dirty="0"/>
              <a:t> Registers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6C21-E150-4397-8C19-7B7D96984F69}" type="slidenum">
              <a:rPr lang="en-US" sz="2400" smtClean="0"/>
              <a:t>36</a:t>
            </a:fld>
            <a:endParaRPr lang="en-US" sz="2400" dirty="0"/>
          </a:p>
        </p:txBody>
      </p:sp>
      <p:pic>
        <p:nvPicPr>
          <p:cNvPr id="5" name="Content Placeholder 4"/>
          <p:cNvPicPr>
            <a:picLocks noGrp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1771" y="2438399"/>
            <a:ext cx="9330085" cy="30502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93075" y="6032310"/>
            <a:ext cx="83587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PRIn</a:t>
            </a:r>
            <a:r>
              <a:rPr lang="en-US" dirty="0" smtClean="0"/>
              <a:t>=IRQ(4n), IRQ(4n+1), IRQ(4n+2), IRQ(4n+3)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34894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5348</TotalTime>
  <Words>1222</Words>
  <Application>Microsoft Office PowerPoint</Application>
  <PresentationFormat>Widescreen</PresentationFormat>
  <Paragraphs>625</Paragraphs>
  <Slides>36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1" baseType="lpstr">
      <vt:lpstr>SimSun</vt:lpstr>
      <vt:lpstr>Arial</vt:lpstr>
      <vt:lpstr>Calibri</vt:lpstr>
      <vt:lpstr>Corbel</vt:lpstr>
      <vt:lpstr>Parallax</vt:lpstr>
      <vt:lpstr>Interrupts in TM4C</vt:lpstr>
      <vt:lpstr>Polling vs. Interrupts</vt:lpstr>
      <vt:lpstr>Main Program gets interrupted</vt:lpstr>
      <vt:lpstr>NVIC in ARM Cortex-M</vt:lpstr>
      <vt:lpstr>Interrupt Vector Table for ARM Cortex-M</vt:lpstr>
      <vt:lpstr>Going from Reset to Boot Program</vt:lpstr>
      <vt:lpstr>ARM Cortex-M Stack Frame upon Interrupt</vt:lpstr>
      <vt:lpstr>IRQ assignment in Tiva ARM TM123GH6PM</vt:lpstr>
      <vt:lpstr>IRQ assignment in Tiva ARM TM123GH6PM(Cont.)</vt:lpstr>
      <vt:lpstr>IRQ assignment in Tiva ARM TM123GH6PM(Cont.)</vt:lpstr>
      <vt:lpstr>IRQ assignment in Tiva ARM TM123GH6PM(Cont.)</vt:lpstr>
      <vt:lpstr>IRQ assignment in Tiva ARM TM123GH6PM(Cont.)</vt:lpstr>
      <vt:lpstr>IRQ assignment in Tiva ARM TM123GH6PM(Cont.)</vt:lpstr>
      <vt:lpstr>Interrupt enabling with all 3 levels</vt:lpstr>
      <vt:lpstr>Interrupts 0–31 Set Enable (EN0)</vt:lpstr>
      <vt:lpstr>Interrupts 32–63 Set Enable (EN1)</vt:lpstr>
      <vt:lpstr>Interrupts 64–95 Set Enable (EN2)</vt:lpstr>
      <vt:lpstr>Interrupts 94–127 Set Enable (EN3)</vt:lpstr>
      <vt:lpstr>Interrupts 0–31 Clear Enable (DIS0)</vt:lpstr>
      <vt:lpstr>Interrupts 32–63 Clear Enable (DIS1)</vt:lpstr>
      <vt:lpstr>Interrupts 64–95 Clear Enable (DIS2)</vt:lpstr>
      <vt:lpstr>Interrupts 96–127 Clear Enable (DIS3)</vt:lpstr>
      <vt:lpstr>Enabling and Disabling an Interrupt</vt:lpstr>
      <vt:lpstr>GPIO Interrupt Mask (GPIOIM)</vt:lpstr>
      <vt:lpstr>Masked Interrupt Status (GPIOMIS)</vt:lpstr>
      <vt:lpstr>GPIO Interrupt Clear (GPIOICR)</vt:lpstr>
      <vt:lpstr>GPIO Interrupt Sense (GPIOIS)</vt:lpstr>
      <vt:lpstr>GPIOIEV</vt:lpstr>
      <vt:lpstr>Using GPIOIM and GPIOIEV Registers</vt:lpstr>
      <vt:lpstr>Enable interrupt at both edges</vt:lpstr>
      <vt:lpstr>Interrupt handler routine</vt:lpstr>
      <vt:lpstr>Example -1 </vt:lpstr>
      <vt:lpstr>Example – 2 </vt:lpstr>
      <vt:lpstr>Interrupt Priority for ARM Cortex-M</vt:lpstr>
      <vt:lpstr>Interrupt Priority in TI ARM</vt:lpstr>
      <vt:lpstr>PRIn Registers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</dc:title>
  <dc:creator>Misagh.s</dc:creator>
  <cp:lastModifiedBy>Tooba Javed</cp:lastModifiedBy>
  <cp:revision>444</cp:revision>
  <dcterms:created xsi:type="dcterms:W3CDTF">2016-04-05T15:14:57Z</dcterms:created>
  <dcterms:modified xsi:type="dcterms:W3CDTF">2018-10-25T04:16:05Z</dcterms:modified>
</cp:coreProperties>
</file>