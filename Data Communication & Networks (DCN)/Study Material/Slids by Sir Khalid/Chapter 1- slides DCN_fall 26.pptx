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1" r:id="rId9"/>
    <p:sldId id="263" r:id="rId10"/>
    <p:sldId id="264" r:id="rId11"/>
    <p:sldId id="266" r:id="rId12"/>
    <p:sldId id="290" r:id="rId13"/>
    <p:sldId id="283" r:id="rId14"/>
    <p:sldId id="284" r:id="rId15"/>
    <p:sldId id="265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80" r:id="rId25"/>
    <p:sldId id="275" r:id="rId26"/>
    <p:sldId id="276" r:id="rId27"/>
    <p:sldId id="277" r:id="rId28"/>
    <p:sldId id="278" r:id="rId29"/>
    <p:sldId id="279" r:id="rId30"/>
    <p:sldId id="285" r:id="rId31"/>
    <p:sldId id="286" r:id="rId32"/>
    <p:sldId id="291" r:id="rId33"/>
    <p:sldId id="287" r:id="rId34"/>
    <p:sldId id="288" r:id="rId35"/>
    <p:sldId id="289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300" r:id="rId44"/>
    <p:sldId id="299" r:id="rId45"/>
    <p:sldId id="301" r:id="rId46"/>
    <p:sldId id="302" r:id="rId47"/>
    <p:sldId id="303" r:id="rId48"/>
    <p:sldId id="304" r:id="rId49"/>
    <p:sldId id="305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20" r:id="rId62"/>
    <p:sldId id="318" r:id="rId63"/>
    <p:sldId id="319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7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7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732" y="138"/>
      </p:cViewPr>
      <p:guideLst>
        <p:guide orient="horz" pos="2136"/>
        <p:guide pos="37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1FC59-8C52-4978-AF68-6D24C444BDE9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DCCDE-518D-4935-815F-A682352BF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843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1FC59-8C52-4978-AF68-6D24C444BDE9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DCCDE-518D-4935-815F-A682352BF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742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1FC59-8C52-4978-AF68-6D24C444BDE9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DCCDE-518D-4935-815F-A682352BF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47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1FC59-8C52-4978-AF68-6D24C444BDE9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DCCDE-518D-4935-815F-A682352BF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861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1FC59-8C52-4978-AF68-6D24C444BDE9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DCCDE-518D-4935-815F-A682352BF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7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1FC59-8C52-4978-AF68-6D24C444BDE9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DCCDE-518D-4935-815F-A682352BF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529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1FC59-8C52-4978-AF68-6D24C444BDE9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DCCDE-518D-4935-815F-A682352BF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431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1FC59-8C52-4978-AF68-6D24C444BDE9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DCCDE-518D-4935-815F-A682352BF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510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1FC59-8C52-4978-AF68-6D24C444BDE9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DCCDE-518D-4935-815F-A682352BF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981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1FC59-8C52-4978-AF68-6D24C444BDE9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DCCDE-518D-4935-815F-A682352BF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33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1FC59-8C52-4978-AF68-6D24C444BDE9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DCCDE-518D-4935-815F-A682352BF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522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11FC59-8C52-4978-AF68-6D24C444BDE9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DCCDE-518D-4935-815F-A682352BF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662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8978" y="1122363"/>
            <a:ext cx="10986868" cy="2387600"/>
          </a:xfrm>
        </p:spPr>
        <p:txBody>
          <a:bodyPr/>
          <a:lstStyle/>
          <a:p>
            <a:r>
              <a:rPr lang="en-US" dirty="0" smtClean="0"/>
              <a:t>Data Communication &amp; Networks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Chapter 1: Introduction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05743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1" y="365125"/>
            <a:ext cx="11170920" cy="1325563"/>
          </a:xfrm>
        </p:spPr>
        <p:txBody>
          <a:bodyPr/>
          <a:lstStyle/>
          <a:p>
            <a:r>
              <a:rPr lang="en-US" dirty="0" smtClean="0"/>
              <a:t>Course Basic Information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306" y="2124222"/>
            <a:ext cx="12137694" cy="3038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369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1" y="365125"/>
            <a:ext cx="11170920" cy="1325563"/>
          </a:xfrm>
        </p:spPr>
        <p:txBody>
          <a:bodyPr/>
          <a:lstStyle/>
          <a:p>
            <a:r>
              <a:rPr lang="en-US" dirty="0" smtClean="0"/>
              <a:t>Course Basic Information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57997"/>
            <a:ext cx="11709901" cy="374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6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1" y="365125"/>
            <a:ext cx="11170920" cy="1325563"/>
          </a:xfrm>
        </p:spPr>
        <p:txBody>
          <a:bodyPr/>
          <a:lstStyle/>
          <a:p>
            <a:r>
              <a:rPr lang="en-US" dirty="0" smtClean="0"/>
              <a:t>Course Basic Information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336"/>
          <a:stretch/>
        </p:blipFill>
        <p:spPr>
          <a:xfrm>
            <a:off x="173139" y="1547446"/>
            <a:ext cx="11728410" cy="368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831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1" y="365125"/>
            <a:ext cx="11170920" cy="1325563"/>
          </a:xfrm>
        </p:spPr>
        <p:txBody>
          <a:bodyPr/>
          <a:lstStyle/>
          <a:p>
            <a:r>
              <a:rPr lang="en-US" dirty="0" smtClean="0"/>
              <a:t>Course Basic Information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1716258"/>
            <a:ext cx="12201887" cy="340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780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1873132" cy="844061"/>
          </a:xfrm>
        </p:spPr>
        <p:txBody>
          <a:bodyPr/>
          <a:lstStyle/>
          <a:p>
            <a:r>
              <a:rPr lang="en-US" dirty="0" smtClean="0"/>
              <a:t>Course Basic Information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86" y="706315"/>
            <a:ext cx="10592971" cy="610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037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1873132" cy="844061"/>
          </a:xfrm>
        </p:spPr>
        <p:txBody>
          <a:bodyPr/>
          <a:lstStyle/>
          <a:p>
            <a:r>
              <a:rPr lang="en-US" dirty="0" smtClean="0"/>
              <a:t>Course Basic Information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6431" y="1306077"/>
            <a:ext cx="8609428" cy="282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617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1873132" cy="844061"/>
          </a:xfrm>
        </p:spPr>
        <p:txBody>
          <a:bodyPr/>
          <a:lstStyle/>
          <a:p>
            <a:r>
              <a:rPr lang="en-US" dirty="0" smtClean="0"/>
              <a:t>Course Basic Information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6431" y="1306077"/>
            <a:ext cx="8609428" cy="282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546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5084"/>
            <a:ext cx="11873132" cy="844061"/>
          </a:xfrm>
        </p:spPr>
        <p:txBody>
          <a:bodyPr/>
          <a:lstStyle/>
          <a:p>
            <a:r>
              <a:rPr lang="en-US" dirty="0" smtClean="0"/>
              <a:t>Course Basic Information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491175" y="1871003"/>
            <a:ext cx="9172135" cy="3046988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Why Study This Course</a:t>
            </a:r>
            <a:r>
              <a:rPr lang="en-US" sz="9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</a:t>
            </a:r>
            <a:endParaRPr lang="en-US" sz="9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24489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1016"/>
            <a:ext cx="11873132" cy="1083212"/>
          </a:xfrm>
        </p:spPr>
        <p:txBody>
          <a:bodyPr/>
          <a:lstStyle/>
          <a:p>
            <a:r>
              <a:rPr lang="en-US" dirty="0" smtClean="0"/>
              <a:t> 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015" y="1294229"/>
            <a:ext cx="11563643" cy="467047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</a:t>
            </a:r>
            <a:r>
              <a:rPr lang="en-US" b="1" dirty="0" smtClean="0"/>
              <a:t>High Global Demand &amp; Lucrative Jobs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</a:t>
            </a:r>
            <a:r>
              <a:rPr lang="en-US" b="1" dirty="0"/>
              <a:t>Network Engineer</a:t>
            </a:r>
            <a:r>
              <a:rPr lang="en-US" b="1" dirty="0" smtClean="0"/>
              <a:t> </a:t>
            </a:r>
            <a:r>
              <a:rPr lang="en-US" dirty="0" smtClean="0"/>
              <a:t>roles are among the most sought-after in the tech    </a:t>
            </a:r>
          </a:p>
          <a:p>
            <a:pPr marL="0" indent="0">
              <a:buNone/>
            </a:pPr>
            <a:r>
              <a:rPr lang="en-US" dirty="0" smtClean="0"/>
              <a:t>     industry. </a:t>
            </a:r>
          </a:p>
          <a:p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In the </a:t>
            </a:r>
            <a:r>
              <a:rPr lang="en-US" b="1" dirty="0" smtClean="0"/>
              <a:t>U.S.</a:t>
            </a:r>
            <a:r>
              <a:rPr lang="en-US" dirty="0" smtClean="0"/>
              <a:t>, network engineers earn between </a:t>
            </a:r>
            <a:r>
              <a:rPr lang="en-US" b="1" dirty="0" smtClean="0"/>
              <a:t>$77K – $100K annually</a:t>
            </a:r>
            <a:r>
              <a:rPr lang="en-US" dirty="0" smtClean="0"/>
              <a:t>,   with total compensation (including bonuses and equity) reaching </a:t>
            </a:r>
            <a:r>
              <a:rPr lang="en-US" b="1" dirty="0" smtClean="0"/>
              <a:t>$118K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 </a:t>
            </a:r>
            <a:r>
              <a:rPr lang="en-US" dirty="0" smtClean="0"/>
              <a:t>In</a:t>
            </a:r>
            <a:r>
              <a:rPr lang="en-US" b="1" dirty="0" smtClean="0"/>
              <a:t> Google</a:t>
            </a:r>
            <a:r>
              <a:rPr lang="en-US" dirty="0" smtClean="0"/>
              <a:t>, network engineers make between </a:t>
            </a:r>
            <a:r>
              <a:rPr lang="en-US" b="1" dirty="0" smtClean="0"/>
              <a:t>$108K – $195K per year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11016" y="5444197"/>
            <a:ext cx="87219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 smtClean="0"/>
              <a:t> https</a:t>
            </a:r>
            <a:r>
              <a:rPr lang="en-US" sz="2800" dirty="0"/>
              <a:t>://www.coursera.org/articles/network-engineer</a:t>
            </a:r>
          </a:p>
        </p:txBody>
      </p:sp>
    </p:spTree>
    <p:extLst>
      <p:ext uri="{BB962C8B-B14F-4D97-AF65-F5344CB8AC3E}">
        <p14:creationId xmlns:p14="http://schemas.microsoft.com/office/powerpoint/2010/main" val="221298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1016"/>
            <a:ext cx="11873132" cy="1083212"/>
          </a:xfrm>
        </p:spPr>
        <p:txBody>
          <a:bodyPr/>
          <a:lstStyle/>
          <a:p>
            <a:r>
              <a:rPr lang="en-US" dirty="0" smtClean="0"/>
              <a:t> 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015" y="1294229"/>
            <a:ext cx="11563643" cy="531758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</a:t>
            </a:r>
            <a:r>
              <a:rPr lang="en-US" b="1" dirty="0" smtClean="0"/>
              <a:t>Strong Career Path in Pakistan</a:t>
            </a:r>
          </a:p>
          <a:p>
            <a:pPr marL="0" indent="0">
              <a:buNone/>
            </a:pPr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 Top-tier Firms like IBEX: </a:t>
            </a:r>
            <a:r>
              <a:rPr lang="en-US" dirty="0" smtClean="0"/>
              <a:t>Initial pay starts from </a:t>
            </a:r>
            <a:r>
              <a:rPr lang="en-US" b="1" dirty="0" smtClean="0"/>
              <a:t>PKR. </a:t>
            </a:r>
            <a:r>
              <a:rPr lang="en-US" b="1" dirty="0" smtClean="0"/>
              <a:t>60k </a:t>
            </a:r>
            <a:r>
              <a:rPr lang="en-US" b="1" dirty="0" smtClean="0"/>
              <a:t>to 125k/month.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 Global Standards Bodies in Networking:</a:t>
            </a:r>
          </a:p>
          <a:p>
            <a:r>
              <a:rPr lang="en-US" b="1" dirty="0"/>
              <a:t> </a:t>
            </a:r>
            <a:r>
              <a:rPr lang="en-US" b="1" dirty="0" smtClean="0"/>
              <a:t> IETF</a:t>
            </a:r>
            <a:r>
              <a:rPr lang="en-US" dirty="0" smtClean="0"/>
              <a:t> (Internet Engineering Task Force): Defines protocols like HTTP, TCP/IP, 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DNS.</a:t>
            </a:r>
          </a:p>
          <a:p>
            <a:r>
              <a:rPr lang="en-US" b="1" dirty="0"/>
              <a:t> </a:t>
            </a:r>
            <a:r>
              <a:rPr lang="en-US" b="1" dirty="0" smtClean="0"/>
              <a:t>IEEE</a:t>
            </a:r>
            <a:r>
              <a:rPr lang="en-US" dirty="0" smtClean="0"/>
              <a:t>: Develops standards for Ethernet, Wi-Fi, networking hardware.</a:t>
            </a:r>
          </a:p>
          <a:p>
            <a:endParaRPr lang="en-US" b="1" dirty="0"/>
          </a:p>
          <a:p>
            <a:r>
              <a:rPr lang="en-US" b="1" dirty="0" smtClean="0"/>
              <a:t> ITU-T</a:t>
            </a:r>
            <a:r>
              <a:rPr lang="en-US" dirty="0" smtClean="0"/>
              <a:t> (International Telecommunication Union – Standards)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71616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1873132" cy="59084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Motivation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6078" y="590843"/>
            <a:ext cx="7152845" cy="49623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6079" y="5514775"/>
            <a:ext cx="84687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 smtClean="0"/>
              <a:t> https</a:t>
            </a:r>
            <a:r>
              <a:rPr lang="en-US" sz="2800" dirty="0"/>
              <a:t>://www.youtube.com/watch?v=awbjTC31LIY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6078" y="6037995"/>
            <a:ext cx="84687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 smtClean="0"/>
              <a:t> https</a:t>
            </a:r>
            <a:r>
              <a:rPr lang="en-US" sz="2800" dirty="0"/>
              <a:t>://myimpactmeter.com/about-us-mim/</a:t>
            </a:r>
          </a:p>
        </p:txBody>
      </p:sp>
    </p:spTree>
    <p:extLst>
      <p:ext uri="{BB962C8B-B14F-4D97-AF65-F5344CB8AC3E}">
        <p14:creationId xmlns:p14="http://schemas.microsoft.com/office/powerpoint/2010/main" val="4155016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5084"/>
            <a:ext cx="11873132" cy="844061"/>
          </a:xfrm>
        </p:spPr>
        <p:txBody>
          <a:bodyPr/>
          <a:lstStyle/>
          <a:p>
            <a:r>
              <a:rPr lang="en-US" dirty="0" smtClean="0"/>
              <a:t>Course Basic Information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491175" y="1871003"/>
            <a:ext cx="9172135" cy="3046988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Instructions to study DCN?</a:t>
            </a:r>
            <a:endParaRPr lang="en-US" sz="9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74322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5084"/>
            <a:ext cx="11873132" cy="844061"/>
          </a:xfrm>
        </p:spPr>
        <p:txBody>
          <a:bodyPr/>
          <a:lstStyle/>
          <a:p>
            <a:r>
              <a:rPr lang="en-US" dirty="0" smtClean="0"/>
              <a:t>Course Basic Information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51692" y="1209823"/>
            <a:ext cx="1066213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 smtClean="0"/>
              <a:t> </a:t>
            </a:r>
            <a:r>
              <a:rPr lang="en-US" sz="2800" b="1" dirty="0" smtClean="0"/>
              <a:t>Attend all the classes.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8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 smtClean="0"/>
              <a:t> Come in-time.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8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 smtClean="0"/>
              <a:t> Be attentive in Class.</a:t>
            </a:r>
          </a:p>
          <a:p>
            <a:endParaRPr lang="en-US" sz="28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 smtClean="0"/>
              <a:t> Prohibit chatting and any other distractions.</a:t>
            </a:r>
          </a:p>
          <a:p>
            <a:r>
              <a:rPr lang="en-US" sz="2800" b="1" dirty="0" smtClean="0"/>
              <a:t>  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8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349627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253219"/>
            <a:ext cx="11873132" cy="844061"/>
          </a:xfrm>
        </p:spPr>
        <p:txBody>
          <a:bodyPr/>
          <a:lstStyle/>
          <a:p>
            <a:r>
              <a:rPr lang="en-US" dirty="0" smtClean="0"/>
              <a:t>Chapter 1: Introduction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491175" y="1871003"/>
            <a:ext cx="9172135" cy="3046988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Chapter 1 : Introduction</a:t>
            </a:r>
            <a:endParaRPr lang="en-US" sz="9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65234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1016"/>
            <a:ext cx="11873132" cy="1083212"/>
          </a:xfrm>
        </p:spPr>
        <p:txBody>
          <a:bodyPr/>
          <a:lstStyle/>
          <a:p>
            <a:r>
              <a:rPr lang="en-US" dirty="0" smtClean="0"/>
              <a:t> Introduction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1" y="1108289"/>
            <a:ext cx="8595360" cy="571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708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112542"/>
            <a:ext cx="11873132" cy="829993"/>
          </a:xfrm>
        </p:spPr>
        <p:txBody>
          <a:bodyPr/>
          <a:lstStyle/>
          <a:p>
            <a:r>
              <a:rPr lang="en-US" dirty="0" smtClean="0"/>
              <a:t> Introduction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311" y="942536"/>
            <a:ext cx="8004516" cy="578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497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112542"/>
            <a:ext cx="11873132" cy="829993"/>
          </a:xfrm>
        </p:spPr>
        <p:txBody>
          <a:bodyPr/>
          <a:lstStyle/>
          <a:p>
            <a:r>
              <a:rPr lang="en-US" dirty="0" smtClean="0"/>
              <a:t> Introduction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29418" y="1463040"/>
            <a:ext cx="11626948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/>
              <a:t>What is Computer Networks?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/>
          </a:p>
          <a:p>
            <a:pPr algn="just"/>
            <a:r>
              <a:rPr lang="en-US" sz="2800" dirty="0" smtClean="0"/>
              <a:t>A </a:t>
            </a:r>
            <a:r>
              <a:rPr lang="en-US" sz="2800" b="1" dirty="0" smtClean="0"/>
              <a:t>computer network</a:t>
            </a:r>
            <a:r>
              <a:rPr lang="en-US" sz="2800" dirty="0" smtClean="0"/>
              <a:t> is a system in which two or more computers (or devices) are connected together to share resources, exchange data, and communicate with each other. These connections can be established through </a:t>
            </a:r>
            <a:r>
              <a:rPr lang="en-US" sz="2800" b="1" dirty="0" smtClean="0"/>
              <a:t>wired</a:t>
            </a:r>
            <a:r>
              <a:rPr lang="en-US" sz="2800" dirty="0" smtClean="0"/>
              <a:t> (like Ethernet cables) or </a:t>
            </a:r>
            <a:r>
              <a:rPr lang="en-US" sz="2800" b="1" dirty="0" smtClean="0"/>
              <a:t>wireless</a:t>
            </a:r>
            <a:r>
              <a:rPr lang="en-US" sz="2800" dirty="0" smtClean="0"/>
              <a:t> (like Wi-Fi, Bluetooth) methods.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632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112542"/>
            <a:ext cx="11873132" cy="829993"/>
          </a:xfrm>
        </p:spPr>
        <p:txBody>
          <a:bodyPr/>
          <a:lstStyle/>
          <a:p>
            <a:r>
              <a:rPr lang="en-US" dirty="0" smtClean="0"/>
              <a:t> Introduction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498" y="942535"/>
            <a:ext cx="9398787" cy="574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48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112542"/>
            <a:ext cx="11873132" cy="829993"/>
          </a:xfrm>
        </p:spPr>
        <p:txBody>
          <a:bodyPr/>
          <a:lstStyle/>
          <a:p>
            <a:r>
              <a:rPr lang="en-US" dirty="0" smtClean="0"/>
              <a:t> Introduction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702" y="942534"/>
            <a:ext cx="8950914" cy="562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351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0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11" y="1381349"/>
            <a:ext cx="7906044" cy="52979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3894" y="717452"/>
            <a:ext cx="4262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Client-Server Model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09305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0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243" y="689317"/>
            <a:ext cx="7888427" cy="602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730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0"/>
            <a:ext cx="11873132" cy="49236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50" y="590843"/>
            <a:ext cx="10821885" cy="36857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34" y="4276579"/>
            <a:ext cx="1210876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 smtClean="0"/>
              <a:t>Peer-to-Peer (P2P) Communication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smtClean="0"/>
              <a:t>Peer-to-peer communication is a </a:t>
            </a:r>
            <a:r>
              <a:rPr lang="en-US" sz="2800" b="1" dirty="0" smtClean="0"/>
              <a:t>network model</a:t>
            </a:r>
            <a:r>
              <a:rPr lang="en-US" sz="2800" dirty="0" smtClean="0"/>
              <a:t> where two or more computers (called </a:t>
            </a:r>
            <a:r>
              <a:rPr lang="en-US" sz="2800" b="1" dirty="0" smtClean="0"/>
              <a:t>peers</a:t>
            </a:r>
            <a:r>
              <a:rPr lang="en-US" sz="2800" dirty="0" smtClean="0"/>
              <a:t>) communicate </a:t>
            </a:r>
            <a:r>
              <a:rPr lang="en-US" sz="2800" b="1" dirty="0" smtClean="0"/>
              <a:t>directly with each other</a:t>
            </a:r>
            <a:r>
              <a:rPr lang="en-US" sz="2800" dirty="0" smtClean="0"/>
              <a:t> without needing a central server.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smtClean="0"/>
              <a:t>Each peer in this system is both a </a:t>
            </a:r>
            <a:r>
              <a:rPr lang="en-US" sz="2800" b="1" dirty="0" smtClean="0"/>
              <a:t>client</a:t>
            </a:r>
            <a:r>
              <a:rPr lang="en-US" sz="2800" dirty="0" smtClean="0"/>
              <a:t> (requesting resources) and a </a:t>
            </a:r>
            <a:r>
              <a:rPr lang="en-US" sz="2800" b="1" dirty="0" smtClean="0"/>
              <a:t>server</a:t>
            </a:r>
            <a:r>
              <a:rPr lang="en-US" sz="2800" dirty="0" smtClean="0"/>
              <a:t> (providing resources).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489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0"/>
            <a:ext cx="11873132" cy="759655"/>
          </a:xfrm>
        </p:spPr>
        <p:txBody>
          <a:bodyPr>
            <a:normAutofit/>
          </a:bodyPr>
          <a:lstStyle/>
          <a:p>
            <a:r>
              <a:rPr lang="en-US" dirty="0" smtClean="0"/>
              <a:t> Introduction: Home Network Applications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35" y="1294227"/>
            <a:ext cx="11756570" cy="4220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790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0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51" y="872197"/>
            <a:ext cx="10545288" cy="534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262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0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31" y="1108780"/>
            <a:ext cx="4965895" cy="498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84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0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66" y="576775"/>
            <a:ext cx="7849772" cy="601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871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0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9674"/>
            <a:ext cx="8595360" cy="583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111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0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4" y="576775"/>
            <a:ext cx="9316615" cy="5985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218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0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9489" y="928467"/>
            <a:ext cx="11646877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 smtClean="0"/>
              <a:t>Point-to-Point Communication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Point-to-Point (P2P) is a type of </a:t>
            </a:r>
            <a:r>
              <a:rPr lang="en-US" sz="2800" b="1" dirty="0" smtClean="0"/>
              <a:t>network connection</a:t>
            </a:r>
            <a:r>
              <a:rPr lang="en-US" sz="2800" dirty="0" smtClean="0"/>
              <a:t> where data travels directly between </a:t>
            </a:r>
            <a:r>
              <a:rPr lang="en-US" sz="2800" b="1" dirty="0" smtClean="0"/>
              <a:t>two specific devices</a:t>
            </a:r>
            <a:r>
              <a:rPr lang="en-US" sz="2800" dirty="0" smtClean="0"/>
              <a:t> (or nodes) over a dedicated link.</a:t>
            </a:r>
          </a:p>
          <a:p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It is like having a </a:t>
            </a:r>
            <a:r>
              <a:rPr lang="en-US" sz="2800" b="1" dirty="0" smtClean="0"/>
              <a:t>private line</a:t>
            </a:r>
            <a:r>
              <a:rPr lang="en-US" sz="2800" dirty="0" smtClean="0"/>
              <a:t> between two devices, with no intermediaries.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09489" y="3587262"/>
            <a:ext cx="1066331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 smtClean="0"/>
              <a:t>Examples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/>
              <a:t>Telephone call</a:t>
            </a:r>
            <a:r>
              <a:rPr lang="en-US" sz="2800" dirty="0" smtClean="0"/>
              <a:t> between two people (traditional landline).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/>
              <a:t>Serial cable connection</a:t>
            </a:r>
            <a:r>
              <a:rPr lang="en-US" sz="2800" dirty="0" smtClean="0"/>
              <a:t> between a computer and a printer.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/>
              <a:t>Direct Wi-Fi link</a:t>
            </a:r>
            <a:r>
              <a:rPr lang="en-US" sz="2800" dirty="0" smtClean="0"/>
              <a:t> (ad-hoc mode) between two laptops.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39124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0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68" y="815255"/>
            <a:ext cx="8835632" cy="593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532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281354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25" y="885825"/>
            <a:ext cx="4476750" cy="50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643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0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52" y="777577"/>
            <a:ext cx="8567223" cy="583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266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281354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96948" y="2475914"/>
            <a:ext cx="11519681" cy="17543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600" dirty="0" smtClean="0"/>
              <a:t>https://www.geeksforgeeks.org/computer-networks/difference-between-ring-topology-and-bus-topology-in-computer-networks/</a:t>
            </a:r>
            <a:endParaRPr lang="en-U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322969" y="1139483"/>
            <a:ext cx="11393659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 smtClean="0"/>
              <a:t> Must read Bus and Ring topology from the following link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569669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281354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83" y="858129"/>
            <a:ext cx="7765366" cy="5524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004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281354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037" y="1114425"/>
            <a:ext cx="7019925" cy="4629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7395" y="5898292"/>
            <a:ext cx="5568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Application: Modern day Cable TV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154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281354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70920" y="6087763"/>
            <a:ext cx="5568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End devices/Machines are called Hosts.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362" y="671512"/>
            <a:ext cx="6896487" cy="531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795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281354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30661" y="1285104"/>
            <a:ext cx="758704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End devices/Machines are called Hosts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Communication Subnet: The rest of the network that connects these </a:t>
            </a:r>
            <a:r>
              <a:rPr lang="en-US" dirty="0" smtClean="0"/>
              <a:t>hosts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Subnet consists of Switches/Routers and transmission lines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633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281354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70920" y="6087763"/>
            <a:ext cx="5568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Virtual Private Networks.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890587"/>
            <a:ext cx="7162800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507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281354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70920" y="6087763"/>
            <a:ext cx="5568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Virtual Private Networks.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890587"/>
            <a:ext cx="7162800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957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281354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70702" y="6268996"/>
            <a:ext cx="6400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Interconnected Networks: ISP(Internet Services Provider)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887" y="676275"/>
            <a:ext cx="7134225" cy="550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260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281354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62464" y="6013622"/>
            <a:ext cx="64007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Interconnected Networks: ISP(Internet Services Provider)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Internetworks are the combination of Interconnected networks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887" y="676275"/>
            <a:ext cx="6916389" cy="5337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716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281354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29513" y="6207313"/>
            <a:ext cx="6400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Protocols: Agreement between two communicating parties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262" y="728662"/>
            <a:ext cx="4943475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56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281354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6724" y="1033700"/>
            <a:ext cx="6202963" cy="4409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801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281354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705" y="1362332"/>
            <a:ext cx="664845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074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281354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2756" y="858129"/>
            <a:ext cx="5163451" cy="5697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995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281354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4712" y="1409700"/>
            <a:ext cx="5362575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432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281354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Introduction: Physical Layer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54227" y="1153297"/>
            <a:ext cx="91522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Physical Layer: Responsible for transmitting data over the communication medium/channel.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Data transfer in form of bytes (0 or 1)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Data transfer from one network to other network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857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281354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Introduction: Data Link Layer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54227" y="1153297"/>
            <a:ext cx="108821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Data Link Layer: Break down the data into data frames (a division of few hundred or thousand bytes)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Detect and remove errors in Bytes (Transmission error)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Medium access control layer.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497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281354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Introduction: Network Layer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54227" y="1153297"/>
            <a:ext cx="108821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Network Layer: D</a:t>
            </a:r>
            <a:r>
              <a:rPr lang="en-GB" dirty="0" smtClean="0"/>
              <a:t>elivery of individual </a:t>
            </a:r>
            <a:r>
              <a:rPr lang="en-GB" dirty="0"/>
              <a:t>packets from the </a:t>
            </a:r>
            <a:r>
              <a:rPr lang="en-GB" dirty="0" smtClean="0"/>
              <a:t>source host </a:t>
            </a:r>
            <a:r>
              <a:rPr lang="en-GB" dirty="0"/>
              <a:t>to the destination </a:t>
            </a:r>
            <a:r>
              <a:rPr lang="en-GB" dirty="0" smtClean="0"/>
              <a:t>host of other network.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Same network transmission skip Network Layer</a:t>
            </a:r>
          </a:p>
          <a:p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Add Logical Addressing schemes.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43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281354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Introduction: Transport Layer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54227" y="1153297"/>
            <a:ext cx="108821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Transport Layer: D</a:t>
            </a:r>
            <a:r>
              <a:rPr lang="en-GB" dirty="0" smtClean="0"/>
              <a:t>elivery of a complete message from </a:t>
            </a:r>
            <a:r>
              <a:rPr lang="en-GB" dirty="0"/>
              <a:t>one process </a:t>
            </a:r>
            <a:r>
              <a:rPr lang="en-GB" dirty="0" smtClean="0"/>
              <a:t>to another process.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Message from Session layer to Network Layer and Network Layer to Session layer</a:t>
            </a:r>
          </a:p>
          <a:p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Error control and Flow control.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307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281354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Introduction: Session Layer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54227" y="1153297"/>
            <a:ext cx="108821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Transport Layer: E</a:t>
            </a:r>
            <a:r>
              <a:rPr lang="en-GB" dirty="0" smtClean="0"/>
              <a:t>stablishes</a:t>
            </a:r>
            <a:r>
              <a:rPr lang="en-GB" dirty="0"/>
              <a:t>, maintains, and synchronizes the </a:t>
            </a:r>
            <a:r>
              <a:rPr lang="en-GB" dirty="0" smtClean="0"/>
              <a:t>interaction (connection) </a:t>
            </a:r>
            <a:r>
              <a:rPr lang="en-GB" dirty="0"/>
              <a:t>among communicating </a:t>
            </a:r>
            <a:r>
              <a:rPr lang="en-GB" dirty="0" smtClean="0"/>
              <a:t>systems.</a:t>
            </a:r>
          </a:p>
          <a:p>
            <a:endParaRPr lang="en-GB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Dialog Control: Half-duplex mode or Full-duplex mode.</a:t>
            </a:r>
          </a:p>
          <a:p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Synchronization: Add checkpoints to check received and acknowledged messages.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046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281354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Introduction: Presentation Layer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54227" y="1153297"/>
            <a:ext cx="108821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Presentation Layer: </a:t>
            </a:r>
            <a:r>
              <a:rPr lang="en-GB" dirty="0"/>
              <a:t>syntax and semantics </a:t>
            </a:r>
            <a:r>
              <a:rPr lang="en-GB" dirty="0" smtClean="0"/>
              <a:t>of the </a:t>
            </a:r>
            <a:r>
              <a:rPr lang="en-GB" dirty="0"/>
              <a:t>information exchanged between two </a:t>
            </a:r>
            <a:r>
              <a:rPr lang="en-GB" dirty="0" smtClean="0"/>
              <a:t>networks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Translation: Machine language (Bits).</a:t>
            </a:r>
          </a:p>
          <a:p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Compression: Reduces number of bits for transmission.</a:t>
            </a:r>
          </a:p>
          <a:p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Encryption/ Decryption: Messages into secure form.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633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51171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Case Study as an Example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80353" y="1937069"/>
            <a:ext cx="1088218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 smtClean="0"/>
              <a:t>Focus on White Board and Lecture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278049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281354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Introduction: TCP/IP Reference Model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18" y="1590326"/>
            <a:ext cx="8375253" cy="417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421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281354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Introduction: TCP/IP Reference Model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931" y="995387"/>
            <a:ext cx="7910896" cy="566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969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281354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Introduction: TCP/IP Reference Model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42" y="1292215"/>
            <a:ext cx="9651466" cy="493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129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281354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Introduction: Types of Computer Networks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529" y="1111319"/>
            <a:ext cx="8644409" cy="506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110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281354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Introduction: Types of Computer Networks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372" y="858129"/>
            <a:ext cx="6910084" cy="586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47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281354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Introduction: TCP/IP Reference Model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303" y="1345475"/>
            <a:ext cx="8125097" cy="48591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75657" y="6204601"/>
            <a:ext cx="5342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9209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281354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Introduction: TCP/IP Reference Model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75657" y="6204601"/>
            <a:ext cx="5342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71" y="1201783"/>
            <a:ext cx="11497028" cy="4506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269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281354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Introduction: Types of Computer Networks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591" y="1068542"/>
            <a:ext cx="8958059" cy="542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465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4" y="281354"/>
            <a:ext cx="11873132" cy="576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Introduction: Types of Computer Networks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314" y="1180632"/>
            <a:ext cx="6002111" cy="490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73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889</Words>
  <Application>Microsoft Office PowerPoint</Application>
  <PresentationFormat>Widescreen</PresentationFormat>
  <Paragraphs>159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8" baseType="lpstr">
      <vt:lpstr>Arial</vt:lpstr>
      <vt:lpstr>Calibri</vt:lpstr>
      <vt:lpstr>Calibri Light</vt:lpstr>
      <vt:lpstr>Wingdings</vt:lpstr>
      <vt:lpstr>Office Theme</vt:lpstr>
      <vt:lpstr>Data Communication &amp; Networks </vt:lpstr>
      <vt:lpstr>Course Basic Information</vt:lpstr>
      <vt:lpstr>Course Basic Information</vt:lpstr>
      <vt:lpstr>Course Basic Information</vt:lpstr>
      <vt:lpstr>Course Basic Information</vt:lpstr>
      <vt:lpstr>Course Basic Information</vt:lpstr>
      <vt:lpstr>Course Basic Information</vt:lpstr>
      <vt:lpstr>Course Basic Information</vt:lpstr>
      <vt:lpstr>Course Basic Information</vt:lpstr>
      <vt:lpstr> Motivation</vt:lpstr>
      <vt:lpstr> Motivation</vt:lpstr>
      <vt:lpstr> Motivation</vt:lpstr>
      <vt:lpstr>Course Basic Information</vt:lpstr>
      <vt:lpstr>Course Basic Information</vt:lpstr>
      <vt:lpstr>Chapter 1: Introduction</vt:lpstr>
      <vt:lpstr> Introduction</vt:lpstr>
      <vt:lpstr> Introduction</vt:lpstr>
      <vt:lpstr> Introduction</vt:lpstr>
      <vt:lpstr> Introduction</vt:lpstr>
      <vt:lpstr> Introduction</vt:lpstr>
      <vt:lpstr> Introduction</vt:lpstr>
      <vt:lpstr> Introduction</vt:lpstr>
      <vt:lpstr> Introduction</vt:lpstr>
      <vt:lpstr> Introduction: Home Network Applications</vt:lpstr>
      <vt:lpstr> Introduction</vt:lpstr>
      <vt:lpstr> Introduction</vt:lpstr>
      <vt:lpstr> Introduction</vt:lpstr>
      <vt:lpstr> Introduction</vt:lpstr>
      <vt:lpstr> Introduction</vt:lpstr>
      <vt:lpstr> Introduction</vt:lpstr>
      <vt:lpstr> Introduction</vt:lpstr>
      <vt:lpstr> Introduction</vt:lpstr>
      <vt:lpstr> Introduction</vt:lpstr>
      <vt:lpstr> Introduction</vt:lpstr>
      <vt:lpstr> Introduction</vt:lpstr>
      <vt:lpstr> Introduction</vt:lpstr>
      <vt:lpstr> Introduction</vt:lpstr>
      <vt:lpstr> Introduction</vt:lpstr>
      <vt:lpstr> Introduction</vt:lpstr>
      <vt:lpstr> Introduction</vt:lpstr>
      <vt:lpstr> Introduction</vt:lpstr>
      <vt:lpstr> Introduction</vt:lpstr>
      <vt:lpstr> Introduction</vt:lpstr>
      <vt:lpstr> Introduction</vt:lpstr>
      <vt:lpstr> Introduction</vt:lpstr>
      <vt:lpstr> Introduction</vt:lpstr>
      <vt:lpstr> Introduction</vt:lpstr>
      <vt:lpstr> Introduction: Physical Layer</vt:lpstr>
      <vt:lpstr> Introduction: Data Link Layer</vt:lpstr>
      <vt:lpstr> Introduction: Network Layer</vt:lpstr>
      <vt:lpstr> Introduction: Transport Layer</vt:lpstr>
      <vt:lpstr> Introduction: Session Layer</vt:lpstr>
      <vt:lpstr> Introduction: Presentation Layer</vt:lpstr>
      <vt:lpstr> Case Study as an Example</vt:lpstr>
      <vt:lpstr> Introduction: TCP/IP Reference Model</vt:lpstr>
      <vt:lpstr> Introduction: TCP/IP Reference Model</vt:lpstr>
      <vt:lpstr> Introduction: TCP/IP Reference Model</vt:lpstr>
      <vt:lpstr> Introduction: Types of Computer Networks</vt:lpstr>
      <vt:lpstr> Introduction: Types of Computer Networks</vt:lpstr>
      <vt:lpstr> Introduction: TCP/IP Reference Model</vt:lpstr>
      <vt:lpstr> Introduction: TCP/IP Reference Model</vt:lpstr>
      <vt:lpstr> Introduction: Types of Computer Networks</vt:lpstr>
      <vt:lpstr> Introduction: Types of Computer Networks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Communication &amp; Networks</dc:title>
  <dc:creator>Khalid</dc:creator>
  <cp:lastModifiedBy>Khalid</cp:lastModifiedBy>
  <cp:revision>27</cp:revision>
  <dcterms:created xsi:type="dcterms:W3CDTF">2025-08-17T12:47:45Z</dcterms:created>
  <dcterms:modified xsi:type="dcterms:W3CDTF">2026-08-17T07:41:51Z</dcterms:modified>
</cp:coreProperties>
</file>