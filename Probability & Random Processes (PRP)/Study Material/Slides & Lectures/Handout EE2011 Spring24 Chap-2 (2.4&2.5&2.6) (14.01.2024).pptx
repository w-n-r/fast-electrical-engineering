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31"/>
  </p:notesMasterIdLst>
  <p:handoutMasterIdLst>
    <p:handoutMasterId r:id="rId32"/>
  </p:handoutMasterIdLst>
  <p:sldIdLst>
    <p:sldId id="256" r:id="rId2"/>
    <p:sldId id="1044" r:id="rId3"/>
    <p:sldId id="1045" r:id="rId4"/>
    <p:sldId id="1046" r:id="rId5"/>
    <p:sldId id="1047" r:id="rId6"/>
    <p:sldId id="1048" r:id="rId7"/>
    <p:sldId id="1049" r:id="rId8"/>
    <p:sldId id="1050" r:id="rId9"/>
    <p:sldId id="1051" r:id="rId10"/>
    <p:sldId id="1052" r:id="rId11"/>
    <p:sldId id="1053" r:id="rId12"/>
    <p:sldId id="1054" r:id="rId13"/>
    <p:sldId id="1041" r:id="rId14"/>
    <p:sldId id="987" r:id="rId15"/>
    <p:sldId id="988" r:id="rId16"/>
    <p:sldId id="989" r:id="rId17"/>
    <p:sldId id="1042" r:id="rId18"/>
    <p:sldId id="1043" r:id="rId19"/>
    <p:sldId id="990" r:id="rId20"/>
    <p:sldId id="991" r:id="rId21"/>
    <p:sldId id="995" r:id="rId22"/>
    <p:sldId id="996" r:id="rId23"/>
    <p:sldId id="997" r:id="rId24"/>
    <p:sldId id="1013" r:id="rId25"/>
    <p:sldId id="1014" r:id="rId26"/>
    <p:sldId id="1015" r:id="rId27"/>
    <p:sldId id="1016" r:id="rId28"/>
    <p:sldId id="1017" r:id="rId29"/>
    <p:sldId id="1018" r:id="rId30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6" autoAdjust="0"/>
    <p:restoredTop sz="96797" autoAdjust="0"/>
  </p:normalViewPr>
  <p:slideViewPr>
    <p:cSldViewPr snapToGrid="0">
      <p:cViewPr varScale="1">
        <p:scale>
          <a:sx n="69" d="100"/>
          <a:sy n="69" d="100"/>
        </p:scale>
        <p:origin x="124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2/14/2024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2/14/2024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94.png"/><Relationship Id="rId4" Type="http://schemas.openxmlformats.org/officeDocument/2006/relationships/image" Target="../media/image97.png"/><Relationship Id="rId9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2.4 Probability of an event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i="1" u="sng" dirty="0" smtClean="0"/>
              <a:t>To </a:t>
            </a:r>
            <a:r>
              <a:rPr lang="en-CA" b="1" i="1" u="sng" dirty="0"/>
              <a:t>ﬁnd the probability of an event A</a:t>
            </a:r>
            <a:r>
              <a:rPr lang="en-CA" b="1" i="1" u="sng" dirty="0" smtClean="0"/>
              <a:t>, what should we do?</a:t>
            </a:r>
          </a:p>
          <a:p>
            <a:r>
              <a:rPr lang="en-CA" b="1" i="1" u="sng" dirty="0" smtClean="0"/>
              <a:t> </a:t>
            </a:r>
            <a:r>
              <a:rPr lang="en-CA" b="1" i="1" u="sng" dirty="0"/>
              <a:t>W</a:t>
            </a:r>
            <a:r>
              <a:rPr lang="en-CA" b="1" i="1" u="sng" dirty="0" smtClean="0"/>
              <a:t>e </a:t>
            </a:r>
            <a:r>
              <a:rPr lang="en-CA" b="1" i="1" u="sng" dirty="0"/>
              <a:t>sum all the probabilities assigned </a:t>
            </a:r>
            <a:r>
              <a:rPr lang="en-CA" b="1" i="1" u="sng" dirty="0" smtClean="0"/>
              <a:t>to the </a:t>
            </a:r>
            <a:r>
              <a:rPr lang="en-CA" b="1" u="sng" dirty="0"/>
              <a:t>sample points </a:t>
            </a:r>
            <a:r>
              <a:rPr lang="en-CA" b="1" i="1" u="sng" dirty="0"/>
              <a:t>in A. </a:t>
            </a:r>
            <a:endParaRPr lang="en-CA" b="1" i="1" u="sng" dirty="0" smtClean="0"/>
          </a:p>
          <a:p>
            <a:r>
              <a:rPr lang="en-CA" dirty="0" smtClean="0"/>
              <a:t>This </a:t>
            </a:r>
            <a:r>
              <a:rPr lang="en-CA" dirty="0"/>
              <a:t>sum is called the probability of </a:t>
            </a:r>
            <a:r>
              <a:rPr lang="en-CA" dirty="0" smtClean="0"/>
              <a:t>A </a:t>
            </a:r>
            <a:r>
              <a:rPr lang="en-CA" dirty="0"/>
              <a:t>and is </a:t>
            </a:r>
            <a:r>
              <a:rPr lang="en-CA" dirty="0" smtClean="0"/>
              <a:t>denoted by </a:t>
            </a:r>
            <a:r>
              <a:rPr lang="en-CA" dirty="0"/>
              <a:t>P(A</a:t>
            </a:r>
            <a:r>
              <a:rPr lang="en-CA" dirty="0" smtClean="0"/>
              <a:t>).</a:t>
            </a:r>
          </a:p>
          <a:p>
            <a:r>
              <a:rPr lang="en-CA" dirty="0" smtClean="0"/>
              <a:t>In </a:t>
            </a:r>
            <a:r>
              <a:rPr lang="en-CA" dirty="0"/>
              <a:t>many experiments, such as tossing a coin or a die, all the sample </a:t>
            </a:r>
            <a:r>
              <a:rPr lang="en-CA" u="sng" dirty="0"/>
              <a:t>elements or points </a:t>
            </a:r>
            <a:r>
              <a:rPr lang="en-CA" dirty="0"/>
              <a:t>have the same chance of occurring and are assigned equal probabilities.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1581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17" y="1150122"/>
            <a:ext cx="8001000" cy="2514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83" y="1789834"/>
            <a:ext cx="1076325" cy="285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104" y="2114443"/>
            <a:ext cx="1504950" cy="352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042" y="2152543"/>
            <a:ext cx="971550" cy="314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580" y="2123665"/>
            <a:ext cx="1552575" cy="323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42" y="2616264"/>
            <a:ext cx="7305675" cy="276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0886" y="2954939"/>
            <a:ext cx="64579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2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88" y="628805"/>
            <a:ext cx="72104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88" y="1334508"/>
            <a:ext cx="38766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138" y="1615495"/>
            <a:ext cx="24955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88" y="1971332"/>
            <a:ext cx="67341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88" y="2321056"/>
            <a:ext cx="5943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66" y="2961555"/>
            <a:ext cx="5105400" cy="295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66" y="3363929"/>
            <a:ext cx="2714625" cy="419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0088" y="3246107"/>
            <a:ext cx="2781300" cy="6191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963" y="2574630"/>
            <a:ext cx="1409700" cy="3333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5125" y="2585317"/>
            <a:ext cx="11334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8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35" y="1920036"/>
            <a:ext cx="5650942" cy="407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54" y="2469199"/>
            <a:ext cx="8161355" cy="600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08" y="228600"/>
            <a:ext cx="8267700" cy="914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54" y="1235603"/>
            <a:ext cx="8267700" cy="542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75" y="3074786"/>
            <a:ext cx="4648200" cy="342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7731" y="3098598"/>
            <a:ext cx="2905125" cy="295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654" y="3566238"/>
            <a:ext cx="8162925" cy="600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654" y="4662851"/>
            <a:ext cx="2933700" cy="361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6118" y="4534263"/>
            <a:ext cx="294322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5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08" y="1466561"/>
            <a:ext cx="3028950" cy="285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81" y="483750"/>
            <a:ext cx="7905750" cy="838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37" y="2093768"/>
            <a:ext cx="5419725" cy="342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537" y="2587625"/>
            <a:ext cx="3800475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056" y="2587625"/>
            <a:ext cx="1762125" cy="323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81" y="3299546"/>
            <a:ext cx="7981950" cy="314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81" y="3877112"/>
            <a:ext cx="4391025" cy="714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5341" y="4128514"/>
            <a:ext cx="2095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Probability of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the sample space for an experiment contains N elements, all of which </a:t>
            </a:r>
            <a:r>
              <a:rPr lang="en-CA" dirty="0" smtClean="0"/>
              <a:t>are equally </a:t>
            </a:r>
            <a:r>
              <a:rPr lang="en-CA" dirty="0"/>
              <a:t>likely to occur, </a:t>
            </a:r>
            <a:endParaRPr lang="en-CA" dirty="0" smtClean="0"/>
          </a:p>
          <a:p>
            <a:r>
              <a:rPr lang="en-CA" dirty="0" smtClean="0"/>
              <a:t>we </a:t>
            </a:r>
            <a:r>
              <a:rPr lang="en-CA" dirty="0"/>
              <a:t>assign a probability equal to 1/N to each of the </a:t>
            </a:r>
            <a:r>
              <a:rPr lang="en-CA" dirty="0" smtClean="0"/>
              <a:t>N (points) elements. </a:t>
            </a:r>
          </a:p>
          <a:p>
            <a:r>
              <a:rPr lang="en-CA" dirty="0" smtClean="0"/>
              <a:t>The </a:t>
            </a:r>
            <a:r>
              <a:rPr lang="en-CA" dirty="0"/>
              <a:t>probability of any event A containing </a:t>
            </a:r>
            <a:r>
              <a:rPr lang="en-CA" i="1" u="sng" dirty="0"/>
              <a:t>n</a:t>
            </a:r>
            <a:r>
              <a:rPr lang="en-CA" dirty="0"/>
              <a:t> of these N sample </a:t>
            </a:r>
            <a:r>
              <a:rPr lang="en-CA" dirty="0" smtClean="0"/>
              <a:t>(points) elements </a:t>
            </a:r>
          </a:p>
          <a:p>
            <a:r>
              <a:rPr lang="en-CA" dirty="0" smtClean="0"/>
              <a:t>is then </a:t>
            </a:r>
            <a:r>
              <a:rPr lang="en-CA" dirty="0"/>
              <a:t>the ratio of </a:t>
            </a:r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/>
              <a:t>number of elements in A to the number of elements in S.</a:t>
            </a:r>
          </a:p>
        </p:txBody>
      </p:sp>
    </p:spTree>
    <p:extLst>
      <p:ext uri="{BB962C8B-B14F-4D97-AF65-F5344CB8AC3E}">
        <p14:creationId xmlns:p14="http://schemas.microsoft.com/office/powerpoint/2010/main" val="373070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5" y="275514"/>
            <a:ext cx="8119562" cy="1566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92" y="1980334"/>
            <a:ext cx="8124825" cy="514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617" y="2462275"/>
            <a:ext cx="6743700" cy="876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92" y="3481368"/>
            <a:ext cx="7591425" cy="523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867" y="4091917"/>
            <a:ext cx="6648450" cy="466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209" y="4558642"/>
            <a:ext cx="6638925" cy="53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1233" y="5191335"/>
            <a:ext cx="904875" cy="438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2307" y="5731356"/>
            <a:ext cx="65627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6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Probability of an </a:t>
            </a:r>
            <a:r>
              <a:rPr lang="en-CA" dirty="0" smtClean="0"/>
              <a:t>Event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If the outcomes of an experiment are not equally likely to occur, </a:t>
            </a:r>
            <a:endParaRPr lang="en-CA" sz="2000" dirty="0" smtClean="0"/>
          </a:p>
          <a:p>
            <a:r>
              <a:rPr lang="en-CA" sz="2000" dirty="0" smtClean="0"/>
              <a:t>the probabilities must </a:t>
            </a:r>
            <a:r>
              <a:rPr lang="en-CA" sz="2000" dirty="0"/>
              <a:t>be assigned on the basis of prior knowledge or experimental evidence.</a:t>
            </a:r>
          </a:p>
          <a:p>
            <a:r>
              <a:rPr lang="en-CA" sz="2000" dirty="0"/>
              <a:t>For example, if a coin is not balanced, </a:t>
            </a:r>
            <a:endParaRPr lang="en-CA" sz="2000" dirty="0" smtClean="0"/>
          </a:p>
          <a:p>
            <a:r>
              <a:rPr lang="en-CA" sz="2000" dirty="0" smtClean="0"/>
              <a:t>we </a:t>
            </a:r>
            <a:r>
              <a:rPr lang="en-CA" sz="2000" dirty="0"/>
              <a:t>could estimate the probabilities of </a:t>
            </a:r>
            <a:r>
              <a:rPr lang="en-CA" sz="2000" dirty="0" smtClean="0"/>
              <a:t>heads and </a:t>
            </a:r>
            <a:r>
              <a:rPr lang="en-CA" sz="2000" dirty="0"/>
              <a:t>tails </a:t>
            </a:r>
            <a:endParaRPr lang="en-CA" sz="2000" dirty="0" smtClean="0"/>
          </a:p>
          <a:p>
            <a:r>
              <a:rPr lang="en-CA" sz="2000" dirty="0" smtClean="0"/>
              <a:t>by </a:t>
            </a:r>
            <a:r>
              <a:rPr lang="en-CA" sz="2000" dirty="0"/>
              <a:t>tossing the coin a large number of times and recording the </a:t>
            </a:r>
            <a:r>
              <a:rPr lang="en-CA" sz="2000" dirty="0" smtClean="0"/>
              <a:t>outcomes</a:t>
            </a:r>
            <a:endParaRPr lang="en-CA" sz="2000" dirty="0"/>
          </a:p>
          <a:p>
            <a:r>
              <a:rPr lang="en-CA" sz="2000" b="1" dirty="0"/>
              <a:t>According to the relative frequency deﬁnition of probability, </a:t>
            </a:r>
            <a:endParaRPr lang="en-CA" sz="2000" b="1" dirty="0" smtClean="0"/>
          </a:p>
          <a:p>
            <a:r>
              <a:rPr lang="en-CA" sz="2000" b="1" dirty="0" smtClean="0"/>
              <a:t>the </a:t>
            </a:r>
            <a:r>
              <a:rPr lang="en-CA" sz="2000" b="1" dirty="0"/>
              <a:t>true </a:t>
            </a:r>
            <a:r>
              <a:rPr lang="en-CA" sz="2000" b="1" dirty="0" smtClean="0"/>
              <a:t>probabilities would </a:t>
            </a:r>
            <a:r>
              <a:rPr lang="en-CA" sz="2000" b="1" dirty="0"/>
              <a:t>be the fractions of heads and tails that occur in the long run. </a:t>
            </a:r>
            <a:endParaRPr lang="en-CA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224595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Probability of an </a:t>
            </a:r>
            <a:r>
              <a:rPr lang="en-CA" dirty="0" smtClean="0"/>
              <a:t>Event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 smtClean="0"/>
              <a:t>Another intuitive </a:t>
            </a:r>
            <a:r>
              <a:rPr lang="en-CA" sz="2000" dirty="0"/>
              <a:t>way of understanding probability is </a:t>
            </a:r>
            <a:r>
              <a:rPr lang="en-CA" sz="2000" u="sng" dirty="0"/>
              <a:t>the indiﬀerence </a:t>
            </a:r>
            <a:r>
              <a:rPr lang="en-CA" sz="2000" u="sng" dirty="0" smtClean="0"/>
              <a:t>approach</a:t>
            </a:r>
          </a:p>
          <a:p>
            <a:r>
              <a:rPr lang="en-CA" sz="2000" dirty="0" smtClean="0"/>
              <a:t>For </a:t>
            </a:r>
            <a:r>
              <a:rPr lang="en-CA" sz="2000" dirty="0"/>
              <a:t>instance</a:t>
            </a:r>
            <a:r>
              <a:rPr lang="en-CA" sz="2000" dirty="0" smtClean="0"/>
              <a:t>, if </a:t>
            </a:r>
            <a:r>
              <a:rPr lang="en-CA" sz="2000" dirty="0"/>
              <a:t>you have a die that you believe is balanced, </a:t>
            </a:r>
            <a:endParaRPr lang="en-CA" sz="2000" dirty="0" smtClean="0"/>
          </a:p>
          <a:p>
            <a:r>
              <a:rPr lang="en-CA" sz="2000" dirty="0" smtClean="0"/>
              <a:t>then </a:t>
            </a:r>
            <a:r>
              <a:rPr lang="en-CA" sz="2000" dirty="0"/>
              <a:t>using this </a:t>
            </a:r>
            <a:r>
              <a:rPr lang="en-CA" sz="2000" dirty="0" smtClean="0"/>
              <a:t>indiﬀerence approach</a:t>
            </a:r>
            <a:r>
              <a:rPr lang="en-CA" sz="2000" dirty="0"/>
              <a:t>, </a:t>
            </a:r>
            <a:endParaRPr lang="en-CA" sz="2000" dirty="0" smtClean="0"/>
          </a:p>
          <a:p>
            <a:r>
              <a:rPr lang="en-CA" sz="2000" dirty="0" smtClean="0"/>
              <a:t>you </a:t>
            </a:r>
            <a:r>
              <a:rPr lang="en-CA" sz="2000" dirty="0"/>
              <a:t>determine that the probability that each of the six sides will </a:t>
            </a:r>
            <a:r>
              <a:rPr lang="en-CA" sz="2000" dirty="0" smtClean="0"/>
              <a:t>show up </a:t>
            </a:r>
            <a:r>
              <a:rPr lang="en-CA" sz="2000" dirty="0"/>
              <a:t>after a throw is </a:t>
            </a:r>
            <a:r>
              <a:rPr lang="en-CA" sz="2000" dirty="0" smtClean="0"/>
              <a:t>1/6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16414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Probability of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To </a:t>
            </a:r>
            <a:r>
              <a:rPr lang="en-CA" dirty="0"/>
              <a:t>ﬁnd a numerical value that represents adequately the probability of </a:t>
            </a:r>
            <a:r>
              <a:rPr lang="en-CA" dirty="0" smtClean="0"/>
              <a:t>winning at </a:t>
            </a:r>
            <a:r>
              <a:rPr lang="en-CA" dirty="0"/>
              <a:t>tennis, </a:t>
            </a:r>
            <a:endParaRPr lang="en-CA" dirty="0" smtClean="0"/>
          </a:p>
          <a:p>
            <a:r>
              <a:rPr lang="en-CA" dirty="0" smtClean="0"/>
              <a:t>we </a:t>
            </a:r>
            <a:r>
              <a:rPr lang="en-CA" dirty="0"/>
              <a:t>must depend on our past performance at the game </a:t>
            </a:r>
            <a:endParaRPr lang="en-CA" dirty="0" smtClean="0"/>
          </a:p>
          <a:p>
            <a:r>
              <a:rPr lang="en-CA" dirty="0" smtClean="0"/>
              <a:t>as </a:t>
            </a:r>
            <a:r>
              <a:rPr lang="en-CA" dirty="0"/>
              <a:t>well as that </a:t>
            </a:r>
            <a:r>
              <a:rPr lang="en-CA" dirty="0" smtClean="0"/>
              <a:t>of the </a:t>
            </a:r>
            <a:r>
              <a:rPr lang="en-CA" dirty="0"/>
              <a:t>opponent and, </a:t>
            </a:r>
            <a:endParaRPr lang="en-CA" dirty="0" smtClean="0"/>
          </a:p>
          <a:p>
            <a:r>
              <a:rPr lang="en-CA" dirty="0" smtClean="0"/>
              <a:t>to </a:t>
            </a:r>
            <a:r>
              <a:rPr lang="en-CA" dirty="0"/>
              <a:t>some extent, our belief in our ability to win. </a:t>
            </a:r>
            <a:endParaRPr lang="en-CA" dirty="0" smtClean="0"/>
          </a:p>
          <a:p>
            <a:r>
              <a:rPr lang="en-CA" dirty="0" smtClean="0"/>
              <a:t>Intuition </a:t>
            </a:r>
            <a:r>
              <a:rPr lang="en-CA" dirty="0"/>
              <a:t>would undoubtedly also play </a:t>
            </a:r>
            <a:r>
              <a:rPr lang="en-CA" dirty="0" smtClean="0"/>
              <a:t>a part </a:t>
            </a:r>
            <a:r>
              <a:rPr lang="en-CA" dirty="0"/>
              <a:t>in determining the size of the bet that we might be willing to wager. </a:t>
            </a:r>
            <a:endParaRPr lang="en-CA" dirty="0" smtClean="0"/>
          </a:p>
          <a:p>
            <a:r>
              <a:rPr lang="en-CA" b="1" dirty="0" smtClean="0"/>
              <a:t>The use </a:t>
            </a:r>
            <a:r>
              <a:rPr lang="en-CA" b="1" dirty="0"/>
              <a:t>of intuition, </a:t>
            </a:r>
            <a:endParaRPr lang="en-CA" b="1" dirty="0" smtClean="0"/>
          </a:p>
          <a:p>
            <a:r>
              <a:rPr lang="en-CA" b="1" dirty="0" smtClean="0"/>
              <a:t>personal </a:t>
            </a:r>
            <a:r>
              <a:rPr lang="en-CA" b="1" dirty="0"/>
              <a:t>beliefs, </a:t>
            </a:r>
            <a:endParaRPr lang="en-CA" b="1" dirty="0" smtClean="0"/>
          </a:p>
          <a:p>
            <a:r>
              <a:rPr lang="en-CA" b="1" dirty="0" smtClean="0"/>
              <a:t>and </a:t>
            </a:r>
            <a:r>
              <a:rPr lang="en-CA" b="1" dirty="0"/>
              <a:t>other indirect information in arriving </a:t>
            </a:r>
            <a:r>
              <a:rPr lang="en-CA" b="1" dirty="0" smtClean="0"/>
              <a:t>at probabilities </a:t>
            </a:r>
          </a:p>
          <a:p>
            <a:r>
              <a:rPr lang="en-CA" b="1" dirty="0" smtClean="0"/>
              <a:t>is </a:t>
            </a:r>
            <a:r>
              <a:rPr lang="en-CA" b="1" dirty="0"/>
              <a:t>referred to as the </a:t>
            </a:r>
            <a:r>
              <a:rPr lang="en-CA" b="1" u="sng" dirty="0"/>
              <a:t>subjective deﬁnition of probability</a:t>
            </a:r>
            <a:r>
              <a:rPr lang="en-CA" b="1" dirty="0" smtClean="0"/>
              <a:t>.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18105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Probability of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In </a:t>
            </a:r>
            <a:r>
              <a:rPr lang="en-CA" dirty="0"/>
              <a:t>most of the applications of probability in this book, </a:t>
            </a:r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/>
              <a:t>relative </a:t>
            </a:r>
            <a:r>
              <a:rPr lang="en-CA" dirty="0" smtClean="0"/>
              <a:t>frequency interpretation </a:t>
            </a:r>
            <a:r>
              <a:rPr lang="en-CA" dirty="0"/>
              <a:t>of probability is the operative </a:t>
            </a:r>
            <a:r>
              <a:rPr lang="en-CA" dirty="0" smtClean="0"/>
              <a:t>one</a:t>
            </a:r>
          </a:p>
          <a:p>
            <a:r>
              <a:rPr lang="en-CA" dirty="0" smtClean="0"/>
              <a:t>Its </a:t>
            </a:r>
            <a:r>
              <a:rPr lang="en-CA" dirty="0"/>
              <a:t>foundation is the </a:t>
            </a:r>
            <a:r>
              <a:rPr lang="en-CA" dirty="0" smtClean="0"/>
              <a:t>statistical experiment </a:t>
            </a:r>
            <a:r>
              <a:rPr lang="en-CA" dirty="0"/>
              <a:t>rather than subjectivity, </a:t>
            </a:r>
            <a:endParaRPr lang="en-CA" dirty="0" smtClean="0"/>
          </a:p>
          <a:p>
            <a:r>
              <a:rPr lang="en-CA" dirty="0" smtClean="0"/>
              <a:t>and </a:t>
            </a:r>
            <a:r>
              <a:rPr lang="en-CA" dirty="0"/>
              <a:t>it is best viewed as the limiting </a:t>
            </a:r>
            <a:r>
              <a:rPr lang="en-CA" dirty="0" smtClean="0"/>
              <a:t>relative frequency</a:t>
            </a:r>
          </a:p>
          <a:p>
            <a:r>
              <a:rPr lang="en-CA" dirty="0" smtClean="0"/>
              <a:t>As </a:t>
            </a:r>
            <a:r>
              <a:rPr lang="en-CA" dirty="0"/>
              <a:t>a result, many applications of probability in science and </a:t>
            </a:r>
            <a:r>
              <a:rPr lang="en-CA" dirty="0" smtClean="0"/>
              <a:t>engineering </a:t>
            </a:r>
          </a:p>
          <a:p>
            <a:r>
              <a:rPr lang="en-CA" dirty="0" smtClean="0"/>
              <a:t>must </a:t>
            </a:r>
            <a:r>
              <a:rPr lang="en-CA" dirty="0"/>
              <a:t>be based on experiments that can be </a:t>
            </a:r>
            <a:r>
              <a:rPr lang="en-CA" dirty="0" smtClean="0"/>
              <a:t>repeated </a:t>
            </a:r>
          </a:p>
        </p:txBody>
      </p:sp>
    </p:spTree>
    <p:extLst>
      <p:ext uri="{BB962C8B-B14F-4D97-AF65-F5344CB8AC3E}">
        <p14:creationId xmlns:p14="http://schemas.microsoft.com/office/powerpoint/2010/main" val="199051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618836"/>
            <a:ext cx="7886700" cy="555812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CA" sz="2400" dirty="0" smtClean="0"/>
              <a:t>Many ways to </a:t>
            </a:r>
            <a:r>
              <a:rPr lang="en-CA" sz="2400" b="1" u="sng" dirty="0" smtClean="0"/>
              <a:t>assign</a:t>
            </a:r>
            <a:r>
              <a:rPr lang="en-CA" sz="2400" dirty="0" smtClean="0"/>
              <a:t> probability of occurrence of the sample points of a sample space. </a:t>
            </a:r>
          </a:p>
          <a:p>
            <a:pPr lvl="1">
              <a:spcBef>
                <a:spcPts val="600"/>
              </a:spcBef>
            </a:pPr>
            <a:r>
              <a:rPr lang="en-CA" sz="2000" dirty="0"/>
              <a:t>The use of intuition, personal beliefs, and other indirect information in arriving at probabilities is referred to as </a:t>
            </a:r>
            <a:r>
              <a:rPr lang="en-CA" sz="2000" dirty="0" smtClean="0"/>
              <a:t>what?</a:t>
            </a:r>
          </a:p>
          <a:p>
            <a:pPr lvl="1">
              <a:spcBef>
                <a:spcPts val="600"/>
              </a:spcBef>
            </a:pPr>
            <a:r>
              <a:rPr lang="en-CA" sz="2000" dirty="0" smtClean="0"/>
              <a:t>the </a:t>
            </a:r>
            <a:r>
              <a:rPr lang="en-CA" sz="2000" u="sng" dirty="0"/>
              <a:t>subjective deﬁnition of </a:t>
            </a:r>
            <a:r>
              <a:rPr lang="en-CA" sz="2000" u="sng" dirty="0" smtClean="0"/>
              <a:t>probability</a:t>
            </a:r>
            <a:r>
              <a:rPr lang="en-CA" sz="2000" dirty="0" smtClean="0"/>
              <a:t> </a:t>
            </a:r>
          </a:p>
          <a:p>
            <a:pPr lvl="1">
              <a:spcBef>
                <a:spcPts val="600"/>
              </a:spcBef>
            </a:pPr>
            <a:r>
              <a:rPr lang="en-CA" sz="2000" u="sng" dirty="0" smtClean="0"/>
              <a:t>The indifference approach </a:t>
            </a:r>
            <a:r>
              <a:rPr lang="en-CA" sz="2000" dirty="0"/>
              <a:t> assume probabilities to be </a:t>
            </a:r>
            <a:r>
              <a:rPr lang="en-CA" sz="2000" dirty="0" smtClean="0"/>
              <a:t>what?</a:t>
            </a:r>
          </a:p>
          <a:p>
            <a:pPr lvl="1">
              <a:spcBef>
                <a:spcPts val="600"/>
              </a:spcBef>
            </a:pPr>
            <a:r>
              <a:rPr lang="en-CA" sz="2000" dirty="0" smtClean="0"/>
              <a:t>equally </a:t>
            </a:r>
            <a:r>
              <a:rPr lang="en-CA" sz="2000" dirty="0"/>
              <a:t>likely</a:t>
            </a:r>
          </a:p>
          <a:p>
            <a:pPr lvl="1">
              <a:spcBef>
                <a:spcPts val="600"/>
              </a:spcBef>
            </a:pPr>
            <a:r>
              <a:rPr lang="en-CA" sz="2000" dirty="0" smtClean="0"/>
              <a:t>does not use subjectivity or intuition</a:t>
            </a:r>
          </a:p>
          <a:p>
            <a:pPr lvl="1">
              <a:spcBef>
                <a:spcPts val="600"/>
              </a:spcBef>
            </a:pPr>
            <a:r>
              <a:rPr lang="en-CA" sz="2000" u="sng" dirty="0" smtClean="0"/>
              <a:t>Relative </a:t>
            </a:r>
            <a:r>
              <a:rPr lang="en-CA" sz="2000" u="sng" dirty="0"/>
              <a:t>frequency interpretation of </a:t>
            </a:r>
            <a:r>
              <a:rPr lang="en-CA" sz="2000" u="sng" dirty="0" smtClean="0"/>
              <a:t>probability </a:t>
            </a:r>
            <a:r>
              <a:rPr lang="en-CA" sz="2000" dirty="0" smtClean="0"/>
              <a:t>is defined as follow:</a:t>
            </a:r>
            <a:endParaRPr lang="en-CA" sz="2000" dirty="0"/>
          </a:p>
          <a:p>
            <a:pPr lvl="1"/>
            <a:endParaRPr lang="en-CA" sz="2000" dirty="0"/>
          </a:p>
          <a:p>
            <a:endParaRPr lang="en-CA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32" y="3970553"/>
            <a:ext cx="7949722" cy="203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76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2.5 Additive Rule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Often it is easiest to calculate the probability of some event from known </a:t>
            </a:r>
            <a:r>
              <a:rPr lang="en-CA" dirty="0" smtClean="0"/>
              <a:t>probabilities of </a:t>
            </a:r>
            <a:r>
              <a:rPr lang="en-CA" dirty="0"/>
              <a:t>other </a:t>
            </a:r>
            <a:r>
              <a:rPr lang="en-CA" dirty="0" smtClean="0"/>
              <a:t>events</a:t>
            </a:r>
          </a:p>
          <a:p>
            <a:r>
              <a:rPr lang="en-CA" dirty="0" smtClean="0"/>
              <a:t>This </a:t>
            </a:r>
            <a:r>
              <a:rPr lang="en-CA" dirty="0"/>
              <a:t>may well be true if the event in question can </a:t>
            </a:r>
            <a:r>
              <a:rPr lang="en-CA" dirty="0" smtClean="0"/>
              <a:t>be represented </a:t>
            </a:r>
            <a:r>
              <a:rPr lang="en-CA" dirty="0"/>
              <a:t>as the union of two other events </a:t>
            </a:r>
            <a:endParaRPr lang="en-CA" dirty="0" smtClean="0"/>
          </a:p>
          <a:p>
            <a:r>
              <a:rPr lang="en-CA" dirty="0" smtClean="0"/>
              <a:t>or </a:t>
            </a:r>
            <a:r>
              <a:rPr lang="en-CA" dirty="0"/>
              <a:t>as the complement of some </a:t>
            </a:r>
            <a:r>
              <a:rPr lang="en-CA" dirty="0" smtClean="0"/>
              <a:t>event</a:t>
            </a:r>
            <a:endParaRPr lang="en-CA" dirty="0"/>
          </a:p>
          <a:p>
            <a:r>
              <a:rPr lang="en-CA" dirty="0"/>
              <a:t>Several important laws that frequently simplify the computation of </a:t>
            </a:r>
            <a:r>
              <a:rPr lang="en-CA" dirty="0" smtClean="0"/>
              <a:t>probabilities follow</a:t>
            </a:r>
          </a:p>
          <a:p>
            <a:r>
              <a:rPr lang="en-CA" dirty="0" smtClean="0"/>
              <a:t>The </a:t>
            </a:r>
            <a:r>
              <a:rPr lang="en-CA" dirty="0"/>
              <a:t>ﬁrst, called the additive rule, applies to unions of </a:t>
            </a:r>
            <a:r>
              <a:rPr lang="en-CA" dirty="0" smtClean="0"/>
              <a:t>events</a:t>
            </a:r>
            <a:endParaRPr lang="en-CA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2" y="4747491"/>
            <a:ext cx="8226206" cy="142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607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507" y="81211"/>
            <a:ext cx="4270766" cy="3339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23" y="3690369"/>
            <a:ext cx="77152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23" y="4471419"/>
            <a:ext cx="7639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23" y="5021879"/>
            <a:ext cx="5819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823" y="5435037"/>
            <a:ext cx="76581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1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58" y="2525760"/>
            <a:ext cx="82772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046" y="3565478"/>
            <a:ext cx="68675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08" y="4607613"/>
            <a:ext cx="833437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91" y="1374834"/>
            <a:ext cx="6953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91" y="2082847"/>
            <a:ext cx="34385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758" y="295347"/>
            <a:ext cx="84201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0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r>
              <a:rPr lang="en-CA" dirty="0" smtClean="0"/>
              <a:t>Corollaries </a:t>
            </a:r>
            <a:r>
              <a:rPr lang="en-CA" dirty="0"/>
              <a:t>2.1 and 2.2 suggest the </a:t>
            </a:r>
            <a:r>
              <a:rPr lang="en-CA" dirty="0" smtClean="0"/>
              <a:t>very intuitive </a:t>
            </a:r>
            <a:r>
              <a:rPr lang="en-CA" dirty="0"/>
              <a:t>result </a:t>
            </a:r>
            <a:endParaRPr lang="en-CA" dirty="0" smtClean="0"/>
          </a:p>
          <a:p>
            <a:r>
              <a:rPr lang="en-CA" b="1" dirty="0" smtClean="0"/>
              <a:t>dealing </a:t>
            </a:r>
            <a:r>
              <a:rPr lang="en-CA" b="1" dirty="0"/>
              <a:t>with the probability of occurrence of at least one of a </a:t>
            </a:r>
            <a:r>
              <a:rPr lang="en-CA" b="1" dirty="0" smtClean="0"/>
              <a:t>number of </a:t>
            </a:r>
            <a:r>
              <a:rPr lang="en-CA" b="1" dirty="0"/>
              <a:t>events</a:t>
            </a:r>
            <a:r>
              <a:rPr lang="en-CA" dirty="0"/>
              <a:t>, </a:t>
            </a:r>
            <a:endParaRPr lang="en-CA" dirty="0" smtClean="0"/>
          </a:p>
          <a:p>
            <a:r>
              <a:rPr lang="en-CA" u="sng" dirty="0" smtClean="0"/>
              <a:t>no </a:t>
            </a:r>
            <a:r>
              <a:rPr lang="en-CA" u="sng" dirty="0"/>
              <a:t>two of which can occur simultaneously. </a:t>
            </a:r>
            <a:endParaRPr lang="en-CA" u="sng" dirty="0" smtClean="0"/>
          </a:p>
          <a:p>
            <a:r>
              <a:rPr lang="en-CA" dirty="0" smtClean="0"/>
              <a:t>The </a:t>
            </a:r>
            <a:r>
              <a:rPr lang="en-CA" b="1" dirty="0"/>
              <a:t>probability that at </a:t>
            </a:r>
            <a:r>
              <a:rPr lang="en-CA" b="1" dirty="0" smtClean="0"/>
              <a:t>least one occurs</a:t>
            </a:r>
          </a:p>
          <a:p>
            <a:r>
              <a:rPr lang="en-CA" b="1" dirty="0" smtClean="0"/>
              <a:t> </a:t>
            </a:r>
            <a:r>
              <a:rPr lang="en-CA" dirty="0"/>
              <a:t>is the sum of the probabilities of occurrence of the individual events</a:t>
            </a:r>
            <a:r>
              <a:rPr lang="en-CA" dirty="0" smtClean="0"/>
              <a:t>.</a:t>
            </a:r>
            <a:endParaRPr lang="en-CA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26" y="474116"/>
            <a:ext cx="69818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01" y="1782169"/>
            <a:ext cx="696277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268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/>
              <a:t>third corollary simply states that the highest value of a </a:t>
            </a:r>
            <a:r>
              <a:rPr lang="en-CA" dirty="0" smtClean="0"/>
              <a:t>probability </a:t>
            </a:r>
            <a:r>
              <a:rPr lang="en-CA" dirty="0"/>
              <a:t>(unity) </a:t>
            </a:r>
            <a:r>
              <a:rPr lang="en-CA" dirty="0" smtClean="0"/>
              <a:t>is assigned </a:t>
            </a:r>
            <a:r>
              <a:rPr lang="en-CA" dirty="0"/>
              <a:t>to the entire sample space 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89" y="734228"/>
            <a:ext cx="69532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92" y="3486384"/>
            <a:ext cx="82391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09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04" y="681489"/>
            <a:ext cx="8143875" cy="885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06" y="1623631"/>
            <a:ext cx="7991475" cy="88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80" y="2509456"/>
            <a:ext cx="7934325" cy="590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80" y="3100006"/>
            <a:ext cx="8010525" cy="571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721" y="3838193"/>
            <a:ext cx="4229100" cy="295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2378" y="4300155"/>
            <a:ext cx="61245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8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04" y="387965"/>
            <a:ext cx="8199821" cy="826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04" y="1545823"/>
            <a:ext cx="67627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04" y="2286000"/>
            <a:ext cx="81057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3257550"/>
            <a:ext cx="81153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3770266"/>
            <a:ext cx="8315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4529920"/>
            <a:ext cx="586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5156652"/>
            <a:ext cx="81724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798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3" y="306514"/>
            <a:ext cx="8096250" cy="904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38" y="1221905"/>
            <a:ext cx="8039100" cy="781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3" y="2225421"/>
            <a:ext cx="8058150" cy="1200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478" y="3866578"/>
            <a:ext cx="54006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4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707" y="464024"/>
            <a:ext cx="7886700" cy="5699291"/>
          </a:xfrm>
        </p:spPr>
        <p:txBody>
          <a:bodyPr/>
          <a:lstStyle/>
          <a:p>
            <a:r>
              <a:rPr lang="en-CA" dirty="0"/>
              <a:t>Often it is more diﬃcult to calculate the probability that an event occurs </a:t>
            </a:r>
            <a:r>
              <a:rPr lang="en-CA" dirty="0" smtClean="0"/>
              <a:t>than it </a:t>
            </a:r>
            <a:r>
              <a:rPr lang="en-CA" dirty="0"/>
              <a:t>is to calculate the probability that the event does not occur. </a:t>
            </a:r>
            <a:endParaRPr lang="en-CA" dirty="0" smtClean="0"/>
          </a:p>
          <a:p>
            <a:r>
              <a:rPr lang="en-CA" dirty="0" smtClean="0"/>
              <a:t>Should </a:t>
            </a:r>
            <a:r>
              <a:rPr lang="en-CA" dirty="0"/>
              <a:t>this be </a:t>
            </a:r>
            <a:r>
              <a:rPr lang="en-CA" dirty="0" smtClean="0"/>
              <a:t>the case </a:t>
            </a:r>
            <a:r>
              <a:rPr lang="en-CA" dirty="0"/>
              <a:t>for some event A, we simply ﬁnd </a:t>
            </a:r>
            <a:r>
              <a:rPr lang="en-CA" dirty="0" smtClean="0"/>
              <a:t>P(A’) </a:t>
            </a:r>
            <a:r>
              <a:rPr lang="en-CA" dirty="0"/>
              <a:t>ﬁrst and then, using Theorem 2.7</a:t>
            </a:r>
            <a:r>
              <a:rPr lang="en-CA" dirty="0" smtClean="0"/>
              <a:t>, ﬁnd </a:t>
            </a:r>
            <a:r>
              <a:rPr lang="en-CA" dirty="0"/>
              <a:t>P(A) by subtraction.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81" y="2247191"/>
            <a:ext cx="8225052" cy="1292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05" y="3677077"/>
            <a:ext cx="19050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644" y="4006685"/>
            <a:ext cx="3952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81" y="4551528"/>
            <a:ext cx="302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957" y="4580103"/>
            <a:ext cx="8953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081" y="4665828"/>
            <a:ext cx="6381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81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97" y="464025"/>
            <a:ext cx="7872647" cy="1337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97" y="2323745"/>
            <a:ext cx="53911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3043238"/>
            <a:ext cx="81057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97" y="4073217"/>
            <a:ext cx="52578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97" y="4728879"/>
            <a:ext cx="51625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90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40" y="445400"/>
            <a:ext cx="68580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40" y="1420150"/>
            <a:ext cx="685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40" y="2000250"/>
            <a:ext cx="68580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40" y="3058520"/>
            <a:ext cx="68961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40" y="3846962"/>
            <a:ext cx="61055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21" y="4346172"/>
            <a:ext cx="68484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1495425" y="1944025"/>
            <a:ext cx="600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66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50184"/>
            <a:ext cx="47148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56" y="782756"/>
            <a:ext cx="7115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2" y="1639437"/>
            <a:ext cx="59340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56" y="2687329"/>
            <a:ext cx="59817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861" y="3641465"/>
            <a:ext cx="48672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87" y="4673435"/>
            <a:ext cx="46958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2" y="5710024"/>
            <a:ext cx="67341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31" y="1351125"/>
            <a:ext cx="61055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31" y="2201554"/>
            <a:ext cx="68484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073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04" y="232012"/>
            <a:ext cx="3794103" cy="37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37" y="859505"/>
            <a:ext cx="42767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88" y="1667919"/>
            <a:ext cx="365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26" y="2076292"/>
            <a:ext cx="26955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26" y="1271643"/>
            <a:ext cx="52482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26" y="2750093"/>
            <a:ext cx="37433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75" y="3184284"/>
            <a:ext cx="536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26" y="3655772"/>
            <a:ext cx="45053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325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04" y="232012"/>
            <a:ext cx="3794103" cy="37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93" y="1102151"/>
            <a:ext cx="8144950" cy="38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89" y="1786102"/>
            <a:ext cx="8449620" cy="784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0" y="3952614"/>
            <a:ext cx="8417783" cy="547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99" y="2661372"/>
            <a:ext cx="83915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73" y="3223347"/>
            <a:ext cx="409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593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54" y="720134"/>
            <a:ext cx="8512466" cy="630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4" y="1629273"/>
            <a:ext cx="8315199" cy="88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54" y="2694436"/>
            <a:ext cx="8402138" cy="86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4" y="3894983"/>
            <a:ext cx="7331512" cy="290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4" y="4398445"/>
            <a:ext cx="7894710" cy="104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4" y="5445457"/>
            <a:ext cx="8169080" cy="600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68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92" y="2933415"/>
            <a:ext cx="8315186" cy="1036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62" y="3969934"/>
            <a:ext cx="7908705" cy="151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28" y="133350"/>
            <a:ext cx="39528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203" y="833438"/>
            <a:ext cx="73342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806" y="1647825"/>
            <a:ext cx="15430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28" y="2324100"/>
            <a:ext cx="81343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94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10440</TotalTime>
  <Words>751</Words>
  <Application>Microsoft Office PowerPoint</Application>
  <PresentationFormat>On-screen Show (4:3)</PresentationFormat>
  <Paragraphs>70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2.4 Probability of an event</vt:lpstr>
      <vt:lpstr>PowerPoint Presentation</vt:lpstr>
      <vt:lpstr>PowerPoint Presentation</vt:lpstr>
      <vt:lpstr>PowerPoint Presentation</vt:lpstr>
      <vt:lpstr>PowerPoint Presentation</vt:lpstr>
      <vt:lpstr>Probability of an event</vt:lpstr>
      <vt:lpstr>PowerPoint Presentation</vt:lpstr>
      <vt:lpstr>Probability of an Event</vt:lpstr>
      <vt:lpstr>Probability of an Event</vt:lpstr>
      <vt:lpstr>Probability of an event</vt:lpstr>
      <vt:lpstr>Probability of an event</vt:lpstr>
      <vt:lpstr>PowerPoint Presentation</vt:lpstr>
      <vt:lpstr>2.5 Additive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858</cp:revision>
  <cp:lastPrinted>2017-08-04T10:23:33Z</cp:lastPrinted>
  <dcterms:created xsi:type="dcterms:W3CDTF">2017-07-19T17:50:20Z</dcterms:created>
  <dcterms:modified xsi:type="dcterms:W3CDTF">2024-02-14T05:42:48Z</dcterms:modified>
</cp:coreProperties>
</file>