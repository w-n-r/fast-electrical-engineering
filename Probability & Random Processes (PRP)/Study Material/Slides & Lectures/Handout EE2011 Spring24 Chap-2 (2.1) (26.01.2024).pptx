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15"/>
  </p:notesMasterIdLst>
  <p:handoutMasterIdLst>
    <p:handoutMasterId r:id="rId16"/>
  </p:handoutMasterIdLst>
  <p:sldIdLst>
    <p:sldId id="977" r:id="rId2"/>
    <p:sldId id="978" r:id="rId3"/>
    <p:sldId id="979" r:id="rId4"/>
    <p:sldId id="922" r:id="rId5"/>
    <p:sldId id="970" r:id="rId6"/>
    <p:sldId id="923" r:id="rId7"/>
    <p:sldId id="928" r:id="rId8"/>
    <p:sldId id="953" r:id="rId9"/>
    <p:sldId id="930" r:id="rId10"/>
    <p:sldId id="931" r:id="rId11"/>
    <p:sldId id="932" r:id="rId12"/>
    <p:sldId id="933" r:id="rId13"/>
    <p:sldId id="954" r:id="rId14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6" autoAdjust="0"/>
    <p:restoredTop sz="96797" autoAdjust="0"/>
  </p:normalViewPr>
  <p:slideViewPr>
    <p:cSldViewPr snapToGrid="0">
      <p:cViewPr varScale="1">
        <p:scale>
          <a:sx n="65" d="100"/>
          <a:sy n="65" d="100"/>
        </p:scale>
        <p:origin x="136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1/26/2024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6465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1/26/2024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99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 smtClean="0"/>
              <a:t>Statistics</a:t>
            </a:r>
            <a:endParaRPr lang="en-C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800" dirty="0" smtClean="0"/>
              <a:t>Statistics is a very </a:t>
            </a:r>
            <a:r>
              <a:rPr lang="en-CA" sz="2800" dirty="0" err="1" smtClean="0"/>
              <a:t>very</a:t>
            </a:r>
            <a:r>
              <a:rPr lang="en-CA" sz="2800" dirty="0" smtClean="0"/>
              <a:t> vey …. old subject!</a:t>
            </a:r>
          </a:p>
          <a:p>
            <a:r>
              <a:rPr lang="en-CA" sz="2800" dirty="0" smtClean="0"/>
              <a:t>How old do you think?</a:t>
            </a:r>
          </a:p>
          <a:p>
            <a:r>
              <a:rPr lang="en-CA" sz="2800" dirty="0" smtClean="0"/>
              <a:t>As older as the humans?</a:t>
            </a:r>
          </a:p>
          <a:p>
            <a:r>
              <a:rPr lang="en-CA" sz="2800" dirty="0" smtClean="0"/>
              <a:t>It’s about the:</a:t>
            </a:r>
          </a:p>
          <a:p>
            <a:pPr lvl="1"/>
            <a:r>
              <a:rPr lang="en-CA" sz="2400" dirty="0" smtClean="0"/>
              <a:t>Collection</a:t>
            </a:r>
          </a:p>
          <a:p>
            <a:pPr lvl="1"/>
            <a:r>
              <a:rPr lang="en-CA" sz="2400" dirty="0" smtClean="0"/>
              <a:t>Organization</a:t>
            </a:r>
          </a:p>
          <a:p>
            <a:pPr lvl="1"/>
            <a:r>
              <a:rPr lang="en-CA" sz="2400" dirty="0" smtClean="0"/>
              <a:t>Presentation</a:t>
            </a:r>
          </a:p>
          <a:p>
            <a:pPr lvl="1"/>
            <a:r>
              <a:rPr lang="en-CA" sz="2400" dirty="0" smtClean="0"/>
              <a:t>Interpretation, and</a:t>
            </a:r>
          </a:p>
          <a:p>
            <a:pPr lvl="1"/>
            <a:r>
              <a:rPr lang="en-CA" sz="2400" dirty="0" smtClean="0"/>
              <a:t>Analysis of Information</a:t>
            </a:r>
          </a:p>
          <a:p>
            <a:pPr lvl="1"/>
            <a:endParaRPr lang="en-CA" sz="2400" dirty="0" smtClean="0"/>
          </a:p>
        </p:txBody>
      </p:sp>
    </p:spTree>
    <p:extLst>
      <p:ext uri="{BB962C8B-B14F-4D97-AF65-F5344CB8AC3E}">
        <p14:creationId xmlns:p14="http://schemas.microsoft.com/office/powerpoint/2010/main" val="314874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 smtClean="0"/>
              <a:t>Some Questions to Ponder</a:t>
            </a:r>
            <a:endParaRPr lang="en-CA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sz="2400" dirty="0" smtClean="0"/>
              <a:t>What can be the sources of information data?</a:t>
            </a:r>
          </a:p>
          <a:p>
            <a:r>
              <a:rPr lang="en-CA" sz="2400" dirty="0" smtClean="0"/>
              <a:t>Can information </a:t>
            </a:r>
            <a:r>
              <a:rPr lang="en-CA" sz="2400" dirty="0"/>
              <a:t>data </a:t>
            </a:r>
            <a:r>
              <a:rPr lang="en-CA" sz="2400" dirty="0" smtClean="0"/>
              <a:t>be static or non varying?</a:t>
            </a:r>
            <a:endParaRPr lang="en-CA" sz="2400" dirty="0"/>
          </a:p>
          <a:p>
            <a:r>
              <a:rPr lang="en-CA" sz="2400" dirty="0" smtClean="0"/>
              <a:t>Can information </a:t>
            </a:r>
            <a:r>
              <a:rPr lang="en-CA" sz="2400" dirty="0"/>
              <a:t>data </a:t>
            </a:r>
            <a:r>
              <a:rPr lang="en-CA" sz="2400" dirty="0" smtClean="0"/>
              <a:t>be varying?</a:t>
            </a:r>
            <a:endParaRPr lang="en-CA" sz="2400" dirty="0"/>
          </a:p>
          <a:p>
            <a:r>
              <a:rPr lang="en-CA" sz="2400" dirty="0"/>
              <a:t>Can information data be </a:t>
            </a:r>
            <a:r>
              <a:rPr lang="en-CA" sz="2400" dirty="0" smtClean="0"/>
              <a:t>certain?</a:t>
            </a:r>
            <a:endParaRPr lang="en-CA" sz="2400" dirty="0"/>
          </a:p>
          <a:p>
            <a:r>
              <a:rPr lang="en-CA" sz="2400" dirty="0" smtClean="0"/>
              <a:t>Is </a:t>
            </a:r>
            <a:r>
              <a:rPr lang="en-CA" sz="2400" dirty="0"/>
              <a:t>information data always certain</a:t>
            </a:r>
            <a:r>
              <a:rPr lang="en-CA" sz="2400" dirty="0" smtClean="0"/>
              <a:t>?</a:t>
            </a:r>
          </a:p>
          <a:p>
            <a:r>
              <a:rPr lang="en-CA" sz="2400" dirty="0"/>
              <a:t>All these questions relate to Statistics</a:t>
            </a:r>
            <a:r>
              <a:rPr lang="en-CA" sz="2400" dirty="0" smtClean="0"/>
              <a:t>!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134772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Some Terminologies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i="1" dirty="0" smtClean="0"/>
              <a:t>Experiment </a:t>
            </a:r>
            <a:r>
              <a:rPr lang="en-CA" dirty="0"/>
              <a:t>describes the </a:t>
            </a:r>
            <a:r>
              <a:rPr lang="en-CA" u="sng" dirty="0"/>
              <a:t>process</a:t>
            </a:r>
            <a:r>
              <a:rPr lang="en-CA" dirty="0"/>
              <a:t> that generates a set of data</a:t>
            </a:r>
          </a:p>
          <a:p>
            <a:r>
              <a:rPr lang="en-CA" b="1" dirty="0" smtClean="0"/>
              <a:t>Some experiments</a:t>
            </a:r>
            <a:r>
              <a:rPr lang="en-CA" dirty="0" smtClean="0"/>
              <a:t> generate </a:t>
            </a:r>
            <a:r>
              <a:rPr lang="en-CA" u="sng" dirty="0" smtClean="0"/>
              <a:t>data</a:t>
            </a:r>
            <a:r>
              <a:rPr lang="en-CA" dirty="0" smtClean="0"/>
              <a:t> that is </a:t>
            </a:r>
            <a:r>
              <a:rPr lang="en-CA" u="sng" dirty="0" smtClean="0"/>
              <a:t>subject to uncertainties</a:t>
            </a:r>
          </a:p>
          <a:p>
            <a:r>
              <a:rPr lang="en-CA" b="1" dirty="0" smtClean="0"/>
              <a:t>Do most </a:t>
            </a:r>
            <a:r>
              <a:rPr lang="en-CA" b="1" dirty="0"/>
              <a:t>experiments</a:t>
            </a:r>
            <a:r>
              <a:rPr lang="en-CA" dirty="0"/>
              <a:t> generate </a:t>
            </a:r>
            <a:r>
              <a:rPr lang="en-CA" u="sng" dirty="0"/>
              <a:t>data</a:t>
            </a:r>
            <a:r>
              <a:rPr lang="en-CA" dirty="0"/>
              <a:t> that is </a:t>
            </a:r>
            <a:r>
              <a:rPr lang="en-CA" u="sng" dirty="0"/>
              <a:t>subject to </a:t>
            </a:r>
            <a:r>
              <a:rPr lang="en-CA" u="sng" dirty="0" smtClean="0"/>
              <a:t>uncertainties?</a:t>
            </a:r>
            <a:endParaRPr lang="en-CA" u="sng" dirty="0"/>
          </a:p>
          <a:p>
            <a:r>
              <a:rPr lang="en-CA" dirty="0" smtClean="0"/>
              <a:t>Recording </a:t>
            </a:r>
            <a:r>
              <a:rPr lang="en-CA" dirty="0"/>
              <a:t>of information is </a:t>
            </a:r>
            <a:r>
              <a:rPr lang="en-CA" b="1" i="1" dirty="0" smtClean="0"/>
              <a:t>Observation</a:t>
            </a:r>
          </a:p>
          <a:p>
            <a:r>
              <a:rPr lang="en-CA" b="1" i="1" dirty="0" smtClean="0"/>
              <a:t>Categorical data </a:t>
            </a:r>
            <a:r>
              <a:rPr lang="en-CA" dirty="0"/>
              <a:t>is classified according to some criteria</a:t>
            </a:r>
          </a:p>
          <a:p>
            <a:r>
              <a:rPr lang="en-CA" dirty="0" smtClean="0"/>
              <a:t>Statistics </a:t>
            </a:r>
            <a:r>
              <a:rPr lang="en-CA" dirty="0"/>
              <a:t>is about “</a:t>
            </a:r>
            <a:r>
              <a:rPr lang="en-CA" b="1" i="1" dirty="0"/>
              <a:t>Chance Outcome</a:t>
            </a:r>
            <a:r>
              <a:rPr lang="en-CA" dirty="0"/>
              <a:t>” that occurs in a planned study or investigation</a:t>
            </a:r>
          </a:p>
          <a:p>
            <a:r>
              <a:rPr lang="en-CA" dirty="0" smtClean="0"/>
              <a:t>There are three </a:t>
            </a:r>
            <a:r>
              <a:rPr lang="en-CA" dirty="0"/>
              <a:t>types of Statistical Studies</a:t>
            </a:r>
          </a:p>
          <a:p>
            <a:pPr lvl="1"/>
            <a:r>
              <a:rPr lang="en-CA" dirty="0"/>
              <a:t>Designed Experiment</a:t>
            </a:r>
          </a:p>
          <a:p>
            <a:pPr lvl="1"/>
            <a:r>
              <a:rPr lang="en-CA" dirty="0"/>
              <a:t>Observational Studies</a:t>
            </a:r>
          </a:p>
          <a:p>
            <a:pPr lvl="1"/>
            <a:r>
              <a:rPr lang="en-CA" dirty="0"/>
              <a:t>Retrospective studies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88488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Statistical Studies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Designed </a:t>
            </a:r>
            <a:r>
              <a:rPr lang="en-CA" dirty="0" smtClean="0"/>
              <a:t>Experiment</a:t>
            </a:r>
          </a:p>
          <a:p>
            <a:pPr lvl="1"/>
            <a:r>
              <a:rPr lang="en-CA" dirty="0"/>
              <a:t>Design of experiments (DOE) </a:t>
            </a:r>
            <a:r>
              <a:rPr lang="en-CA" u="sng" dirty="0" smtClean="0"/>
              <a:t>deals </a:t>
            </a:r>
            <a:r>
              <a:rPr lang="en-CA" u="sng" dirty="0"/>
              <a:t>with planning, conducting, analyzing, and interpreting controlled tests </a:t>
            </a:r>
            <a:endParaRPr lang="en-CA" u="sng" dirty="0" smtClean="0"/>
          </a:p>
          <a:p>
            <a:pPr lvl="1"/>
            <a:r>
              <a:rPr lang="en-CA" u="sng" dirty="0" smtClean="0"/>
              <a:t>to </a:t>
            </a:r>
            <a:r>
              <a:rPr lang="en-CA" u="sng" dirty="0"/>
              <a:t>evaluate the factors </a:t>
            </a:r>
            <a:endParaRPr lang="en-CA" u="sng" dirty="0" smtClean="0"/>
          </a:p>
          <a:p>
            <a:pPr lvl="1"/>
            <a:r>
              <a:rPr lang="en-CA" u="sng" dirty="0">
                <a:solidFill>
                  <a:srgbClr val="C00000"/>
                </a:solidFill>
              </a:rPr>
              <a:t>t</a:t>
            </a:r>
            <a:r>
              <a:rPr lang="en-CA" u="sng" dirty="0" smtClean="0">
                <a:solidFill>
                  <a:srgbClr val="C00000"/>
                </a:solidFill>
              </a:rPr>
              <a:t>hat</a:t>
            </a:r>
            <a:r>
              <a:rPr lang="en-CA" u="sng" dirty="0" smtClean="0"/>
              <a:t> </a:t>
            </a:r>
            <a:r>
              <a:rPr lang="en-CA" u="sng" dirty="0" smtClean="0">
                <a:solidFill>
                  <a:srgbClr val="C00000"/>
                </a:solidFill>
              </a:rPr>
              <a:t>control </a:t>
            </a:r>
            <a:r>
              <a:rPr lang="en-CA" u="sng" dirty="0">
                <a:solidFill>
                  <a:srgbClr val="C00000"/>
                </a:solidFill>
              </a:rPr>
              <a:t>the value of a </a:t>
            </a:r>
            <a:r>
              <a:rPr lang="en-CA" u="sng" dirty="0" smtClean="0">
                <a:solidFill>
                  <a:srgbClr val="C00000"/>
                </a:solidFill>
              </a:rPr>
              <a:t>parameter</a:t>
            </a:r>
            <a:r>
              <a:rPr lang="en-CA" dirty="0" smtClean="0">
                <a:solidFill>
                  <a:srgbClr val="C00000"/>
                </a:solidFill>
              </a:rPr>
              <a:t>.</a:t>
            </a:r>
            <a:endParaRPr lang="en-CA" dirty="0">
              <a:solidFill>
                <a:srgbClr val="C00000"/>
              </a:solidFill>
            </a:endParaRPr>
          </a:p>
          <a:p>
            <a:r>
              <a:rPr lang="en-CA" dirty="0" smtClean="0"/>
              <a:t>Observational Studies</a:t>
            </a:r>
          </a:p>
          <a:p>
            <a:pPr lvl="1"/>
            <a:r>
              <a:rPr lang="en-CA" dirty="0" smtClean="0"/>
              <a:t>An </a:t>
            </a:r>
            <a:r>
              <a:rPr lang="en-CA" dirty="0"/>
              <a:t>observational study draws inferences from a sample to a population </a:t>
            </a:r>
            <a:endParaRPr lang="en-CA" dirty="0" smtClean="0"/>
          </a:p>
          <a:p>
            <a:pPr lvl="1"/>
            <a:r>
              <a:rPr lang="en-CA" dirty="0" smtClean="0"/>
              <a:t>where </a:t>
            </a:r>
            <a:r>
              <a:rPr lang="en-CA" dirty="0"/>
              <a:t>the </a:t>
            </a:r>
            <a:r>
              <a:rPr lang="en-CA" u="sng" dirty="0"/>
              <a:t>independent variable is not under the control of the researcher </a:t>
            </a:r>
            <a:endParaRPr lang="en-CA" u="sng" dirty="0" smtClean="0"/>
          </a:p>
          <a:p>
            <a:pPr lvl="1"/>
            <a:r>
              <a:rPr lang="en-CA" dirty="0" smtClean="0"/>
              <a:t>because </a:t>
            </a:r>
            <a:r>
              <a:rPr lang="en-CA" dirty="0"/>
              <a:t>of ethical concerns or logistical constraints</a:t>
            </a:r>
          </a:p>
          <a:p>
            <a:r>
              <a:rPr lang="en-CA" dirty="0"/>
              <a:t>  Retrospective studies </a:t>
            </a:r>
            <a:endParaRPr lang="en-CA" dirty="0" smtClean="0"/>
          </a:p>
          <a:p>
            <a:pPr lvl="1">
              <a:lnSpc>
                <a:spcPct val="100000"/>
              </a:lnSpc>
            </a:pPr>
            <a:r>
              <a:rPr lang="en-CA" dirty="0"/>
              <a:t>A retrospective study is </a:t>
            </a:r>
            <a:r>
              <a:rPr lang="en-CA" u="sng" dirty="0"/>
              <a:t>performed </a:t>
            </a:r>
            <a:endParaRPr lang="en-CA" u="sng" dirty="0" smtClean="0"/>
          </a:p>
          <a:p>
            <a:pPr lvl="1">
              <a:lnSpc>
                <a:spcPct val="100000"/>
              </a:lnSpc>
            </a:pPr>
            <a:r>
              <a:rPr lang="en-CA" u="sng" dirty="0" smtClean="0"/>
              <a:t>a </a:t>
            </a:r>
            <a:r>
              <a:rPr lang="en-CA" u="sng" dirty="0"/>
              <a:t>posteriori, using information on events that have taken place in the past</a:t>
            </a:r>
            <a:r>
              <a:rPr lang="en-CA" dirty="0"/>
              <a:t>. </a:t>
            </a:r>
          </a:p>
          <a:p>
            <a:pPr lvl="1"/>
            <a:r>
              <a:rPr lang="en-US" i="1" dirty="0" smtClean="0"/>
              <a:t>A </a:t>
            </a:r>
            <a:r>
              <a:rPr lang="en-US" i="1" dirty="0"/>
              <a:t>posteriori</a:t>
            </a:r>
            <a:r>
              <a:rPr lang="en-US" dirty="0"/>
              <a:t>, Latin for "from the latter", is a term from logic, which usually refers to reasoning that works backward from an effect to its causes. 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a </a:t>
            </a:r>
            <a:r>
              <a:rPr lang="en-US" dirty="0" smtClean="0"/>
              <a:t>way, </a:t>
            </a:r>
            <a:r>
              <a:rPr lang="en-US" dirty="0"/>
              <a:t>based on reasoning from known facts or past </a:t>
            </a:r>
            <a:r>
              <a:rPr lang="en-US" dirty="0" smtClean="0"/>
              <a:t>events, </a:t>
            </a:r>
            <a:r>
              <a:rPr lang="en-US" dirty="0"/>
              <a:t>rather than by making assumptions or predictions.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62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2.1 Sample Space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The set of </a:t>
            </a:r>
            <a:r>
              <a:rPr lang="en-CA" i="1" u="sng" dirty="0" smtClean="0"/>
              <a:t>all possible outcomes </a:t>
            </a:r>
            <a:r>
              <a:rPr lang="en-CA" dirty="0" smtClean="0"/>
              <a:t>of a </a:t>
            </a:r>
            <a:r>
              <a:rPr lang="en-CA" i="1" u="sng" dirty="0" smtClean="0"/>
              <a:t>statistical exper</a:t>
            </a:r>
            <a:r>
              <a:rPr lang="en-CA" dirty="0" smtClean="0"/>
              <a:t>iment is called the </a:t>
            </a:r>
            <a:r>
              <a:rPr lang="en-CA" b="1" i="1" dirty="0"/>
              <a:t>S</a:t>
            </a:r>
            <a:r>
              <a:rPr lang="en-CA" b="1" i="1" dirty="0" smtClean="0"/>
              <a:t>ample </a:t>
            </a:r>
            <a:r>
              <a:rPr lang="en-CA" b="1" i="1" dirty="0"/>
              <a:t>S</a:t>
            </a:r>
            <a:r>
              <a:rPr lang="en-CA" b="1" i="1" dirty="0" smtClean="0"/>
              <a:t>pace </a:t>
            </a:r>
            <a:r>
              <a:rPr lang="en-CA" dirty="0" smtClean="0"/>
              <a:t>and is represented </a:t>
            </a:r>
            <a:r>
              <a:rPr lang="en-CA" dirty="0"/>
              <a:t>b</a:t>
            </a:r>
            <a:r>
              <a:rPr lang="en-CA" dirty="0" smtClean="0"/>
              <a:t>y the symbol </a:t>
            </a:r>
            <a:r>
              <a:rPr lang="en-CA" b="1" i="1" dirty="0" smtClean="0"/>
              <a:t>S</a:t>
            </a:r>
            <a:r>
              <a:rPr lang="en-CA" dirty="0" smtClean="0"/>
              <a:t>.</a:t>
            </a:r>
          </a:p>
          <a:p>
            <a:r>
              <a:rPr lang="en-CA" dirty="0"/>
              <a:t>Each outcome in a sample space is called an element </a:t>
            </a:r>
            <a:endParaRPr lang="en-CA" dirty="0" smtClean="0"/>
          </a:p>
          <a:p>
            <a:r>
              <a:rPr lang="en-CA" dirty="0" smtClean="0"/>
              <a:t>or </a:t>
            </a:r>
            <a:r>
              <a:rPr lang="en-CA" dirty="0"/>
              <a:t>a member of </a:t>
            </a:r>
            <a:r>
              <a:rPr lang="en-CA" dirty="0" smtClean="0"/>
              <a:t>the sample </a:t>
            </a:r>
            <a:r>
              <a:rPr lang="en-CA" dirty="0"/>
              <a:t>space, </a:t>
            </a:r>
            <a:endParaRPr lang="en-CA" dirty="0" smtClean="0"/>
          </a:p>
          <a:p>
            <a:r>
              <a:rPr lang="en-CA" dirty="0" smtClean="0"/>
              <a:t>or </a:t>
            </a:r>
            <a:r>
              <a:rPr lang="en-CA" dirty="0"/>
              <a:t>simply a sample point. </a:t>
            </a:r>
            <a:endParaRPr lang="en-CA" dirty="0" smtClean="0"/>
          </a:p>
          <a:p>
            <a:r>
              <a:rPr lang="en-CA" dirty="0" smtClean="0"/>
              <a:t>If </a:t>
            </a:r>
            <a:r>
              <a:rPr lang="en-CA" dirty="0"/>
              <a:t>the sample space has a ﬁnite </a:t>
            </a:r>
            <a:r>
              <a:rPr lang="en-CA" dirty="0" smtClean="0"/>
              <a:t>number of </a:t>
            </a:r>
            <a:r>
              <a:rPr lang="en-CA" dirty="0"/>
              <a:t>elements, </a:t>
            </a:r>
            <a:endParaRPr lang="en-CA" dirty="0" smtClean="0"/>
          </a:p>
          <a:p>
            <a:r>
              <a:rPr lang="en-CA" dirty="0" smtClean="0"/>
              <a:t>we </a:t>
            </a:r>
            <a:r>
              <a:rPr lang="en-CA" dirty="0"/>
              <a:t>may list the members separated by commas and enclosed in braces.</a:t>
            </a:r>
          </a:p>
          <a:p>
            <a:r>
              <a:rPr lang="en-CA" dirty="0"/>
              <a:t>Thus, the sample space S, of possible outcomes when a coin is ﬂipped, </a:t>
            </a:r>
            <a:r>
              <a:rPr lang="en-CA" dirty="0" smtClean="0"/>
              <a:t>may be written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6" y="5406358"/>
            <a:ext cx="1514475" cy="3714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19" y="5801185"/>
            <a:ext cx="65532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6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14" y="505678"/>
            <a:ext cx="8184220" cy="1104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14" y="2003030"/>
            <a:ext cx="4181475" cy="685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14" y="2822447"/>
            <a:ext cx="6219825" cy="3429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974" y="3298964"/>
            <a:ext cx="4171950" cy="419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974" y="3781948"/>
            <a:ext cx="6562725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74" y="4303032"/>
            <a:ext cx="483870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2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Sample Space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 smtClean="0"/>
              <a:t>What did Example </a:t>
            </a:r>
            <a:r>
              <a:rPr lang="en-CA" dirty="0"/>
              <a:t>2.1 </a:t>
            </a:r>
            <a:r>
              <a:rPr lang="en-CA" dirty="0" smtClean="0"/>
              <a:t>illustrate?</a:t>
            </a:r>
          </a:p>
          <a:p>
            <a:r>
              <a:rPr lang="en-CA" dirty="0" smtClean="0"/>
              <a:t>the </a:t>
            </a:r>
            <a:r>
              <a:rPr lang="en-CA" dirty="0"/>
              <a:t>fact that more than one sample space can be used </a:t>
            </a:r>
            <a:r>
              <a:rPr lang="en-CA" dirty="0" smtClean="0"/>
              <a:t>to describe </a:t>
            </a:r>
            <a:r>
              <a:rPr lang="en-CA" dirty="0"/>
              <a:t>the outcomes of an </a:t>
            </a:r>
            <a:r>
              <a:rPr lang="en-CA" dirty="0" smtClean="0"/>
              <a:t>experiment</a:t>
            </a:r>
          </a:p>
          <a:p>
            <a:r>
              <a:rPr lang="en-CA" dirty="0" smtClean="0"/>
              <a:t>In </a:t>
            </a:r>
            <a:r>
              <a:rPr lang="en-CA" dirty="0"/>
              <a:t>this case, </a:t>
            </a:r>
            <a:r>
              <a:rPr lang="en-CA" dirty="0" smtClean="0"/>
              <a:t>S</a:t>
            </a:r>
            <a:r>
              <a:rPr lang="en-CA" baseline="-25000" dirty="0" smtClean="0"/>
              <a:t>1</a:t>
            </a:r>
            <a:r>
              <a:rPr lang="en-CA" dirty="0" smtClean="0"/>
              <a:t> provides more information than S</a:t>
            </a:r>
            <a:r>
              <a:rPr lang="en-CA" baseline="-25000" dirty="0" smtClean="0"/>
              <a:t>2</a:t>
            </a:r>
            <a:endParaRPr lang="en-CA" dirty="0"/>
          </a:p>
          <a:p>
            <a:r>
              <a:rPr lang="en-CA" dirty="0" smtClean="0"/>
              <a:t>If </a:t>
            </a:r>
            <a:r>
              <a:rPr lang="en-CA" dirty="0"/>
              <a:t>we know which element in S</a:t>
            </a:r>
            <a:r>
              <a:rPr lang="en-CA" baseline="-25000" dirty="0"/>
              <a:t>1 </a:t>
            </a:r>
            <a:r>
              <a:rPr lang="en-CA" dirty="0" smtClean="0"/>
              <a:t>occurs we can tell which outcome in </a:t>
            </a:r>
            <a:r>
              <a:rPr lang="en-CA" dirty="0"/>
              <a:t>S</a:t>
            </a:r>
            <a:r>
              <a:rPr lang="en-CA" baseline="-25000" dirty="0"/>
              <a:t>2</a:t>
            </a:r>
            <a:r>
              <a:rPr lang="en-CA" dirty="0" smtClean="0"/>
              <a:t> occurs</a:t>
            </a:r>
          </a:p>
          <a:p>
            <a:r>
              <a:rPr lang="en-CA" dirty="0"/>
              <a:t>H</a:t>
            </a:r>
            <a:r>
              <a:rPr lang="en-CA" dirty="0" smtClean="0"/>
              <a:t>owever</a:t>
            </a:r>
            <a:r>
              <a:rPr lang="en-CA" dirty="0"/>
              <a:t>, a knowledge of what happens in S</a:t>
            </a:r>
            <a:r>
              <a:rPr lang="en-CA" baseline="-25000" dirty="0"/>
              <a:t>2 </a:t>
            </a:r>
            <a:r>
              <a:rPr lang="en-CA" dirty="0" smtClean="0"/>
              <a:t>is </a:t>
            </a:r>
            <a:r>
              <a:rPr lang="en-CA" dirty="0"/>
              <a:t>of little help in </a:t>
            </a:r>
            <a:r>
              <a:rPr lang="en-CA" dirty="0" smtClean="0"/>
              <a:t>determining which </a:t>
            </a:r>
            <a:r>
              <a:rPr lang="en-CA" dirty="0"/>
              <a:t>element in S</a:t>
            </a:r>
            <a:r>
              <a:rPr lang="en-CA" baseline="-25000" dirty="0"/>
              <a:t>1 </a:t>
            </a:r>
            <a:r>
              <a:rPr lang="en-CA" dirty="0" smtClean="0"/>
              <a:t>occurs</a:t>
            </a:r>
          </a:p>
          <a:p>
            <a:r>
              <a:rPr lang="en-CA" dirty="0" smtClean="0"/>
              <a:t>In </a:t>
            </a:r>
            <a:r>
              <a:rPr lang="en-CA" dirty="0"/>
              <a:t>general, it is desirable to use the sample space </a:t>
            </a:r>
            <a:r>
              <a:rPr lang="en-CA" dirty="0" smtClean="0"/>
              <a:t>that gives </a:t>
            </a:r>
            <a:r>
              <a:rPr lang="en-CA" dirty="0"/>
              <a:t>the most information concerning the outcomes of the </a:t>
            </a:r>
            <a:r>
              <a:rPr lang="en-CA" dirty="0" smtClean="0"/>
              <a:t>experiment</a:t>
            </a:r>
          </a:p>
          <a:p>
            <a:r>
              <a:rPr lang="en-CA" dirty="0" smtClean="0"/>
              <a:t>In some experiments</a:t>
            </a:r>
            <a:r>
              <a:rPr lang="en-CA" dirty="0"/>
              <a:t>, it is helpful to list the elements of the sample space systematically </a:t>
            </a:r>
            <a:r>
              <a:rPr lang="en-CA" dirty="0" smtClean="0"/>
              <a:t>by means </a:t>
            </a:r>
            <a:r>
              <a:rPr lang="en-CA" dirty="0"/>
              <a:t>of a tree </a:t>
            </a:r>
            <a:r>
              <a:rPr lang="en-CA" dirty="0" smtClean="0"/>
              <a:t>diagram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3272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159" y="2353455"/>
            <a:ext cx="4635884" cy="4210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69" y="99859"/>
            <a:ext cx="8372475" cy="857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69" y="1409863"/>
            <a:ext cx="7381875" cy="3143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69" y="1021136"/>
            <a:ext cx="6134100" cy="30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69" y="1832344"/>
            <a:ext cx="4543425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318376"/>
            <a:ext cx="78581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891511"/>
            <a:ext cx="78962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1740089"/>
            <a:ext cx="78867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47" y="2681287"/>
            <a:ext cx="76676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728" y="3526324"/>
            <a:ext cx="3628662" cy="3295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898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166" y="2167901"/>
            <a:ext cx="4791214" cy="41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07788"/>
            <a:ext cx="88296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90386" y="1018492"/>
            <a:ext cx="3388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Draw Tree diagram of example 2.3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386" y="138880"/>
            <a:ext cx="8372475" cy="838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811" y="1429236"/>
            <a:ext cx="840105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6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86" y="284528"/>
            <a:ext cx="7862744" cy="591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86" y="1265190"/>
            <a:ext cx="8309220" cy="1041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451" y="2306472"/>
            <a:ext cx="4791214" cy="41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00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13" y="314041"/>
            <a:ext cx="82391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972690"/>
            <a:ext cx="80391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63" y="5680738"/>
            <a:ext cx="79914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13" y="1031614"/>
            <a:ext cx="8172450" cy="6000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113" y="1796812"/>
            <a:ext cx="8305800" cy="4000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626" y="2898976"/>
            <a:ext cx="3676650" cy="266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626" y="2267128"/>
            <a:ext cx="7943850" cy="523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619" y="3381522"/>
            <a:ext cx="8010525" cy="828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626" y="4407517"/>
            <a:ext cx="539115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19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9605</TotalTime>
  <Words>451</Words>
  <Application>Microsoft Office PowerPoint</Application>
  <PresentationFormat>On-screen Show (4:3)</PresentationFormat>
  <Paragraphs>62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Statistics</vt:lpstr>
      <vt:lpstr>Some Questions to Ponder</vt:lpstr>
      <vt:lpstr>Some Terminologies</vt:lpstr>
      <vt:lpstr>Statistical Studies</vt:lpstr>
      <vt:lpstr>2.1 Sample Space</vt:lpstr>
      <vt:lpstr>PowerPoint Presentation</vt:lpstr>
      <vt:lpstr>Sample Space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818</cp:revision>
  <cp:lastPrinted>2017-08-04T10:23:33Z</cp:lastPrinted>
  <dcterms:created xsi:type="dcterms:W3CDTF">2017-07-19T17:50:20Z</dcterms:created>
  <dcterms:modified xsi:type="dcterms:W3CDTF">2024-01-26T06:06:01Z</dcterms:modified>
</cp:coreProperties>
</file>