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19"/>
  </p:notesMasterIdLst>
  <p:handoutMasterIdLst>
    <p:handoutMasterId r:id="rId20"/>
  </p:handoutMasterIdLst>
  <p:sldIdLst>
    <p:sldId id="977" r:id="rId2"/>
    <p:sldId id="945" r:id="rId3"/>
    <p:sldId id="934" r:id="rId4"/>
    <p:sldId id="946" r:id="rId5"/>
    <p:sldId id="947" r:id="rId6"/>
    <p:sldId id="939" r:id="rId7"/>
    <p:sldId id="949" r:id="rId8"/>
    <p:sldId id="935" r:id="rId9"/>
    <p:sldId id="950" r:id="rId10"/>
    <p:sldId id="936" r:id="rId11"/>
    <p:sldId id="951" r:id="rId12"/>
    <p:sldId id="937" r:id="rId13"/>
    <p:sldId id="938" r:id="rId14"/>
    <p:sldId id="940" r:id="rId15"/>
    <p:sldId id="941" r:id="rId16"/>
    <p:sldId id="942" r:id="rId17"/>
    <p:sldId id="943" r:id="rId18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65" d="100"/>
          <a:sy n="65" d="100"/>
        </p:scale>
        <p:origin x="136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1/26/2024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646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99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2.2 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For any given experiment, we may be interested in the occurrence of certain </a:t>
            </a:r>
            <a:r>
              <a:rPr lang="en-CA" dirty="0" smtClean="0"/>
              <a:t>events rather </a:t>
            </a:r>
            <a:r>
              <a:rPr lang="en-CA" dirty="0"/>
              <a:t>than in the occurrence of a speciﬁc element in the sample space. </a:t>
            </a:r>
            <a:endParaRPr lang="en-CA" dirty="0" smtClean="0"/>
          </a:p>
          <a:p>
            <a:r>
              <a:rPr lang="en-CA" dirty="0" smtClean="0"/>
              <a:t>To </a:t>
            </a:r>
            <a:r>
              <a:rPr lang="en-CA" dirty="0"/>
              <a:t>each event we assign a collection of sample points, which constitute a </a:t>
            </a:r>
            <a:r>
              <a:rPr lang="en-CA" dirty="0" smtClean="0"/>
              <a:t>subset of </a:t>
            </a:r>
            <a:r>
              <a:rPr lang="en-CA" dirty="0"/>
              <a:t>the sample space. </a:t>
            </a:r>
            <a:endParaRPr lang="en-CA" dirty="0" smtClean="0"/>
          </a:p>
          <a:p>
            <a:r>
              <a:rPr lang="en-CA" dirty="0" smtClean="0"/>
              <a:t>That </a:t>
            </a:r>
            <a:r>
              <a:rPr lang="en-CA" dirty="0"/>
              <a:t>subset </a:t>
            </a:r>
            <a:r>
              <a:rPr lang="en-CA" dirty="0" smtClean="0"/>
              <a:t>represents </a:t>
            </a:r>
            <a:r>
              <a:rPr lang="en-CA" dirty="0"/>
              <a:t>all of the elements for </a:t>
            </a:r>
            <a:r>
              <a:rPr lang="en-CA" dirty="0" smtClean="0"/>
              <a:t>which the event is true.</a:t>
            </a:r>
          </a:p>
          <a:p>
            <a:r>
              <a:rPr lang="en-CA" dirty="0"/>
              <a:t>For instance, we may be interested in the event A that the outcome when a die is tossed is divisible by 3. </a:t>
            </a:r>
          </a:p>
          <a:p>
            <a:r>
              <a:rPr lang="en-CA" dirty="0"/>
              <a:t>This will occur if the outcome is an element of the subset A = {3, 6} of the sample space S in Example 2.1. </a:t>
            </a:r>
          </a:p>
          <a:p>
            <a:r>
              <a:rPr lang="en-CA" dirty="0"/>
              <a:t>As a further illustration, we may be interested in the event B that the number of defectives is greater than 1 in Example 2.3. </a:t>
            </a:r>
            <a:endParaRPr lang="en-CA" dirty="0" smtClean="0"/>
          </a:p>
          <a:p>
            <a:r>
              <a:rPr lang="en-CA" dirty="0" smtClean="0"/>
              <a:t>This </a:t>
            </a:r>
            <a:r>
              <a:rPr lang="en-CA" dirty="0"/>
              <a:t>will occur if the outcome is an element of the subset </a:t>
            </a:r>
            <a:endParaRPr lang="en-CA" dirty="0" smtClean="0"/>
          </a:p>
          <a:p>
            <a:pPr marL="0" indent="0" algn="ctr">
              <a:buNone/>
            </a:pPr>
            <a:r>
              <a:rPr lang="en-CA" dirty="0" smtClean="0"/>
              <a:t>B </a:t>
            </a:r>
            <a:r>
              <a:rPr lang="en-CA" dirty="0"/>
              <a:t>= {DDN, DND, NDD,DDD</a:t>
            </a:r>
            <a:r>
              <a:rPr lang="en-CA" dirty="0" smtClean="0"/>
              <a:t>} of </a:t>
            </a:r>
            <a:r>
              <a:rPr lang="en-CA" dirty="0"/>
              <a:t>the sample space </a:t>
            </a:r>
            <a:r>
              <a:rPr lang="en-CA" dirty="0" smtClean="0"/>
              <a:t>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05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4" y="1120182"/>
            <a:ext cx="7894496" cy="8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2986087"/>
            <a:ext cx="8201025" cy="885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" y="4038908"/>
            <a:ext cx="6038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7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Events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It </a:t>
            </a:r>
            <a:r>
              <a:rPr lang="en-CA" dirty="0"/>
              <a:t>is conceivable that an event may be a subset that includes the entire </a:t>
            </a:r>
            <a:r>
              <a:rPr lang="en-CA" dirty="0" smtClean="0"/>
              <a:t>sample space </a:t>
            </a:r>
            <a:r>
              <a:rPr lang="en-CA" dirty="0"/>
              <a:t>S or a subset of S called the null set and denoted by the symbol </a:t>
            </a:r>
            <a:r>
              <a:rPr lang="el-GR" dirty="0" smtClean="0"/>
              <a:t>φ</a:t>
            </a:r>
            <a:r>
              <a:rPr lang="en-CA" dirty="0" smtClean="0"/>
              <a:t>, which contains </a:t>
            </a:r>
            <a:r>
              <a:rPr lang="en-CA" dirty="0"/>
              <a:t>no elements at all. </a:t>
            </a:r>
            <a:endParaRPr lang="en-CA" dirty="0" smtClean="0"/>
          </a:p>
          <a:p>
            <a:r>
              <a:rPr lang="en-CA" dirty="0" smtClean="0"/>
              <a:t>For </a:t>
            </a:r>
            <a:r>
              <a:rPr lang="en-CA" dirty="0"/>
              <a:t>instance, if we let A be the event of detecting </a:t>
            </a:r>
            <a:r>
              <a:rPr lang="en-CA" dirty="0" smtClean="0"/>
              <a:t>a microscopic </a:t>
            </a:r>
            <a:r>
              <a:rPr lang="en-CA" dirty="0"/>
              <a:t>organism by the naked eye in a biological experiment, then A = </a:t>
            </a:r>
            <a:r>
              <a:rPr lang="el-GR" dirty="0" smtClean="0"/>
              <a:t>φ</a:t>
            </a:r>
            <a:r>
              <a:rPr lang="en-CA" dirty="0" smtClean="0"/>
              <a:t>.</a:t>
            </a:r>
          </a:p>
          <a:p>
            <a:r>
              <a:rPr lang="en-CA" dirty="0" smtClean="0"/>
              <a:t>Also</a:t>
            </a:r>
            <a:r>
              <a:rPr lang="en-CA" dirty="0"/>
              <a:t>, if</a:t>
            </a:r>
          </a:p>
          <a:p>
            <a:pPr marL="0" indent="0" algn="ctr">
              <a:buNone/>
            </a:pPr>
            <a:r>
              <a:rPr lang="en-CA" dirty="0"/>
              <a:t>B = {x | x is an even factor of 7},</a:t>
            </a:r>
          </a:p>
          <a:p>
            <a:pPr marL="0" indent="0">
              <a:buNone/>
            </a:pPr>
            <a:r>
              <a:rPr lang="en-CA" dirty="0" smtClean="0"/>
              <a:t>then </a:t>
            </a:r>
            <a:r>
              <a:rPr lang="en-CA" dirty="0"/>
              <a:t>B must be the null set, since the only possible factors of 7 are </a:t>
            </a:r>
            <a:r>
              <a:rPr lang="en-CA" dirty="0" smtClean="0"/>
              <a:t>      the </a:t>
            </a:r>
            <a:r>
              <a:rPr lang="en-CA" dirty="0"/>
              <a:t>odd </a:t>
            </a:r>
            <a:r>
              <a:rPr lang="en-CA" dirty="0" smtClean="0"/>
              <a:t>numbers 1 and 7.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87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Events -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Consider </a:t>
            </a:r>
            <a:r>
              <a:rPr lang="en-CA" dirty="0"/>
              <a:t>an experiment where the smoking habits of the employees of a </a:t>
            </a:r>
            <a:r>
              <a:rPr lang="en-CA" dirty="0" smtClean="0"/>
              <a:t>manufacturing </a:t>
            </a:r>
            <a:r>
              <a:rPr lang="en-CA" dirty="0"/>
              <a:t>ﬁrm are </a:t>
            </a:r>
            <a:r>
              <a:rPr lang="en-CA" dirty="0" smtClean="0"/>
              <a:t>recorded</a:t>
            </a:r>
          </a:p>
          <a:p>
            <a:r>
              <a:rPr lang="en-CA" dirty="0" smtClean="0"/>
              <a:t>A </a:t>
            </a:r>
            <a:r>
              <a:rPr lang="en-CA" dirty="0"/>
              <a:t>possible sample space might classify an </a:t>
            </a:r>
            <a:r>
              <a:rPr lang="en-CA" dirty="0" smtClean="0"/>
              <a:t>individual as </a:t>
            </a:r>
            <a:r>
              <a:rPr lang="en-CA" dirty="0"/>
              <a:t>a </a:t>
            </a:r>
            <a:r>
              <a:rPr lang="en-CA" dirty="0" smtClean="0"/>
              <a:t>non-smoker, </a:t>
            </a:r>
            <a:r>
              <a:rPr lang="en-CA" dirty="0"/>
              <a:t>a light smoker, a moderate smoker, or a heavy </a:t>
            </a:r>
            <a:r>
              <a:rPr lang="en-CA" dirty="0" smtClean="0"/>
              <a:t>smoker</a:t>
            </a:r>
          </a:p>
          <a:p>
            <a:r>
              <a:rPr lang="en-CA" dirty="0" smtClean="0"/>
              <a:t>Let the subset </a:t>
            </a:r>
            <a:r>
              <a:rPr lang="en-CA" dirty="0"/>
              <a:t>of smokers be some </a:t>
            </a:r>
            <a:r>
              <a:rPr lang="en-CA" dirty="0" smtClean="0"/>
              <a:t>event</a:t>
            </a:r>
          </a:p>
          <a:p>
            <a:r>
              <a:rPr lang="en-CA" dirty="0" smtClean="0"/>
              <a:t>Then </a:t>
            </a:r>
            <a:r>
              <a:rPr lang="en-CA" dirty="0"/>
              <a:t>all the </a:t>
            </a:r>
            <a:r>
              <a:rPr lang="en-CA" dirty="0" smtClean="0"/>
              <a:t>non-smokers </a:t>
            </a:r>
            <a:r>
              <a:rPr lang="en-CA" dirty="0"/>
              <a:t>correspond to a </a:t>
            </a:r>
            <a:r>
              <a:rPr lang="en-CA" dirty="0" smtClean="0"/>
              <a:t>diﬀerent event</a:t>
            </a:r>
            <a:r>
              <a:rPr lang="en-CA" dirty="0"/>
              <a:t>, also a subset of S, which is called the </a:t>
            </a:r>
            <a:r>
              <a:rPr lang="en-CA" b="1" dirty="0"/>
              <a:t>complement</a:t>
            </a:r>
            <a:r>
              <a:rPr lang="en-CA" dirty="0"/>
              <a:t> of the set of </a:t>
            </a:r>
            <a:r>
              <a:rPr lang="en-CA" dirty="0" smtClean="0"/>
              <a:t>smokers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798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18" y="418603"/>
            <a:ext cx="8267907" cy="109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96" y="1838325"/>
            <a:ext cx="82105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181" y="2754503"/>
            <a:ext cx="2667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18" y="3429000"/>
            <a:ext cx="80581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18" y="4910137"/>
            <a:ext cx="25146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09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Intersection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 smtClean="0"/>
              <a:t>We </a:t>
            </a:r>
            <a:r>
              <a:rPr lang="en-CA" dirty="0"/>
              <a:t>now consider certain operations with events that will result in the </a:t>
            </a:r>
            <a:r>
              <a:rPr lang="en-CA" dirty="0" smtClean="0"/>
              <a:t>formation of </a:t>
            </a:r>
            <a:r>
              <a:rPr lang="en-CA" dirty="0"/>
              <a:t>new events. </a:t>
            </a:r>
            <a:endParaRPr lang="en-CA" dirty="0" smtClean="0"/>
          </a:p>
          <a:p>
            <a:r>
              <a:rPr lang="en-CA" dirty="0" smtClean="0"/>
              <a:t>These </a:t>
            </a:r>
            <a:r>
              <a:rPr lang="en-CA" dirty="0"/>
              <a:t>new events will be subsets of the same sample space as </a:t>
            </a:r>
            <a:r>
              <a:rPr lang="en-CA" dirty="0" smtClean="0"/>
              <a:t>the given </a:t>
            </a:r>
            <a:r>
              <a:rPr lang="en-CA" dirty="0"/>
              <a:t>events. </a:t>
            </a:r>
            <a:endParaRPr lang="en-CA" dirty="0" smtClean="0"/>
          </a:p>
          <a:p>
            <a:r>
              <a:rPr lang="en-CA" dirty="0" smtClean="0"/>
              <a:t>Suppose </a:t>
            </a:r>
            <a:r>
              <a:rPr lang="en-CA" dirty="0"/>
              <a:t>that A and B are two events associated with an experiment.</a:t>
            </a:r>
          </a:p>
          <a:p>
            <a:r>
              <a:rPr lang="en-CA" dirty="0"/>
              <a:t>In other words, A and B are subsets of the same sample space S. </a:t>
            </a:r>
            <a:endParaRPr lang="en-CA" dirty="0" smtClean="0"/>
          </a:p>
          <a:p>
            <a:r>
              <a:rPr lang="en-CA" dirty="0" smtClean="0"/>
              <a:t>For </a:t>
            </a:r>
            <a:r>
              <a:rPr lang="en-CA" dirty="0"/>
              <a:t>example, </a:t>
            </a:r>
            <a:r>
              <a:rPr lang="en-CA" dirty="0" smtClean="0"/>
              <a:t>in the </a:t>
            </a:r>
            <a:r>
              <a:rPr lang="en-CA" dirty="0"/>
              <a:t>tossing of a die we might let A be the event that an even number occurs </a:t>
            </a:r>
            <a:r>
              <a:rPr lang="en-CA" dirty="0" smtClean="0"/>
              <a:t>and B </a:t>
            </a:r>
            <a:r>
              <a:rPr lang="en-CA" dirty="0"/>
              <a:t>the event that a number greater than 3 shows. </a:t>
            </a:r>
            <a:endParaRPr lang="en-CA" dirty="0" smtClean="0"/>
          </a:p>
          <a:p>
            <a:r>
              <a:rPr lang="en-CA" dirty="0" smtClean="0"/>
              <a:t>Then </a:t>
            </a:r>
            <a:r>
              <a:rPr lang="en-CA" dirty="0"/>
              <a:t>the subsets A = {2, 4, 6</a:t>
            </a:r>
            <a:r>
              <a:rPr lang="en-CA" dirty="0" smtClean="0"/>
              <a:t>} and </a:t>
            </a:r>
            <a:r>
              <a:rPr lang="en-CA" dirty="0"/>
              <a:t>B = {4, 5, 6} are subsets of the same sample space</a:t>
            </a:r>
          </a:p>
          <a:p>
            <a:pPr marL="0" indent="0" algn="ctr">
              <a:buNone/>
            </a:pPr>
            <a:r>
              <a:rPr lang="en-CA" dirty="0"/>
              <a:t>S = {1, 2, 3, 4, 5, 6}.</a:t>
            </a:r>
          </a:p>
          <a:p>
            <a:r>
              <a:rPr lang="en-CA" dirty="0"/>
              <a:t>Note that both A and B will occur on a given toss if the outcome is an element </a:t>
            </a:r>
            <a:r>
              <a:rPr lang="en-CA" dirty="0" smtClean="0"/>
              <a:t>of the </a:t>
            </a:r>
            <a:r>
              <a:rPr lang="en-CA" dirty="0"/>
              <a:t>subset {4, 6}, which is just the intersection of A and B.</a:t>
            </a:r>
          </a:p>
        </p:txBody>
      </p:sp>
    </p:spTree>
    <p:extLst>
      <p:ext uri="{BB962C8B-B14F-4D97-AF65-F5344CB8AC3E}">
        <p14:creationId xmlns:p14="http://schemas.microsoft.com/office/powerpoint/2010/main" val="420385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09" y="732127"/>
            <a:ext cx="8290141" cy="1084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09" y="2187967"/>
            <a:ext cx="8247765" cy="114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09" y="3924300"/>
            <a:ext cx="8251898" cy="1182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681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Mutual Exclusivity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certain statistical experiments it is by no means unusual to deﬁne </a:t>
            </a:r>
            <a:r>
              <a:rPr lang="en-CA" dirty="0" smtClean="0"/>
              <a:t>two events</a:t>
            </a:r>
            <a:r>
              <a:rPr lang="en-CA" dirty="0"/>
              <a:t>, A and B, that cannot both occur simultaneously. </a:t>
            </a:r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events A and B </a:t>
            </a:r>
            <a:r>
              <a:rPr lang="en-CA" dirty="0" smtClean="0"/>
              <a:t>are then </a:t>
            </a:r>
            <a:r>
              <a:rPr lang="en-CA" dirty="0"/>
              <a:t>said to be mutually exclusive. </a:t>
            </a:r>
            <a:endParaRPr lang="en-CA" dirty="0" smtClean="0"/>
          </a:p>
          <a:p>
            <a:r>
              <a:rPr lang="en-CA" dirty="0" smtClean="0"/>
              <a:t>Stated </a:t>
            </a:r>
            <a:r>
              <a:rPr lang="en-CA" dirty="0"/>
              <a:t>more formally, we have the </a:t>
            </a:r>
            <a:r>
              <a:rPr lang="en-CA" dirty="0" smtClean="0"/>
              <a:t>following deﬁnition</a:t>
            </a:r>
            <a:r>
              <a:rPr lang="en-CA" dirty="0"/>
              <a:t>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80" y="3626715"/>
            <a:ext cx="8341033" cy="110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5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9" y="443988"/>
            <a:ext cx="8391525" cy="857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69" y="1394183"/>
            <a:ext cx="7791450" cy="333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69" y="1820503"/>
            <a:ext cx="8362950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69" y="2684973"/>
            <a:ext cx="8343900" cy="590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69" y="3368468"/>
            <a:ext cx="83820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69" y="4125858"/>
            <a:ext cx="835342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7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Union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Often one is interested in the occurrence of at least one of two events </a:t>
            </a:r>
            <a:r>
              <a:rPr lang="en-CA" dirty="0" smtClean="0"/>
              <a:t>associated with </a:t>
            </a:r>
            <a:r>
              <a:rPr lang="en-CA" dirty="0"/>
              <a:t>an experiment. </a:t>
            </a:r>
            <a:endParaRPr lang="en-CA" dirty="0" smtClean="0"/>
          </a:p>
          <a:p>
            <a:r>
              <a:rPr lang="en-CA" dirty="0" smtClean="0"/>
              <a:t>Thus</a:t>
            </a:r>
            <a:r>
              <a:rPr lang="en-CA" dirty="0"/>
              <a:t>, in the die-tossing experiment, </a:t>
            </a:r>
            <a:r>
              <a:rPr lang="en-CA" dirty="0" smtClean="0"/>
              <a:t>if A </a:t>
            </a:r>
            <a:r>
              <a:rPr lang="en-CA" dirty="0"/>
              <a:t>= {2, 4, 6} and B = {4, 5, 6</a:t>
            </a:r>
            <a:r>
              <a:rPr lang="en-CA" dirty="0" smtClean="0"/>
              <a:t>}, we </a:t>
            </a:r>
            <a:r>
              <a:rPr lang="en-CA" dirty="0"/>
              <a:t>might be interested in either A or B occurring or both A and B occurring. </a:t>
            </a:r>
            <a:endParaRPr lang="en-CA" dirty="0" smtClean="0"/>
          </a:p>
          <a:p>
            <a:r>
              <a:rPr lang="en-CA" dirty="0" smtClean="0"/>
              <a:t>Such an </a:t>
            </a:r>
            <a:r>
              <a:rPr lang="en-CA" dirty="0"/>
              <a:t>event, called the union of A and B, will occur if the outcome is an element </a:t>
            </a:r>
            <a:r>
              <a:rPr lang="en-CA" dirty="0" smtClean="0"/>
              <a:t>of the </a:t>
            </a:r>
            <a:r>
              <a:rPr lang="en-CA" dirty="0"/>
              <a:t>subset {2, 4, 5, 6}.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61" y="4494254"/>
            <a:ext cx="7826915" cy="99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681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99" y="533423"/>
            <a:ext cx="8512793" cy="65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99" y="2016739"/>
            <a:ext cx="8162920" cy="13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92" y="3759148"/>
            <a:ext cx="5448300" cy="657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6999" y="4817806"/>
            <a:ext cx="212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will be M U N?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932" y="5393308"/>
            <a:ext cx="26670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0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355" y="1990725"/>
            <a:ext cx="45148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45" y="5836510"/>
            <a:ext cx="8408870" cy="33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81000"/>
            <a:ext cx="8439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" y="990600"/>
            <a:ext cx="84963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851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49" y="158939"/>
            <a:ext cx="45148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809" y="3918898"/>
            <a:ext cx="10953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470" y="3895085"/>
            <a:ext cx="19716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821" y="4528924"/>
            <a:ext cx="1657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19" y="4528924"/>
            <a:ext cx="10953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821" y="5013562"/>
            <a:ext cx="17621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470" y="4984987"/>
            <a:ext cx="23622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496" y="5517960"/>
            <a:ext cx="9429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58" y="5517960"/>
            <a:ext cx="29622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411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08" y="3804099"/>
            <a:ext cx="84105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16" y="4527641"/>
            <a:ext cx="53625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17" y="5014557"/>
            <a:ext cx="76771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1" y="5486969"/>
            <a:ext cx="40671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17" y="5909409"/>
            <a:ext cx="2486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4" y="0"/>
            <a:ext cx="747712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83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58" y="333255"/>
            <a:ext cx="6741073" cy="3160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1" y="3670396"/>
            <a:ext cx="83343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7" y="4622326"/>
            <a:ext cx="19907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7" y="4965226"/>
            <a:ext cx="53435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7" y="5260501"/>
            <a:ext cx="23145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7" y="5847781"/>
            <a:ext cx="59340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68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23222"/>
            <a:ext cx="84963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1279265"/>
            <a:ext cx="1552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1779469"/>
            <a:ext cx="15621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" y="2265386"/>
            <a:ext cx="15430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" y="2793526"/>
            <a:ext cx="18002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" y="3229544"/>
            <a:ext cx="1123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3712973"/>
            <a:ext cx="1323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4199246"/>
            <a:ext cx="1428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753" y="4732788"/>
            <a:ext cx="24003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5248204"/>
            <a:ext cx="2428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29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9607</TotalTime>
  <Words>698</Words>
  <Application>Microsoft Office PowerPoint</Application>
  <PresentationFormat>On-screen Show (4:3)</PresentationFormat>
  <Paragraphs>41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2.2 Event</vt:lpstr>
      <vt:lpstr>PowerPoint Presentation</vt:lpstr>
      <vt:lpstr>Events</vt:lpstr>
      <vt:lpstr>Events - Complement</vt:lpstr>
      <vt:lpstr>PowerPoint Presentation</vt:lpstr>
      <vt:lpstr>Intersection</vt:lpstr>
      <vt:lpstr>PowerPoint Presentation</vt:lpstr>
      <vt:lpstr>Mutual Exclusivity</vt:lpstr>
      <vt:lpstr>PowerPoint Presentation</vt:lpstr>
      <vt:lpstr>Union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819</cp:revision>
  <cp:lastPrinted>2017-08-04T10:23:33Z</cp:lastPrinted>
  <dcterms:created xsi:type="dcterms:W3CDTF">2017-07-19T17:50:20Z</dcterms:created>
  <dcterms:modified xsi:type="dcterms:W3CDTF">2024-01-26T06:08:19Z</dcterms:modified>
</cp:coreProperties>
</file>