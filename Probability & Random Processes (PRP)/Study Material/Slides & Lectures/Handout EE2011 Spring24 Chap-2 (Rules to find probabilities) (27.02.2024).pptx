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7"/>
  </p:notesMasterIdLst>
  <p:handoutMasterIdLst>
    <p:handoutMasterId r:id="rId8"/>
  </p:handoutMasterIdLst>
  <p:sldIdLst>
    <p:sldId id="256" r:id="rId2"/>
    <p:sldId id="1001" r:id="rId3"/>
    <p:sldId id="1081" r:id="rId4"/>
    <p:sldId id="1083" r:id="rId5"/>
    <p:sldId id="1082" r:id="rId6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6" autoAdjust="0"/>
    <p:restoredTop sz="96797" autoAdjust="0"/>
  </p:normalViewPr>
  <p:slideViewPr>
    <p:cSldViewPr snapToGrid="0">
      <p:cViewPr varScale="1">
        <p:scale>
          <a:sx n="69" d="100"/>
          <a:sy n="69" d="100"/>
        </p:scale>
        <p:origin x="124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2/27/2024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2/27/2024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8686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1"/>
            <a:ext cx="5310981" cy="2387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Probability &amp; Random Processes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EE2011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of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39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Agenda for Today - </a:t>
            </a:r>
            <a:r>
              <a:rPr lang="en-US" sz="3600" dirty="0"/>
              <a:t>Problem </a:t>
            </a:r>
            <a:r>
              <a:rPr lang="en-US" sz="3600" dirty="0" smtClean="0"/>
              <a:t>Solving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</a:pPr>
            <a:r>
              <a:rPr lang="en-US" sz="2700" dirty="0" smtClean="0">
                <a:ea typeface="Calibri"/>
                <a:cs typeface="Times New Roman"/>
              </a:rPr>
              <a:t>Finding probabilities</a:t>
            </a:r>
          </a:p>
          <a:p>
            <a:pPr marL="800100" lvl="1" indent="-457200">
              <a:lnSpc>
                <a:spcPct val="115000"/>
              </a:lnSpc>
              <a:buFont typeface="+mj-lt"/>
              <a:buAutoNum type="arabicPeriod"/>
            </a:pPr>
            <a:r>
              <a:rPr lang="en-US" sz="2400" dirty="0" smtClean="0">
                <a:ea typeface="Calibri"/>
                <a:cs typeface="Times New Roman"/>
              </a:rPr>
              <a:t>of union of many different mutually exclusive events </a:t>
            </a:r>
          </a:p>
          <a:p>
            <a:pPr lvl="3">
              <a:lnSpc>
                <a:spcPct val="115000"/>
              </a:lnSpc>
            </a:pPr>
            <a:r>
              <a:rPr lang="en-US" sz="2000" dirty="0" smtClean="0">
                <a:ea typeface="Calibri"/>
                <a:cs typeface="Times New Roman"/>
              </a:rPr>
              <a:t>Can be found by SUMMING the probabilities of </a:t>
            </a:r>
            <a:r>
              <a:rPr lang="en-US" sz="2000" i="1" u="sng" dirty="0" smtClean="0">
                <a:ea typeface="Calibri"/>
                <a:cs typeface="Times New Roman"/>
              </a:rPr>
              <a:t>all the mutually excusive events</a:t>
            </a:r>
          </a:p>
          <a:p>
            <a:pPr marL="800100" lvl="1" indent="-457200">
              <a:lnSpc>
                <a:spcPct val="115000"/>
              </a:lnSpc>
              <a:buFont typeface="+mj-lt"/>
              <a:buAutoNum type="arabicPeriod"/>
            </a:pPr>
            <a:r>
              <a:rPr lang="en-US" sz="2400" dirty="0">
                <a:ea typeface="Calibri"/>
                <a:cs typeface="Times New Roman"/>
              </a:rPr>
              <a:t>of union </a:t>
            </a:r>
            <a:r>
              <a:rPr lang="en-US" sz="2400" dirty="0" smtClean="0">
                <a:ea typeface="Calibri"/>
                <a:cs typeface="Times New Roman"/>
              </a:rPr>
              <a:t>of </a:t>
            </a:r>
            <a:r>
              <a:rPr lang="en-US" sz="2400" dirty="0">
                <a:ea typeface="Calibri"/>
                <a:cs typeface="Times New Roman"/>
              </a:rPr>
              <a:t>many different events </a:t>
            </a:r>
            <a:r>
              <a:rPr lang="en-US" sz="2400" dirty="0" smtClean="0">
                <a:ea typeface="Calibri"/>
                <a:cs typeface="Times New Roman"/>
              </a:rPr>
              <a:t>that are NOT mutually exclusive</a:t>
            </a:r>
          </a:p>
          <a:p>
            <a:pPr lvl="3">
              <a:lnSpc>
                <a:spcPct val="115000"/>
              </a:lnSpc>
            </a:pPr>
            <a:r>
              <a:rPr lang="en-US" sz="2000" dirty="0">
                <a:ea typeface="Calibri"/>
                <a:cs typeface="Times New Roman"/>
              </a:rPr>
              <a:t>Sum of the probabilities of all mutually excusive </a:t>
            </a:r>
            <a:r>
              <a:rPr lang="en-US" sz="2000" dirty="0" smtClean="0">
                <a:ea typeface="Calibri"/>
                <a:cs typeface="Times New Roman"/>
              </a:rPr>
              <a:t>events MINUS appropriate intersections</a:t>
            </a:r>
          </a:p>
          <a:p>
            <a:pPr marL="800100" lvl="1" indent="-457200">
              <a:lnSpc>
                <a:spcPct val="115000"/>
              </a:lnSpc>
              <a:buFont typeface="+mj-lt"/>
              <a:buAutoNum type="arabicPeriod"/>
            </a:pPr>
            <a:r>
              <a:rPr lang="en-US" sz="2400" dirty="0">
                <a:ea typeface="Calibri"/>
                <a:cs typeface="Times New Roman"/>
              </a:rPr>
              <a:t>o</a:t>
            </a:r>
            <a:r>
              <a:rPr lang="en-US" sz="2400" dirty="0" smtClean="0">
                <a:ea typeface="Calibri"/>
                <a:cs typeface="Times New Roman"/>
              </a:rPr>
              <a:t>f two </a:t>
            </a:r>
            <a:r>
              <a:rPr lang="en-US" sz="2400" dirty="0">
                <a:ea typeface="Calibri"/>
                <a:cs typeface="Times New Roman"/>
              </a:rPr>
              <a:t>or more events that are conditioned on each other which can either be independent or not? </a:t>
            </a:r>
          </a:p>
        </p:txBody>
      </p:sp>
    </p:spTree>
    <p:extLst>
      <p:ext uri="{BB962C8B-B14F-4D97-AF65-F5344CB8AC3E}">
        <p14:creationId xmlns:p14="http://schemas.microsoft.com/office/powerpoint/2010/main" val="2303191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Agenda for Today - </a:t>
            </a:r>
            <a:r>
              <a:rPr lang="en-US" sz="3600" dirty="0"/>
              <a:t>Problem </a:t>
            </a:r>
            <a:r>
              <a:rPr lang="en-US" sz="3600" dirty="0" smtClean="0"/>
              <a:t>Solving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3">
              <a:lnSpc>
                <a:spcPct val="115000"/>
              </a:lnSpc>
            </a:pPr>
            <a:r>
              <a:rPr lang="en-US" sz="2000" dirty="0" smtClean="0">
                <a:ea typeface="Calibri"/>
                <a:cs typeface="Times New Roman"/>
              </a:rPr>
              <a:t>If NOT independent, the probabilities must be found by using appropriate conditional probability </a:t>
            </a:r>
          </a:p>
          <a:p>
            <a:pPr lvl="4">
              <a:lnSpc>
                <a:spcPct val="115000"/>
              </a:lnSpc>
            </a:pPr>
            <a:r>
              <a:rPr lang="en-US" sz="2000" dirty="0" smtClean="0">
                <a:ea typeface="Calibri"/>
                <a:cs typeface="Times New Roman"/>
              </a:rPr>
              <a:t>Requires probabilities of events and their intersections</a:t>
            </a:r>
          </a:p>
          <a:p>
            <a:pPr lvl="3">
              <a:lnSpc>
                <a:spcPct val="115000"/>
              </a:lnSpc>
            </a:pPr>
            <a:r>
              <a:rPr lang="en-US" sz="2000" dirty="0">
                <a:ea typeface="Calibri"/>
                <a:cs typeface="Times New Roman"/>
              </a:rPr>
              <a:t>If </a:t>
            </a:r>
            <a:r>
              <a:rPr lang="en-US" sz="2000" dirty="0" smtClean="0">
                <a:ea typeface="Calibri"/>
                <a:cs typeface="Times New Roman"/>
              </a:rPr>
              <a:t>independent</a:t>
            </a:r>
            <a:r>
              <a:rPr lang="en-US" sz="2000" dirty="0">
                <a:ea typeface="Calibri"/>
                <a:cs typeface="Times New Roman"/>
              </a:rPr>
              <a:t>, </a:t>
            </a:r>
            <a:r>
              <a:rPr lang="en-US" sz="2000" dirty="0" smtClean="0">
                <a:ea typeface="Calibri"/>
                <a:cs typeface="Times New Roman"/>
              </a:rPr>
              <a:t>conditional </a:t>
            </a:r>
            <a:r>
              <a:rPr lang="en-US" sz="2000" dirty="0">
                <a:ea typeface="Calibri"/>
                <a:cs typeface="Times New Roman"/>
              </a:rPr>
              <a:t>probability </a:t>
            </a:r>
            <a:r>
              <a:rPr lang="en-US" sz="2000" dirty="0" smtClean="0">
                <a:ea typeface="Calibri"/>
                <a:cs typeface="Times New Roman"/>
              </a:rPr>
              <a:t>between two events are not needed.</a:t>
            </a:r>
          </a:p>
          <a:p>
            <a:pPr marL="800100" lvl="1" indent="-457200">
              <a:lnSpc>
                <a:spcPct val="115000"/>
              </a:lnSpc>
              <a:buFont typeface="+mj-lt"/>
              <a:buAutoNum type="arabicPeriod" startAt="4"/>
            </a:pPr>
            <a:r>
              <a:rPr lang="en-US" sz="2400" dirty="0" smtClean="0">
                <a:ea typeface="Calibri"/>
                <a:cs typeface="Times New Roman"/>
              </a:rPr>
              <a:t>of intersection of two events can be found using the </a:t>
            </a:r>
          </a:p>
          <a:p>
            <a:pPr lvl="3">
              <a:lnSpc>
                <a:spcPct val="115000"/>
              </a:lnSpc>
            </a:pPr>
            <a:r>
              <a:rPr lang="en-US" sz="2200" dirty="0" smtClean="0">
                <a:ea typeface="Calibri"/>
                <a:cs typeface="Times New Roman"/>
              </a:rPr>
              <a:t>multiplication of probabilities </a:t>
            </a:r>
            <a:r>
              <a:rPr lang="en-US" sz="2200" dirty="0">
                <a:ea typeface="Calibri"/>
                <a:cs typeface="Times New Roman"/>
              </a:rPr>
              <a:t>of </a:t>
            </a:r>
            <a:r>
              <a:rPr lang="en-US" sz="2200" dirty="0" smtClean="0">
                <a:ea typeface="Calibri"/>
                <a:cs typeface="Times New Roman"/>
              </a:rPr>
              <a:t>one events </a:t>
            </a:r>
            <a:r>
              <a:rPr lang="en-US" sz="2200" dirty="0">
                <a:ea typeface="Calibri"/>
                <a:cs typeface="Times New Roman"/>
              </a:rPr>
              <a:t>and </a:t>
            </a:r>
            <a:r>
              <a:rPr lang="en-US" sz="2200" dirty="0" smtClean="0">
                <a:ea typeface="Calibri"/>
                <a:cs typeface="Times New Roman"/>
              </a:rPr>
              <a:t>the conditional probabilities of the 2</a:t>
            </a:r>
            <a:r>
              <a:rPr lang="en-US" sz="2200" baseline="30000" dirty="0" smtClean="0">
                <a:ea typeface="Calibri"/>
                <a:cs typeface="Times New Roman"/>
              </a:rPr>
              <a:t>nd</a:t>
            </a:r>
            <a:r>
              <a:rPr lang="en-US" sz="2200" dirty="0" smtClean="0">
                <a:ea typeface="Calibri"/>
                <a:cs typeface="Times New Roman"/>
              </a:rPr>
              <a:t> on the 1</a:t>
            </a:r>
            <a:r>
              <a:rPr lang="en-US" sz="2200" baseline="30000" dirty="0" smtClean="0">
                <a:ea typeface="Calibri"/>
                <a:cs typeface="Times New Roman"/>
              </a:rPr>
              <a:t>st</a:t>
            </a:r>
            <a:r>
              <a:rPr lang="en-US" sz="2200" dirty="0" smtClean="0">
                <a:ea typeface="Calibri"/>
                <a:cs typeface="Times New Roman"/>
              </a:rPr>
              <a:t> one, </a:t>
            </a:r>
            <a:r>
              <a:rPr lang="en-US" sz="2200" u="sng" dirty="0" smtClean="0">
                <a:ea typeface="Calibri"/>
                <a:cs typeface="Times New Roman"/>
              </a:rPr>
              <a:t>if there is </a:t>
            </a:r>
            <a:r>
              <a:rPr lang="en-US" sz="2200" i="1" u="sng" dirty="0" smtClean="0">
                <a:ea typeface="Calibri"/>
                <a:cs typeface="Times New Roman"/>
              </a:rPr>
              <a:t>dependence</a:t>
            </a:r>
            <a:r>
              <a:rPr lang="en-US" sz="2200" u="sng" dirty="0" smtClean="0">
                <a:ea typeface="Calibri"/>
                <a:cs typeface="Times New Roman"/>
              </a:rPr>
              <a:t> between events</a:t>
            </a:r>
          </a:p>
          <a:p>
            <a:pPr lvl="3">
              <a:lnSpc>
                <a:spcPct val="115000"/>
              </a:lnSpc>
            </a:pPr>
            <a:r>
              <a:rPr lang="en-US" sz="2200" dirty="0">
                <a:ea typeface="Calibri"/>
                <a:cs typeface="Times New Roman"/>
              </a:rPr>
              <a:t>multiplication of probabilities of one events and </a:t>
            </a:r>
            <a:r>
              <a:rPr lang="en-US" sz="2200" dirty="0" smtClean="0">
                <a:ea typeface="Calibri"/>
                <a:cs typeface="Times New Roman"/>
              </a:rPr>
              <a:t>the other event, </a:t>
            </a:r>
            <a:r>
              <a:rPr lang="en-US" sz="2200" u="sng" dirty="0">
                <a:ea typeface="Calibri"/>
                <a:cs typeface="Times New Roman"/>
              </a:rPr>
              <a:t>if there is </a:t>
            </a:r>
            <a:r>
              <a:rPr lang="en-US" sz="2200" i="1" u="sng" dirty="0" smtClean="0">
                <a:ea typeface="Calibri"/>
                <a:cs typeface="Times New Roman"/>
              </a:rPr>
              <a:t>independence</a:t>
            </a:r>
            <a:r>
              <a:rPr lang="en-US" sz="2200" u="sng" dirty="0" smtClean="0">
                <a:ea typeface="Calibri"/>
                <a:cs typeface="Times New Roman"/>
              </a:rPr>
              <a:t> </a:t>
            </a:r>
            <a:r>
              <a:rPr lang="en-US" sz="2200" u="sng" dirty="0">
                <a:ea typeface="Calibri"/>
                <a:cs typeface="Times New Roman"/>
              </a:rPr>
              <a:t>between </a:t>
            </a:r>
            <a:r>
              <a:rPr lang="en-US" sz="2200" u="sng" dirty="0" smtClean="0">
                <a:ea typeface="Calibri"/>
                <a:cs typeface="Times New Roman"/>
              </a:rPr>
              <a:t>events</a:t>
            </a:r>
            <a:endParaRPr lang="en-US" sz="2200" u="sng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03829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Agenda for Today - </a:t>
            </a:r>
            <a:r>
              <a:rPr lang="en-US" sz="3600" dirty="0"/>
              <a:t>Problem </a:t>
            </a:r>
            <a:r>
              <a:rPr lang="en-US" sz="3600" dirty="0" smtClean="0"/>
              <a:t>Solving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0100" lvl="1" indent="-457200">
              <a:lnSpc>
                <a:spcPct val="115000"/>
              </a:lnSpc>
              <a:buFont typeface="+mj-lt"/>
              <a:buAutoNum type="arabicPeriod" startAt="5"/>
            </a:pPr>
            <a:r>
              <a:rPr lang="en-US" sz="2400" dirty="0" smtClean="0">
                <a:ea typeface="Calibri"/>
                <a:cs typeface="Times New Roman"/>
              </a:rPr>
              <a:t>of intersection and union of events is possible using the combination of the rules mentioned above</a:t>
            </a:r>
          </a:p>
          <a:p>
            <a:pPr marL="800100" lvl="1" indent="-457200">
              <a:lnSpc>
                <a:spcPct val="115000"/>
              </a:lnSpc>
              <a:buFont typeface="+mj-lt"/>
              <a:buAutoNum type="arabicPeriod" startAt="5"/>
            </a:pPr>
            <a:r>
              <a:rPr lang="en-US" sz="2400" dirty="0">
                <a:ea typeface="Calibri"/>
                <a:cs typeface="Times New Roman"/>
              </a:rPr>
              <a:t>o</a:t>
            </a:r>
            <a:r>
              <a:rPr lang="en-US" sz="2400" dirty="0" smtClean="0">
                <a:ea typeface="Calibri"/>
                <a:cs typeface="Times New Roman"/>
              </a:rPr>
              <a:t>f an event </a:t>
            </a:r>
            <a:r>
              <a:rPr lang="en-US" sz="2400" dirty="0">
                <a:ea typeface="Calibri"/>
                <a:cs typeface="Times New Roman"/>
              </a:rPr>
              <a:t> </a:t>
            </a:r>
            <a:r>
              <a:rPr lang="en-US" sz="2400" dirty="0" smtClean="0">
                <a:ea typeface="Calibri"/>
                <a:cs typeface="Times New Roman"/>
              </a:rPr>
              <a:t>given a partition of a sample space can be done using total probability theorem</a:t>
            </a:r>
          </a:p>
          <a:p>
            <a:pPr marL="800100" lvl="1" indent="-457200">
              <a:lnSpc>
                <a:spcPct val="115000"/>
              </a:lnSpc>
              <a:buFont typeface="+mj-lt"/>
              <a:buAutoNum type="arabicPeriod" startAt="5"/>
            </a:pPr>
            <a:r>
              <a:rPr lang="en-US" sz="2400" dirty="0" smtClean="0">
                <a:ea typeface="Calibri"/>
                <a:cs typeface="Times New Roman"/>
              </a:rPr>
              <a:t>of an “a posteriori” event can be done using Bayes theorem</a:t>
            </a:r>
            <a:endParaRPr lang="en-US" sz="2400" dirty="0">
              <a:ea typeface="Calibri"/>
              <a:cs typeface="Times New Roman"/>
            </a:endParaRPr>
          </a:p>
          <a:p>
            <a:pPr marL="1143000" lvl="2" indent="-457200">
              <a:lnSpc>
                <a:spcPct val="115000"/>
              </a:lnSpc>
              <a:buFont typeface="+mj-lt"/>
              <a:buAutoNum type="arabicPeriod" startAt="3"/>
            </a:pPr>
            <a:endParaRPr lang="en-US" sz="2100" dirty="0" smtClean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878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difference between Mutual </a:t>
            </a:r>
            <a:r>
              <a:rPr lang="en-US" dirty="0"/>
              <a:t>E</a:t>
            </a:r>
            <a:r>
              <a:rPr lang="en-US" dirty="0" smtClean="0"/>
              <a:t>xclusivity and Independence?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Mutual exclusivity </a:t>
            </a:r>
            <a:r>
              <a:rPr lang="en-US" dirty="0"/>
              <a:t>refers to events that cannot occur </a:t>
            </a:r>
            <a:r>
              <a:rPr lang="en-US" dirty="0" smtClean="0"/>
              <a:t>simultaneously</a:t>
            </a:r>
          </a:p>
          <a:p>
            <a:r>
              <a:rPr lang="en-US" dirty="0"/>
              <a:t>W</a:t>
            </a:r>
            <a:r>
              <a:rPr lang="en-US" dirty="0" smtClean="0"/>
              <a:t>hile </a:t>
            </a:r>
            <a:r>
              <a:rPr lang="en-US" u="sng" dirty="0"/>
              <a:t>independence</a:t>
            </a:r>
            <a:r>
              <a:rPr lang="en-US" dirty="0"/>
              <a:t> means that the occurrence of one event does not affect the probability of the other.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other words, </a:t>
            </a:r>
            <a:r>
              <a:rPr lang="en-US" i="1" dirty="0"/>
              <a:t>mutually exclusive events </a:t>
            </a:r>
            <a:r>
              <a:rPr lang="en-US" i="1" u="sng" dirty="0"/>
              <a:t>cannot happen together</a:t>
            </a:r>
            <a:r>
              <a:rPr lang="en-US" dirty="0"/>
              <a:t>, </a:t>
            </a:r>
            <a:endParaRPr lang="en-US" dirty="0" smtClean="0"/>
          </a:p>
          <a:p>
            <a:r>
              <a:rPr lang="en-US" dirty="0" smtClean="0"/>
              <a:t>while </a:t>
            </a:r>
            <a:r>
              <a:rPr lang="en-US" i="1" dirty="0"/>
              <a:t>independent events are </a:t>
            </a:r>
            <a:r>
              <a:rPr lang="en-US" i="1" u="sng" dirty="0"/>
              <a:t>unaffected</a:t>
            </a:r>
            <a:r>
              <a:rPr lang="en-US" i="1" dirty="0"/>
              <a:t> by each other.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05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11167</TotalTime>
  <Words>284</Words>
  <Application>Microsoft Office PowerPoint</Application>
  <PresentationFormat>On-screen Show (4:3)</PresentationFormat>
  <Paragraphs>26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Probability &amp; Random Processes EE2011 Department of Electrical Engineering</vt:lpstr>
      <vt:lpstr>Agenda for Today - Problem Solving</vt:lpstr>
      <vt:lpstr>Agenda for Today - Problem Solving</vt:lpstr>
      <vt:lpstr>Agenda for Today - Problem Solving</vt:lpstr>
      <vt:lpstr>What is the difference between Mutual Exclusivity and Independence?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LENOVO</cp:lastModifiedBy>
  <cp:revision>898</cp:revision>
  <cp:lastPrinted>2017-08-04T10:23:33Z</cp:lastPrinted>
  <dcterms:created xsi:type="dcterms:W3CDTF">2017-07-19T17:50:20Z</dcterms:created>
  <dcterms:modified xsi:type="dcterms:W3CDTF">2024-02-27T07:54:31Z</dcterms:modified>
</cp:coreProperties>
</file>